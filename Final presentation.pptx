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434"/>
    <p:restoredTop sz="80157"/>
  </p:normalViewPr>
  <p:slideViewPr>
    <p:cSldViewPr snapToGrid="0">
      <p:cViewPr varScale="1">
        <p:scale>
          <a:sx n="191" d="100"/>
          <a:sy n="191" d="100"/>
        </p:scale>
        <p:origin x="1944"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Avg Token Acc.</c:v>
                </c:pt>
              </c:strCache>
            </c:strRef>
          </c:tx>
          <c:spPr>
            <a:solidFill>
              <a:srgbClr val="17A2B8"/>
            </a:solidFill>
            <a:effectLst/>
          </c:spPr>
          <c:invertIfNegative val="0"/>
          <c:dLbls>
            <c:numFmt formatCode="#,##0" sourceLinked="0"/>
            <c:spPr>
              <a:noFill/>
              <a:ln>
                <a:noFill/>
              </a:ln>
              <a:effectLst/>
            </c:spPr>
            <c:txPr>
              <a:bodyPr/>
              <a:lstStyle/>
              <a:p>
                <a:pPr>
                  <a:defRPr sz="9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0.001</c:v>
                </c:pt>
                <c:pt idx="1">
                  <c:v>0.0005</c:v>
                </c:pt>
                <c:pt idx="2">
                  <c:v>0.0001</c:v>
                </c:pt>
              </c:strCache>
            </c:strRef>
          </c:cat>
          <c:val>
            <c:numRef>
              <c:f>Sheet1!$B$2:$B$4</c:f>
              <c:numCache>
                <c:formatCode>General</c:formatCode>
                <c:ptCount val="3"/>
                <c:pt idx="0">
                  <c:v>62.57</c:v>
                </c:pt>
                <c:pt idx="1">
                  <c:v>58.8</c:v>
                </c:pt>
                <c:pt idx="2">
                  <c:v>48.97</c:v>
                </c:pt>
              </c:numCache>
            </c:numRef>
          </c:val>
          <c:extLst>
            <c:ext xmlns:c16="http://schemas.microsoft.com/office/drawing/2014/chart" uri="{C3380CC4-5D6E-409C-BE32-E72D297353CC}">
              <c16:uniqueId val="{00000000-048F-9B44-9F0D-15DE153CA57B}"/>
            </c:ext>
          </c:extLst>
        </c:ser>
        <c:ser>
          <c:idx val="1"/>
          <c:order val="1"/>
          <c:tx>
            <c:strRef>
              <c:f>Sheet1!$C$1</c:f>
              <c:strCache>
                <c:ptCount val="1"/>
                <c:pt idx="0">
                  <c:v>Best Token Acc.</c:v>
                </c:pt>
              </c:strCache>
            </c:strRef>
          </c:tx>
          <c:spPr>
            <a:solidFill>
              <a:srgbClr val="1A3A5C"/>
            </a:solidFill>
            <a:effectLst/>
          </c:spPr>
          <c:invertIfNegative val="0"/>
          <c:dLbls>
            <c:numFmt formatCode="#,##0" sourceLinked="0"/>
            <c:spPr>
              <a:noFill/>
              <a:ln>
                <a:noFill/>
              </a:ln>
              <a:effectLst/>
            </c:spPr>
            <c:txPr>
              <a:bodyPr/>
              <a:lstStyle/>
              <a:p>
                <a:pPr>
                  <a:defRPr sz="9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0.001</c:v>
                </c:pt>
                <c:pt idx="1">
                  <c:v>0.0005</c:v>
                </c:pt>
                <c:pt idx="2">
                  <c:v>0.0001</c:v>
                </c:pt>
              </c:strCache>
            </c:strRef>
          </c:cat>
          <c:val>
            <c:numRef>
              <c:f>Sheet1!$C$2:$C$4</c:f>
              <c:numCache>
                <c:formatCode>General</c:formatCode>
                <c:ptCount val="3"/>
                <c:pt idx="0">
                  <c:v>68.42</c:v>
                </c:pt>
                <c:pt idx="1">
                  <c:v>64.23</c:v>
                </c:pt>
                <c:pt idx="2">
                  <c:v>54.06</c:v>
                </c:pt>
              </c:numCache>
            </c:numRef>
          </c:val>
          <c:extLst>
            <c:ext xmlns:c16="http://schemas.microsoft.com/office/drawing/2014/chart" uri="{C3380CC4-5D6E-409C-BE32-E72D297353CC}">
              <c16:uniqueId val="{00000001-048F-9B44-9F0D-15DE153CA57B}"/>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475569"/>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475569"/>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Avg Token Acc.</c:v>
                </c:pt>
              </c:strCache>
            </c:strRef>
          </c:tx>
          <c:spPr>
            <a:solidFill>
              <a:srgbClr val="17A2B8"/>
            </a:solidFill>
            <a:effectLst/>
          </c:spPr>
          <c:invertIfNegative val="0"/>
          <c:dLbls>
            <c:numFmt formatCode="#,##0" sourceLinked="0"/>
            <c:spPr>
              <a:noFill/>
              <a:ln>
                <a:noFill/>
              </a:ln>
              <a:effectLst/>
            </c:spPr>
            <c:txPr>
              <a:bodyPr/>
              <a:lstStyle/>
              <a:p>
                <a:pPr>
                  <a:defRPr sz="9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128</c:v>
                </c:pt>
                <c:pt idx="1">
                  <c:v>256</c:v>
                </c:pt>
                <c:pt idx="2">
                  <c:v>512</c:v>
                </c:pt>
              </c:strCache>
            </c:strRef>
          </c:cat>
          <c:val>
            <c:numRef>
              <c:f>Sheet1!$B$2:$B$4</c:f>
              <c:numCache>
                <c:formatCode>General</c:formatCode>
                <c:ptCount val="3"/>
                <c:pt idx="0">
                  <c:v>52.44</c:v>
                </c:pt>
                <c:pt idx="1">
                  <c:v>57.12</c:v>
                </c:pt>
                <c:pt idx="2">
                  <c:v>60.77</c:v>
                </c:pt>
              </c:numCache>
            </c:numRef>
          </c:val>
          <c:extLst>
            <c:ext xmlns:c16="http://schemas.microsoft.com/office/drawing/2014/chart" uri="{C3380CC4-5D6E-409C-BE32-E72D297353CC}">
              <c16:uniqueId val="{00000000-1650-0948-8E0F-DA7E38A72A46}"/>
            </c:ext>
          </c:extLst>
        </c:ser>
        <c:ser>
          <c:idx val="1"/>
          <c:order val="1"/>
          <c:tx>
            <c:strRef>
              <c:f>Sheet1!$C$1</c:f>
              <c:strCache>
                <c:ptCount val="1"/>
                <c:pt idx="0">
                  <c:v>Best Token Acc.</c:v>
                </c:pt>
              </c:strCache>
            </c:strRef>
          </c:tx>
          <c:spPr>
            <a:solidFill>
              <a:srgbClr val="1A3A5C"/>
            </a:solidFill>
            <a:effectLst/>
          </c:spPr>
          <c:invertIfNegative val="0"/>
          <c:dLbls>
            <c:numFmt formatCode="#,##0" sourceLinked="0"/>
            <c:spPr>
              <a:noFill/>
              <a:ln>
                <a:noFill/>
              </a:ln>
              <a:effectLst/>
            </c:spPr>
            <c:txPr>
              <a:bodyPr/>
              <a:lstStyle/>
              <a:p>
                <a:pPr>
                  <a:defRPr sz="9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128</c:v>
                </c:pt>
                <c:pt idx="1">
                  <c:v>256</c:v>
                </c:pt>
                <c:pt idx="2">
                  <c:v>512</c:v>
                </c:pt>
              </c:strCache>
            </c:strRef>
          </c:cat>
          <c:val>
            <c:numRef>
              <c:f>Sheet1!$C$2:$C$4</c:f>
              <c:numCache>
                <c:formatCode>General</c:formatCode>
                <c:ptCount val="3"/>
                <c:pt idx="0">
                  <c:v>59.67</c:v>
                </c:pt>
                <c:pt idx="1">
                  <c:v>64</c:v>
                </c:pt>
                <c:pt idx="2">
                  <c:v>68.42</c:v>
                </c:pt>
              </c:numCache>
            </c:numRef>
          </c:val>
          <c:extLst>
            <c:ext xmlns:c16="http://schemas.microsoft.com/office/drawing/2014/chart" uri="{C3380CC4-5D6E-409C-BE32-E72D297353CC}">
              <c16:uniqueId val="{00000001-1650-0948-8E0F-DA7E38A72A46}"/>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475569"/>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475569"/>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pPr>
          <a:endParaRPr lang="en-US"/>
        </a:p>
      </c:txPr>
    </c:legend>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878220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is about Optical Chemical Structure Recognition, or OCSR</a:t>
            </a:r>
            <a:r>
              <a:rPr lang="en-US"/>
              <a:t>, which </a:t>
            </a:r>
            <a:r>
              <a:rPr lang="en-US" dirty="0"/>
              <a:t>is </a:t>
            </a:r>
            <a:r>
              <a:rPr lang="en-US"/>
              <a:t>the translation </a:t>
            </a:r>
            <a:r>
              <a:rPr lang="en-US" dirty="0"/>
              <a:t>of chemical structure </a:t>
            </a:r>
            <a:r>
              <a:rPr lang="en-US"/>
              <a:t>images </a:t>
            </a:r>
            <a:r>
              <a:rPr lang="en-US" dirty="0"/>
              <a:t>into machine-readable </a:t>
            </a:r>
            <a:r>
              <a:rPr lang="en-US"/>
              <a:t>formats such as SMILES or molecular graphs. These formats preserve chemical information such as rings, branches, atoms</a:t>
            </a:r>
            <a:r>
              <a:rPr lang="en-US" dirty="0"/>
              <a:t>, </a:t>
            </a:r>
            <a:r>
              <a:rPr lang="en-US"/>
              <a:t>and bonds. This project focuses </a:t>
            </a:r>
            <a:r>
              <a:rPr lang="en-US" dirty="0"/>
              <a:t>specifically </a:t>
            </a:r>
            <a:r>
              <a:rPr lang="en-US"/>
              <a:t>on converting chemical structure images into SMILES strings, where models must be able to read </a:t>
            </a:r>
            <a:r>
              <a:rPr lang="en-US" dirty="0"/>
              <a:t>a </a:t>
            </a:r>
            <a:r>
              <a:rPr lang="en-US"/>
              <a:t>structure and generate the correct sequence of </a:t>
            </a:r>
            <a:r>
              <a:rPr lang="en-US" dirty="0"/>
              <a:t>SMILES </a:t>
            </a:r>
            <a:r>
              <a:rPr lang="en-US"/>
              <a:t>tokens. Any deviation from the correct sequence can give a completely different molecule. For instance, one deviation could be the difference between oxygen gas and ozone. The original goal was to compare a CNN-based model, a Transformer-based model, and a graph-based model. However, the project was too large to fully implement. This was narrowed down to using three deep learning models where CNN is used to encode and RNN, GRU, and LSTM are used to decode sequences</a:t>
            </a:r>
            <a:r>
              <a:rPr lang="en-US" dirty="0"/>
              <a:t>. </a:t>
            </a:r>
            <a:r>
              <a:rPr lang="en-US"/>
              <a:t>This is Christopher Le's </a:t>
            </a:r>
            <a:r>
              <a:rPr lang="en-US" dirty="0"/>
              <a:t>final project </a:t>
            </a:r>
            <a:r>
              <a:rPr lang="en-US"/>
              <a:t>for CSC 6850, Machine Learning, Spring 2026</a:t>
            </a:r>
            <a:r>
              <a:rPr lang="en-US" dirty="0"/>
              <a: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matters because chemical </a:t>
            </a:r>
            <a:r>
              <a:rPr lang="en-US"/>
              <a:t>structures are often stored as </a:t>
            </a:r>
            <a:r>
              <a:rPr lang="en-US" dirty="0"/>
              <a:t>images in </a:t>
            </a:r>
            <a:r>
              <a:rPr lang="en-US"/>
              <a:t>scientific </a:t>
            </a:r>
            <a:r>
              <a:rPr lang="en-US" dirty="0"/>
              <a:t>papers, </a:t>
            </a:r>
            <a:r>
              <a:rPr lang="en-US"/>
              <a:t>patents, </a:t>
            </a:r>
            <a:r>
              <a:rPr lang="en-US" dirty="0"/>
              <a:t>databases, and </a:t>
            </a:r>
            <a:r>
              <a:rPr lang="en-US"/>
              <a:t>handwritten </a:t>
            </a:r>
            <a:r>
              <a:rPr lang="en-US" dirty="0"/>
              <a:t>notes. A human </a:t>
            </a:r>
            <a:r>
              <a:rPr lang="en-US"/>
              <a:t>chemist </a:t>
            </a:r>
            <a:r>
              <a:rPr lang="en-US" dirty="0"/>
              <a:t>can look at </a:t>
            </a:r>
            <a:r>
              <a:rPr lang="en-US"/>
              <a:t>a molecular </a:t>
            </a:r>
            <a:r>
              <a:rPr lang="en-US" dirty="0"/>
              <a:t>image and understand </a:t>
            </a:r>
            <a:r>
              <a:rPr lang="en-US"/>
              <a:t>its structure</a:t>
            </a:r>
            <a:r>
              <a:rPr lang="en-US" dirty="0"/>
              <a:t>, but a computer </a:t>
            </a:r>
            <a:r>
              <a:rPr lang="en-US"/>
              <a:t>cannot directly analyze or search an image for chemical information</a:t>
            </a:r>
            <a:r>
              <a:rPr lang="en-US" dirty="0"/>
              <a:t>. </a:t>
            </a:r>
            <a:r>
              <a:rPr lang="en-US"/>
              <a:t>OCSR bridges this gap by converting molecule images into </a:t>
            </a:r>
            <a:r>
              <a:rPr lang="en-US" dirty="0"/>
              <a:t>SMILES strings</a:t>
            </a:r>
            <a:r>
              <a:rPr lang="en-US"/>
              <a:t>, which are machine-readable text representations. SMILES stands for Simplified Molecular Input Line Entry System, and it encodes molecular structure as a linear string of characters. Once converted to SMILES, molecules become</a:t>
            </a:r>
            <a:r>
              <a:rPr lang="en-US" dirty="0"/>
              <a:t> searchable</a:t>
            </a:r>
            <a:r>
              <a:rPr lang="en-US"/>
              <a:t>, storable in databases,</a:t>
            </a:r>
            <a:r>
              <a:rPr lang="en-US" dirty="0"/>
              <a:t> and usable for downstream </a:t>
            </a:r>
            <a:r>
              <a:rPr lang="en-US"/>
              <a:t>tasks like </a:t>
            </a:r>
            <a:r>
              <a:rPr lang="en-US" dirty="0"/>
              <a:t>computational chemistry</a:t>
            </a:r>
            <a:r>
              <a:rPr lang="en-US"/>
              <a:t>, drug discovery, and</a:t>
            </a:r>
            <a:r>
              <a:rPr lang="en-US" dirty="0"/>
              <a:t> machine learning</a:t>
            </a:r>
            <a:r>
              <a:rPr lang="en-US"/>
              <a:t>. Without OCSR, vast amounts of chemical knowledge locked in image form remain inaccessible to automated analysis</a:t>
            </a:r>
            <a:r>
              <a:rPr lang="en-US" dirty="0"/>
              <a: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OCSR is fundamentally more difficult than standard image classification because the model must understand the full chemical structure within the image. The model needs to recognize atoms, bonds, rings, branches, and charges from visual information alone. A small mistake can completely change the molecule's identity and properties. For example, missing a ring closure, adding an extra parenthesis, or predicting the wrong atom can produce a molecule that is either invalid or chemically different from the target. SMILES notation is strictly order-dependent, meaning that the position of each token matters. </a:t>
            </a:r>
            <a:r>
              <a:rPr lang="en-US"/>
              <a:t>This creates an accuracy paradox where a model can achieve high token accuracy by predicting common tokens correctly while still failing to reconstruct the correct molecule</a:t>
            </a:r>
            <a:r>
              <a:rPr lang="en-US" dirty="0"/>
              <a:t>. This is why exact match and canonical match are strict but essential evaluation metrics for OCSR systems.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original proposal was </a:t>
            </a:r>
            <a:r>
              <a:rPr lang="en-US"/>
              <a:t>considerably </a:t>
            </a:r>
            <a:r>
              <a:rPr lang="en-US" dirty="0"/>
              <a:t>more ambitious. The </a:t>
            </a:r>
            <a:r>
              <a:rPr lang="en-US"/>
              <a:t>plan was to compare a CNN-based model, a Transformer-based model inspired by SwinOCSR, and a graph-based model inspired by atom-level OCSR. However, after </a:t>
            </a:r>
            <a:r>
              <a:rPr lang="en-US" dirty="0"/>
              <a:t>feedback </a:t>
            </a:r>
            <a:r>
              <a:rPr lang="en-US"/>
              <a:t>from the professor, it became clear </a:t>
            </a:r>
            <a:r>
              <a:rPr lang="en-US" dirty="0"/>
              <a:t>that implementing three </a:t>
            </a:r>
            <a:r>
              <a:rPr lang="en-US"/>
              <a:t>fundamentally different </a:t>
            </a:r>
            <a:r>
              <a:rPr lang="en-US" dirty="0"/>
              <a:t>OCSR architectures from scratch was too large for a solo project. </a:t>
            </a:r>
            <a:r>
              <a:rPr lang="en-US"/>
              <a:t>The scope was </a:t>
            </a:r>
            <a:r>
              <a:rPr lang="en-US" dirty="0"/>
              <a:t>narrowed </a:t>
            </a:r>
            <a:r>
              <a:rPr lang="en-US"/>
              <a:t>down </a:t>
            </a:r>
            <a:r>
              <a:rPr lang="en-US" dirty="0"/>
              <a:t>while keeping the core </a:t>
            </a:r>
            <a:r>
              <a:rPr lang="en-US"/>
              <a:t>comparative evaluation</a:t>
            </a:r>
            <a:r>
              <a:rPr lang="en-US" dirty="0"/>
              <a:t>. Instead of comparing three completely different OCSR systems, </a:t>
            </a:r>
            <a:r>
              <a:rPr lang="en-US"/>
              <a:t>the final project compares </a:t>
            </a:r>
            <a:r>
              <a:rPr lang="en-US" dirty="0"/>
              <a:t>three decoder variants </a:t>
            </a:r>
            <a:r>
              <a:rPr lang="en-US"/>
              <a:t>within a single CNN-based </a:t>
            </a:r>
            <a:r>
              <a:rPr lang="en-US" dirty="0"/>
              <a:t>image-to-sequence framework</a:t>
            </a:r>
            <a:r>
              <a:rPr lang="en-US"/>
              <a:t>. The CNN encoder remains constant across all three models, while the decoder is varied between RNN, GRU, and LSTM. The project still uses multiple datasets including PubChem for training, and EPA CompTox and DECIMER for external evaluation, which preserves the cross-domain testing aspect of the original plan</a:t>
            </a:r>
            <a:r>
              <a:rPr lang="en-US" dirty="0"/>
              <a: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project draws inspiration from two main OCSR papers. The first is SwinOCSR by Xu et al., published in the Journal of Cheminformatics in 2022. </a:t>
            </a:r>
            <a:r>
              <a:rPr lang="en-US" dirty="0"/>
              <a:t>SwinOCSR </a:t>
            </a:r>
            <a:r>
              <a:rPr lang="en-US"/>
              <a:t>treats OCSR as an image-to-sequence problem, using a Swin Transformer encoder with a Transformer decoder for end-to-end structure recognition. This paper heavily </a:t>
            </a:r>
            <a:r>
              <a:rPr lang="en-US" dirty="0"/>
              <a:t>influenced the direction of this project </a:t>
            </a:r>
            <a:r>
              <a:rPr lang="en-US"/>
              <a:t>by framing </a:t>
            </a:r>
            <a:r>
              <a:rPr lang="en-US" dirty="0"/>
              <a:t>OCSR as </a:t>
            </a:r>
            <a:r>
              <a:rPr lang="en-US"/>
              <a:t>sequence generation rather than classification</a:t>
            </a:r>
            <a:r>
              <a:rPr lang="en-US" dirty="0"/>
              <a:t>. </a:t>
            </a:r>
            <a:r>
              <a:rPr lang="en-US"/>
              <a:t>The second paper </a:t>
            </a:r>
            <a:r>
              <a:rPr lang="en-US" dirty="0"/>
              <a:t>is </a:t>
            </a:r>
            <a:r>
              <a:rPr lang="en-US"/>
              <a:t>by Oldenhof, De Brouwer, Arany, and Moreau, published at CVPR 2024, which focuses on atom-level optical chemical structure recognition with limited supervision. This approach detects atoms and bonds individually and then </a:t>
            </a:r>
            <a:r>
              <a:rPr lang="en-US" dirty="0"/>
              <a:t>reconstructs </a:t>
            </a:r>
            <a:r>
              <a:rPr lang="en-US"/>
              <a:t>the </a:t>
            </a:r>
            <a:r>
              <a:rPr lang="en-US" dirty="0"/>
              <a:t>molecular graph </a:t>
            </a:r>
            <a:r>
              <a:rPr lang="en-US"/>
              <a:t>structure. Some external data sources used include PubChem, a database of chemicals with SMILES names used for training and testing; EPA CompTox, a separate database that could test cross-domain generalization; </a:t>
            </a:r>
            <a:r>
              <a:rPr lang="en-US" dirty="0"/>
              <a:t>and </a:t>
            </a:r>
            <a:r>
              <a:rPr lang="en-US"/>
              <a:t>DECIMER, a database of hand-drawn chemical structures useful as a challenging test set</a:t>
            </a:r>
            <a:r>
              <a:rPr lang="en-US" dirty="0"/>
              <a:t>. My </a:t>
            </a:r>
            <a:r>
              <a:rPr lang="en-US"/>
              <a:t>project </a:t>
            </a:r>
            <a:r>
              <a:rPr lang="en-US" dirty="0"/>
              <a:t>is simpler</a:t>
            </a:r>
            <a:r>
              <a:rPr lang="en-US"/>
              <a:t> than these full OCSR systems</a:t>
            </a:r>
            <a:r>
              <a:rPr lang="en-US" dirty="0"/>
              <a:t>, but the general </a:t>
            </a:r>
            <a:r>
              <a:rPr lang="en-US"/>
              <a:t>direction of treating </a:t>
            </a:r>
            <a:r>
              <a:rPr lang="en-US" dirty="0"/>
              <a:t>OCSR </a:t>
            </a:r>
            <a:r>
              <a:rPr lang="en-US"/>
              <a:t>as a structured output generation problem is the same</a:t>
            </a:r>
            <a:r>
              <a:rPr lang="en-US" dirty="0"/>
              <a: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
            </a:r>
            <a:r>
              <a:rPr lang="en-US"/>
              <a:t>final project uses an image-to-sequence model architecture. When the </a:t>
            </a:r>
            <a:r>
              <a:rPr lang="en-US" dirty="0"/>
              <a:t>model </a:t>
            </a:r>
            <a:r>
              <a:rPr lang="en-US"/>
              <a:t>receives a chemical image, it first passes through </a:t>
            </a:r>
            <a:r>
              <a:rPr lang="en-US" dirty="0"/>
              <a:t>a </a:t>
            </a:r>
            <a:r>
              <a:rPr lang="en-US"/>
              <a:t>CNN encoder that extracts visual features from the molecular </a:t>
            </a:r>
            <a:r>
              <a:rPr lang="en-US" dirty="0"/>
              <a:t>image. The CNN encoder </a:t>
            </a:r>
            <a:r>
              <a:rPr lang="en-US"/>
              <a:t>is used because the input is an </a:t>
            </a:r>
            <a:r>
              <a:rPr lang="en-US" dirty="0"/>
              <a:t>image</a:t>
            </a:r>
            <a:r>
              <a:rPr lang="en-US"/>
              <a:t>, and chemical structures consist of lines, corners, letters, rings, and branches. The CNN can learn to recognize</a:t>
            </a:r>
            <a:r>
              <a:rPr lang="en-US" dirty="0"/>
              <a:t> features</a:t>
            </a:r>
            <a:r>
              <a:rPr lang="en-US"/>
              <a:t> such as single bonds, double bonds, triple bonds, atom labels, rings, and branches</a:t>
            </a:r>
            <a:r>
              <a:rPr lang="en-US" dirty="0"/>
              <a:t>. </a:t>
            </a:r>
            <a:r>
              <a:rPr lang="en-US"/>
              <a:t>The CNN converts the image </a:t>
            </a:r>
            <a:r>
              <a:rPr lang="en-US" dirty="0"/>
              <a:t>into a </a:t>
            </a:r>
            <a:r>
              <a:rPr lang="en-US"/>
              <a:t>compact feature vector</a:t>
            </a:r>
            <a:r>
              <a:rPr lang="en-US" dirty="0"/>
              <a:t>, which </a:t>
            </a:r>
            <a:r>
              <a:rPr lang="en-US"/>
              <a:t>is then passed into </a:t>
            </a:r>
            <a:r>
              <a:rPr lang="en-US" dirty="0"/>
              <a:t>the </a:t>
            </a:r>
            <a:r>
              <a:rPr lang="en-US"/>
              <a:t>recurrent decoder. The decoder uses those extracted features to generate a </a:t>
            </a:r>
            <a:r>
              <a:rPr lang="en-US" dirty="0"/>
              <a:t>SMILES </a:t>
            </a:r>
            <a:r>
              <a:rPr lang="en-US"/>
              <a:t>sequence </a:t>
            </a:r>
            <a:r>
              <a:rPr lang="en-US" dirty="0"/>
              <a:t>one token at a time. </a:t>
            </a:r>
            <a:r>
              <a:rPr lang="en-US"/>
              <a:t>Three models are compared in this project: CNN-RNN, CNN-GRU, and CNN-LSTM. All </a:t>
            </a:r>
            <a:r>
              <a:rPr lang="en-US" dirty="0"/>
              <a:t>three models use the same CNN encoder but </a:t>
            </a:r>
            <a:r>
              <a:rPr lang="en-US"/>
              <a:t>vary in the decoder architecture, allowing for a controlled comparison of how </a:t>
            </a:r>
            <a:r>
              <a:rPr lang="en-US" dirty="0"/>
              <a:t>different </a:t>
            </a:r>
            <a:r>
              <a:rPr lang="en-US"/>
              <a:t>recurrent decoders handle the sequence generation task</a:t>
            </a:r>
            <a:r>
              <a:rPr lang="en-US" dirty="0"/>
              <a: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decoder is the </a:t>
            </a:r>
            <a:r>
              <a:rPr lang="en-US"/>
              <a:t>component responsible for writing </a:t>
            </a:r>
            <a:r>
              <a:rPr lang="en-US" dirty="0"/>
              <a:t>the SMILES string. It </a:t>
            </a:r>
            <a:r>
              <a:rPr lang="en-US"/>
              <a:t>begins </a:t>
            </a:r>
            <a:r>
              <a:rPr lang="en-US" dirty="0"/>
              <a:t>from a </a:t>
            </a:r>
            <a:r>
              <a:rPr lang="en-US"/>
              <a:t>special </a:t>
            </a:r>
            <a:r>
              <a:rPr lang="en-US" dirty="0"/>
              <a:t>start token</a:t>
            </a:r>
            <a:r>
              <a:rPr lang="en-US"/>
              <a:t> and </a:t>
            </a:r>
            <a:r>
              <a:rPr lang="en-US" dirty="0"/>
              <a:t>then predicts one token at a time</a:t>
            </a:r>
            <a:r>
              <a:rPr lang="en-US"/>
              <a:t> in a sequential manner. Each prediction is based on the image features extracted by the CNN encoder, the previously generated tokens, and the current hidden state of the recurrent network</a:t>
            </a:r>
            <a:r>
              <a:rPr lang="en-US" dirty="0"/>
              <a:t>. For example, </a:t>
            </a:r>
            <a:r>
              <a:rPr lang="en-US"/>
              <a:t>to generate acetic acid, the decoder would </a:t>
            </a:r>
            <a:r>
              <a:rPr lang="en-US" dirty="0"/>
              <a:t>predict C, then C, then </a:t>
            </a:r>
            <a:r>
              <a:rPr lang="en-US"/>
              <a:t>an opening parenthesis, then =</a:t>
            </a:r>
            <a:r>
              <a:rPr lang="en-US" dirty="0"/>
              <a:t>O, then </a:t>
            </a:r>
            <a:r>
              <a:rPr lang="en-US"/>
              <a:t>a closing parenthesis, then O, forming CC(=O)O</a:t>
            </a:r>
            <a:r>
              <a:rPr lang="en-US" dirty="0"/>
              <a:t>. The </a:t>
            </a:r>
            <a:r>
              <a:rPr lang="en-US"/>
              <a:t>key </a:t>
            </a:r>
            <a:r>
              <a:rPr lang="en-US" dirty="0"/>
              <a:t>challenge is that </a:t>
            </a:r>
            <a:r>
              <a:rPr lang="en-US"/>
              <a:t>the decoder must </a:t>
            </a:r>
            <a:r>
              <a:rPr lang="en-US" dirty="0"/>
              <a:t>remember earlier parts of the molecule, </a:t>
            </a:r>
            <a:r>
              <a:rPr lang="en-US"/>
              <a:t>such as </a:t>
            </a:r>
            <a:r>
              <a:rPr lang="en-US" dirty="0"/>
              <a:t>branches and </a:t>
            </a:r>
            <a:r>
              <a:rPr lang="en-US"/>
              <a:t>ring closures</a:t>
            </a:r>
            <a:r>
              <a:rPr lang="en-US" dirty="0"/>
              <a:t>, while continuing to generate the </a:t>
            </a:r>
            <a:r>
              <a:rPr lang="en-US"/>
              <a:t>remaining tokens. This is where the choice </a:t>
            </a:r>
            <a:r>
              <a:rPr lang="en-US" dirty="0"/>
              <a:t>of </a:t>
            </a:r>
            <a:r>
              <a:rPr lang="en-US"/>
              <a:t>decoder architecture matters significantly, as more advanced recurrent units like GRU and LSTM have better mechanisms for maintaining long-range dependencies in </a:t>
            </a:r>
            <a:r>
              <a:rPr lang="en-US" dirty="0"/>
              <a:t>the </a:t>
            </a:r>
            <a:r>
              <a:rPr lang="en-US"/>
              <a:t>sequence</a:t>
            </a:r>
            <a:r>
              <a:rPr lang="en-US" dirty="0"/>
              <a: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CNN-RNN model is the simplest of the three. Each token is processed one at a time, and the model </a:t>
            </a:r>
            <a:r>
              <a:rPr lang="en-US" dirty="0"/>
              <a:t>keeps </a:t>
            </a:r>
            <a:r>
              <a:rPr lang="en-US"/>
              <a:t>information from the previous token through </a:t>
            </a:r>
            <a:r>
              <a:rPr lang="en-US" dirty="0"/>
              <a:t>a </a:t>
            </a:r>
            <a:r>
              <a:rPr lang="en-US"/>
              <a:t>single </a:t>
            </a:r>
            <a:r>
              <a:rPr lang="en-US" dirty="0"/>
              <a:t>hidden state</a:t>
            </a:r>
            <a:r>
              <a:rPr lang="en-US"/>
              <a:t>. However, when compared to the other two decoders, RNN has weaker memory. When sequences become extremely long</a:t>
            </a:r>
            <a:r>
              <a:rPr lang="en-US" dirty="0"/>
              <a:t>, it </a:t>
            </a:r>
            <a:r>
              <a:rPr lang="en-US"/>
              <a:t>begins to </a:t>
            </a:r>
            <a:r>
              <a:rPr lang="en-US" dirty="0"/>
              <a:t>struggle </a:t>
            </a:r>
            <a:r>
              <a:rPr lang="en-US"/>
              <a:t>due to vanishing gradients. The CNN-RNN model serves as a baseline for comparisons</a:t>
            </a:r>
            <a:r>
              <a:rPr lang="en-US" dirty="0"/>
              <a:t>. </a:t>
            </a:r>
            <a:r>
              <a:rPr lang="en-US"/>
              <a:t>The CNN-GRU model uses a Gated Recurrent Unit as the decoder, which is an improved version of RNN</a:t>
            </a:r>
            <a:r>
              <a:rPr lang="en-US" dirty="0"/>
              <a:t>. The </a:t>
            </a:r>
            <a:r>
              <a:rPr lang="en-US"/>
              <a:t>GRU uses two gates to control information flow: the </a:t>
            </a:r>
            <a:r>
              <a:rPr lang="en-US" dirty="0"/>
              <a:t>update gate </a:t>
            </a:r>
            <a:r>
              <a:rPr lang="en-US"/>
              <a:t>determines </a:t>
            </a:r>
            <a:r>
              <a:rPr lang="en-US" dirty="0"/>
              <a:t>how much </a:t>
            </a:r>
            <a:r>
              <a:rPr lang="en-US"/>
              <a:t>past </a:t>
            </a:r>
            <a:r>
              <a:rPr lang="en-US" dirty="0"/>
              <a:t>information to keep, and the reset gate controls how much past information to use when </a:t>
            </a:r>
            <a:r>
              <a:rPr lang="en-US"/>
              <a:t>computing the </a:t>
            </a:r>
            <a:r>
              <a:rPr lang="en-US" dirty="0"/>
              <a:t>new </a:t>
            </a:r>
            <a:r>
              <a:rPr lang="en-US"/>
              <a:t>hidden </a:t>
            </a:r>
            <a:r>
              <a:rPr lang="en-US" dirty="0"/>
              <a:t>state. </a:t>
            </a:r>
            <a:r>
              <a:rPr lang="en-US"/>
              <a:t>This gating mechanism helps the GRU retain important information over longer sequences. The CNN-LSTM, or Long Short-Term Memory, has the most </a:t>
            </a:r>
            <a:r>
              <a:rPr lang="en-US" dirty="0"/>
              <a:t>complex </a:t>
            </a:r>
            <a:r>
              <a:rPr lang="en-US"/>
              <a:t>memory control of the three. It </a:t>
            </a:r>
            <a:r>
              <a:rPr lang="en-US" dirty="0"/>
              <a:t>uses a </a:t>
            </a:r>
            <a:r>
              <a:rPr lang="en-US"/>
              <a:t>dedicated </a:t>
            </a:r>
            <a:r>
              <a:rPr lang="en-US" dirty="0"/>
              <a:t>memory cell </a:t>
            </a:r>
            <a:r>
              <a:rPr lang="en-US"/>
              <a:t>along </a:t>
            </a:r>
            <a:r>
              <a:rPr lang="en-US" dirty="0"/>
              <a:t>with </a:t>
            </a:r>
            <a:r>
              <a:rPr lang="en-US"/>
              <a:t>three </a:t>
            </a:r>
            <a:r>
              <a:rPr lang="en-US" dirty="0"/>
              <a:t>gates</a:t>
            </a:r>
            <a:r>
              <a:rPr lang="en-US"/>
              <a:t>: an input gate, a forget gate, and an output gate. It also maintains both a hidden state and a cell state</a:t>
            </a:r>
            <a:r>
              <a:rPr lang="en-US" dirty="0"/>
              <a:t>. In theory, GRU and LSTM should handle longer SMILES dependencies</a:t>
            </a:r>
            <a:r>
              <a:rPr lang="en-US"/>
              <a:t> and more complex molecular structures</a:t>
            </a:r>
            <a:r>
              <a:rPr lang="en-US" dirty="0"/>
              <a:t> better than a basic RNN.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PubChem was the </a:t>
            </a:r>
            <a:r>
              <a:rPr lang="en-US"/>
              <a:t>primary training </a:t>
            </a:r>
            <a:r>
              <a:rPr lang="en-US" dirty="0"/>
              <a:t>dataset because it provides </a:t>
            </a:r>
            <a:r>
              <a:rPr lang="en-US"/>
              <a:t>chemical structures paired with </a:t>
            </a:r>
            <a:r>
              <a:rPr lang="en-US" dirty="0"/>
              <a:t>SMILES strings. </a:t>
            </a:r>
            <a:r>
              <a:rPr lang="en-US"/>
              <a:t>Molecule images were </a:t>
            </a:r>
            <a:r>
              <a:rPr lang="en-US" dirty="0"/>
              <a:t>generated from SMILES </a:t>
            </a:r>
            <a:r>
              <a:rPr lang="en-US"/>
              <a:t>strings </a:t>
            </a:r>
            <a:r>
              <a:rPr lang="en-US" dirty="0"/>
              <a:t>using RDKit</a:t>
            </a:r>
            <a:r>
              <a:rPr lang="en-US"/>
              <a:t>, ensuring standardized and reproducible images. The dataset consists of 400 molecule images split 80-20 for training and testing, giving 320 training images and 80 testing images. This split was done with a fixed random seed of 42 for reproducibility</a:t>
            </a:r>
            <a:r>
              <a:rPr lang="en-US" dirty="0"/>
              <a:t>. </a:t>
            </a:r>
            <a:r>
              <a:rPr lang="en-US"/>
              <a:t>The second dataset comes from </a:t>
            </a:r>
            <a:r>
              <a:rPr lang="en-US" dirty="0"/>
              <a:t>EPA CompTox</a:t>
            </a:r>
            <a:r>
              <a:rPr lang="en-US"/>
              <a:t>, which serves</a:t>
            </a:r>
            <a:r>
              <a:rPr lang="en-US" dirty="0"/>
              <a:t> as an external chemical source</a:t>
            </a:r>
            <a:r>
              <a:rPr lang="en-US"/>
              <a:t>. The reason for including EPA is to evaluate whether a model trained on PubChem data can generalize to molecules from a different database. Chemical names and SMILES strings were collected from EPA</a:t>
            </a:r>
            <a:r>
              <a:rPr lang="en-US" dirty="0"/>
              <a:t>, and </a:t>
            </a:r>
            <a:r>
              <a:rPr lang="en-US"/>
              <a:t>molecule images were generated using RDKit in a similar fashion to PubChem. The third dataset is the </a:t>
            </a:r>
            <a:r>
              <a:rPr lang="en-US" dirty="0"/>
              <a:t>DECIMER hand-drawn </a:t>
            </a:r>
            <a:r>
              <a:rPr lang="en-US"/>
              <a:t>molecule dataset. This dataset is less structured than PubChem and EPA because the </a:t>
            </a:r>
            <a:r>
              <a:rPr lang="en-US" dirty="0"/>
              <a:t>images</a:t>
            </a:r>
            <a:r>
              <a:rPr lang="en-US"/>
              <a:t> are hand-drawn</a:t>
            </a:r>
            <a:r>
              <a:rPr lang="en-US" dirty="0"/>
              <a:t>, </a:t>
            </a:r>
            <a:r>
              <a:rPr lang="en-US"/>
              <a:t>meaning lines </a:t>
            </a:r>
            <a:r>
              <a:rPr lang="en-US" dirty="0"/>
              <a:t>are </a:t>
            </a:r>
            <a:r>
              <a:rPr lang="en-US"/>
              <a:t>not as </a:t>
            </a:r>
            <a:r>
              <a:rPr lang="en-US" dirty="0"/>
              <a:t>clean </a:t>
            </a:r>
            <a:r>
              <a:rPr lang="en-US"/>
              <a:t>or uniform, and structures can vary visually. A limited DECIMER subset was used for evaluation. This dataset was included specifically to test how the models would perform when visual clarity is reduced</a:t>
            </a:r>
            <a:r>
              <a:rPr lang="en-US" dirty="0"/>
              <a: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Four evaluation metrics were used to assess model performance. </a:t>
            </a:r>
            <a:r>
              <a:rPr lang="en-US" dirty="0"/>
              <a:t>Token accuracy </a:t>
            </a:r>
            <a:r>
              <a:rPr lang="en-US"/>
              <a:t>measures how many predicted tokens match the correct target tokens at each position. This is useful because it shows </a:t>
            </a:r>
            <a:r>
              <a:rPr lang="en-US" dirty="0"/>
              <a:t>whether the model is learning </a:t>
            </a:r>
            <a:r>
              <a:rPr lang="en-US"/>
              <a:t>local SMILES patterns, even if </a:t>
            </a:r>
            <a:r>
              <a:rPr lang="en-US" dirty="0"/>
              <a:t>the </a:t>
            </a:r>
            <a:r>
              <a:rPr lang="en-US"/>
              <a:t>overall string is not fully correct</a:t>
            </a:r>
            <a:r>
              <a:rPr lang="en-US" dirty="0"/>
              <a:t>. Exact </a:t>
            </a:r>
            <a:r>
              <a:rPr lang="en-US"/>
              <a:t>SMILES </a:t>
            </a:r>
            <a:r>
              <a:rPr lang="en-US" dirty="0"/>
              <a:t>match is </a:t>
            </a:r>
            <a:r>
              <a:rPr lang="en-US"/>
              <a:t>a much </a:t>
            </a:r>
            <a:r>
              <a:rPr lang="en-US" dirty="0"/>
              <a:t>stricter </a:t>
            </a:r>
            <a:r>
              <a:rPr lang="en-US"/>
              <a:t>metric that measures whether the entire predicted SMILES string matches </a:t>
            </a:r>
            <a:r>
              <a:rPr lang="en-US" dirty="0"/>
              <a:t>the </a:t>
            </a:r>
            <a:r>
              <a:rPr lang="en-US"/>
              <a:t>target </a:t>
            </a:r>
            <a:r>
              <a:rPr lang="en-US" dirty="0"/>
              <a:t>string </a:t>
            </a:r>
            <a:r>
              <a:rPr lang="en-US"/>
              <a:t>character by character. Any single token error results in a failed exact match</a:t>
            </a:r>
            <a:r>
              <a:rPr lang="en-US" dirty="0"/>
              <a:t>. Canonical </a:t>
            </a:r>
            <a:r>
              <a:rPr lang="en-US"/>
              <a:t>SMILES </a:t>
            </a:r>
            <a:r>
              <a:rPr lang="en-US" dirty="0"/>
              <a:t>match </a:t>
            </a:r>
            <a:r>
              <a:rPr lang="en-US"/>
              <a:t>uses RDKit to canonicalize both the predicted and target SMILES strings before comparison. This </a:t>
            </a:r>
            <a:r>
              <a:rPr lang="en-US" dirty="0"/>
              <a:t>is </a:t>
            </a:r>
            <a:r>
              <a:rPr lang="en-US"/>
              <a:t>important because the same molecule can be represented by different </a:t>
            </a:r>
            <a:r>
              <a:rPr lang="en-US" dirty="0"/>
              <a:t>SMILES strings</a:t>
            </a:r>
            <a:r>
              <a:rPr lang="en-US"/>
              <a:t> depending on where you start traversing the molecular graph. Canonical match checks chemical equivalence rather than string identity</a:t>
            </a:r>
            <a:r>
              <a:rPr lang="en-US" dirty="0"/>
              <a:t>. Valid SMILES rate </a:t>
            </a:r>
            <a:r>
              <a:rPr lang="en-US"/>
              <a:t>measures </a:t>
            </a:r>
            <a:r>
              <a:rPr lang="en-US" dirty="0"/>
              <a:t>whether </a:t>
            </a:r>
            <a:r>
              <a:rPr lang="en-US"/>
              <a:t>RDKit can parse </a:t>
            </a:r>
            <a:r>
              <a:rPr lang="en-US" dirty="0"/>
              <a:t>the </a:t>
            </a:r>
            <a:r>
              <a:rPr lang="en-US"/>
              <a:t>predicted SMILES </a:t>
            </a:r>
            <a:r>
              <a:rPr lang="en-US" dirty="0"/>
              <a:t>string </a:t>
            </a:r>
            <a:r>
              <a:rPr lang="en-US"/>
              <a:t>as a valid molecular structure. A prediction can be valid but still represent the wrong molecule entirely, which is why this metric alone </a:t>
            </a:r>
            <a:r>
              <a:rPr lang="en-US" dirty="0"/>
              <a:t>is not </a:t>
            </a:r>
            <a:r>
              <a:rPr lang="en-US"/>
              <a:t>sufficient</a:t>
            </a:r>
            <a:r>
              <a:rPr lang="en-US" dirty="0"/>
              <a: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best PubChem result </a:t>
            </a:r>
            <a:r>
              <a:rPr lang="en-US"/>
              <a:t>came from </a:t>
            </a:r>
            <a:r>
              <a:rPr lang="en-US" dirty="0"/>
              <a:t>CNN-GRU with </a:t>
            </a:r>
            <a:r>
              <a:rPr lang="en-US"/>
              <a:t>a learning rate of 0.001, hidden dimension of 512, and embedding dimension of 128. This model reached </a:t>
            </a:r>
            <a:r>
              <a:rPr lang="en-US" dirty="0"/>
              <a:t>68.42% token accuracy. However, </a:t>
            </a:r>
            <a:r>
              <a:rPr lang="en-US"/>
              <a:t>all </a:t>
            </a:r>
            <a:r>
              <a:rPr lang="en-US" dirty="0"/>
              <a:t>exact match and canonical match </a:t>
            </a:r>
            <a:r>
              <a:rPr lang="en-US"/>
              <a:t>scores remained at 0% across every model configuration</a:t>
            </a:r>
            <a:r>
              <a:rPr lang="en-US" dirty="0"/>
              <a:t>. This means </a:t>
            </a:r>
            <a:r>
              <a:rPr lang="en-US"/>
              <a:t>that even when </a:t>
            </a:r>
            <a:r>
              <a:rPr lang="en-US" dirty="0"/>
              <a:t>the model </a:t>
            </a:r>
            <a:r>
              <a:rPr lang="en-US"/>
              <a:t>predicted many individual </a:t>
            </a:r>
            <a:r>
              <a:rPr lang="en-US" dirty="0"/>
              <a:t>SMILES </a:t>
            </a:r>
            <a:r>
              <a:rPr lang="en-US"/>
              <a:t>tokens correctly</a:t>
            </a:r>
            <a:r>
              <a:rPr lang="en-US" dirty="0"/>
              <a:t>, it </a:t>
            </a:r>
            <a:r>
              <a:rPr lang="en-US"/>
              <a:t>still </a:t>
            </a:r>
            <a:r>
              <a:rPr lang="en-US" dirty="0"/>
              <a:t>did not </a:t>
            </a:r>
            <a:r>
              <a:rPr lang="en-US"/>
              <a:t>generate a complete molecule string that matched </a:t>
            </a:r>
            <a:r>
              <a:rPr lang="en-US" dirty="0"/>
              <a:t>the </a:t>
            </a:r>
            <a:r>
              <a:rPr lang="en-US"/>
              <a:t>target. The external datasets were significantly harder</a:t>
            </a:r>
            <a:r>
              <a:rPr lang="en-US" dirty="0"/>
              <a:t>. EPA </a:t>
            </a:r>
            <a:r>
              <a:rPr lang="en-US"/>
              <a:t>CompTox token accuracy dropped to around 41% for the best model, </a:t>
            </a:r>
            <a:r>
              <a:rPr lang="en-US" dirty="0"/>
              <a:t>and DECIMER token accuracy dropped</a:t>
            </a:r>
            <a:r>
              <a:rPr lang="en-US"/>
              <a:t> to around 38%. The EPA drop is expected because the molecules come from a different chemical source than the training data. The DECIMER drop was also expected because the images are hand-drawn rather than cleanly generated by software. When comparing the three models, CNN-GRU had the single best result, CNN-LSTM had the second best, and CNN-RNN performed lowest. On average across the hyperparameter grid, GRU consistently achieved higher token accuracies than both LSTM and RNN</a:t>
            </a:r>
            <a:r>
              <a:rPr lang="en-US" dirty="0"/>
              <a: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rate had a clear </a:t>
            </a:r>
            <a:r>
              <a:rPr lang="en-US"/>
              <a:t>and significant </a:t>
            </a:r>
            <a:r>
              <a:rPr lang="en-US" dirty="0"/>
              <a:t>effect</a:t>
            </a:r>
            <a:r>
              <a:rPr lang="en-US"/>
              <a:t> on model performance</a:t>
            </a:r>
            <a:r>
              <a:rPr lang="en-US" dirty="0"/>
              <a:t>. The highest learning rate</a:t>
            </a:r>
            <a:r>
              <a:rPr lang="en-US"/>
              <a:t> of </a:t>
            </a:r>
            <a:r>
              <a:rPr lang="en-US" dirty="0"/>
              <a:t>0.001</a:t>
            </a:r>
            <a:r>
              <a:rPr lang="en-US"/>
              <a:t> was the </a:t>
            </a:r>
            <a:r>
              <a:rPr lang="en-US" dirty="0"/>
              <a:t>best </a:t>
            </a:r>
            <a:r>
              <a:rPr lang="en-US"/>
              <a:t>choice </a:t>
            </a:r>
            <a:r>
              <a:rPr lang="en-US" dirty="0"/>
              <a:t>for this setup</a:t>
            </a:r>
            <a:r>
              <a:rPr lang="en-US"/>
              <a:t>, achieving an average token accuracy of 62.57% and the best single result of 68.42%. A learning rate of 0.0005 produced moderate results with an average of 58.8%, while the lowest learning rate of 0.0001 performed worst with an average of only 48.97%. </a:t>
            </a:r>
            <a:r>
              <a:rPr lang="en-US" dirty="0"/>
              <a:t>The lowest learning rate </a:t>
            </a:r>
            <a:r>
              <a:rPr lang="en-US"/>
              <a:t>likely </a:t>
            </a:r>
            <a:r>
              <a:rPr lang="en-US" dirty="0"/>
              <a:t>trained too slowly </a:t>
            </a:r>
            <a:r>
              <a:rPr lang="en-US"/>
              <a:t>given </a:t>
            </a:r>
            <a:r>
              <a:rPr lang="en-US" dirty="0"/>
              <a:t>only 10 </a:t>
            </a:r>
            <a:r>
              <a:rPr lang="en-US"/>
              <a:t>training </a:t>
            </a:r>
            <a:r>
              <a:rPr lang="en-US" dirty="0"/>
              <a:t>epochs</a:t>
            </a:r>
            <a:r>
              <a:rPr lang="en-US"/>
              <a:t>, meaning the model did not have enough updates to converge</a:t>
            </a:r>
            <a:r>
              <a:rPr lang="en-US" dirty="0"/>
              <a:t>. Hidden dimension also </a:t>
            </a:r>
            <a:r>
              <a:rPr lang="en-US"/>
              <a:t>had a substantial impact</a:t>
            </a:r>
            <a:r>
              <a:rPr lang="en-US" dirty="0"/>
              <a:t>. A hidden dimension of 512 performed best</a:t>
            </a:r>
            <a:r>
              <a:rPr lang="en-US"/>
              <a:t> with an average token accuracy of 60.77% and the best single result of 68.42%. A dimension of 256 gave an average of 57.12%, while 128 gave only 52.44%. This suggests that </a:t>
            </a:r>
            <a:r>
              <a:rPr lang="en-US" dirty="0"/>
              <a:t>the </a:t>
            </a:r>
            <a:r>
              <a:rPr lang="en-US"/>
              <a:t>recurrent </a:t>
            </a:r>
            <a:r>
              <a:rPr lang="en-US" dirty="0"/>
              <a:t>decoder needed more capacity to </a:t>
            </a:r>
            <a:r>
              <a:rPr lang="en-US"/>
              <a:t>adequately </a:t>
            </a:r>
            <a:r>
              <a:rPr lang="en-US" dirty="0"/>
              <a:t>model </a:t>
            </a:r>
            <a:r>
              <a:rPr lang="en-US"/>
              <a:t>the complexity of </a:t>
            </a:r>
            <a:r>
              <a:rPr lang="en-US" dirty="0"/>
              <a:t>SMILES </a:t>
            </a:r>
            <a:r>
              <a:rPr lang="en-US"/>
              <a:t>token patterns. Smaller hidden dimensions could not represent longer or more complex </a:t>
            </a:r>
            <a:r>
              <a:rPr lang="en-US" dirty="0"/>
              <a:t>sequences</a:t>
            </a:r>
            <a:r>
              <a:rPr lang="en-US"/>
              <a:t> effectively. Higher learning rate combined with larger hidden dimension consistently produced the best results across all three model types</a:t>
            </a:r>
            <a:r>
              <a:rPr lang="en-US" dirty="0"/>
              <a: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a:t>
            </a:r>
            <a:r>
              <a:rPr lang="en-US"/>
              <a:t>of the most </a:t>
            </a:r>
            <a:r>
              <a:rPr lang="en-US" dirty="0"/>
              <a:t>important failure </a:t>
            </a:r>
            <a:r>
              <a:rPr lang="en-US"/>
              <a:t>cases observed </a:t>
            </a:r>
            <a:r>
              <a:rPr lang="en-US" dirty="0"/>
              <a:t>was </a:t>
            </a:r>
            <a:r>
              <a:rPr lang="en-US"/>
              <a:t>the </a:t>
            </a:r>
            <a:r>
              <a:rPr lang="en-US" dirty="0"/>
              <a:t>repeated </a:t>
            </a:r>
            <a:r>
              <a:rPr lang="en-US"/>
              <a:t>carbon-chain prediction, where models would generate </a:t>
            </a:r>
            <a:r>
              <a:rPr lang="en-US" dirty="0"/>
              <a:t>long </a:t>
            </a:r>
            <a:r>
              <a:rPr lang="en-US"/>
              <a:t>strings of C characters like CCCCCCCCCCCCCC. This </a:t>
            </a:r>
            <a:r>
              <a:rPr lang="en-US" dirty="0"/>
              <a:t>is </a:t>
            </a:r>
            <a:r>
              <a:rPr lang="en-US"/>
              <a:t>technically </a:t>
            </a:r>
            <a:r>
              <a:rPr lang="en-US" dirty="0"/>
              <a:t>a </a:t>
            </a:r>
            <a:r>
              <a:rPr lang="en-US"/>
              <a:t>valid </a:t>
            </a:r>
            <a:r>
              <a:rPr lang="en-US" dirty="0"/>
              <a:t>SMILES string</a:t>
            </a:r>
            <a:r>
              <a:rPr lang="en-US"/>
              <a:t> representing a long alkane chain, so RDKit would parse it successfully</a:t>
            </a:r>
            <a:r>
              <a:rPr lang="en-US" dirty="0"/>
              <a:t>. </a:t>
            </a:r>
            <a:r>
              <a:rPr lang="en-US"/>
              <a:t>However, </a:t>
            </a:r>
            <a:r>
              <a:rPr lang="en-US" dirty="0"/>
              <a:t>if the target </a:t>
            </a:r>
            <a:r>
              <a:rPr lang="en-US"/>
              <a:t>molecule </a:t>
            </a:r>
            <a:r>
              <a:rPr lang="en-US" dirty="0"/>
              <a:t>is a ring structure</a:t>
            </a:r>
            <a:r>
              <a:rPr lang="en-US"/>
              <a:t>, a branched molecule,</a:t>
            </a:r>
            <a:r>
              <a:rPr lang="en-US" dirty="0"/>
              <a:t> or a charged </a:t>
            </a:r>
            <a:r>
              <a:rPr lang="en-US"/>
              <a:t>compound</a:t>
            </a:r>
            <a:r>
              <a:rPr lang="en-US" dirty="0"/>
              <a:t>, </a:t>
            </a:r>
            <a:r>
              <a:rPr lang="en-US"/>
              <a:t>this </a:t>
            </a:r>
            <a:r>
              <a:rPr lang="en-US" dirty="0"/>
              <a:t>prediction is </a:t>
            </a:r>
            <a:r>
              <a:rPr lang="en-US"/>
              <a:t>completely </a:t>
            </a:r>
            <a:r>
              <a:rPr lang="en-US" dirty="0"/>
              <a:t>wrong. </a:t>
            </a:r>
            <a:r>
              <a:rPr lang="en-US"/>
              <a:t>The model likely gravitated toward this pattern because carbon is the most common token in SMILES strings, since nearly all organic compounds contain carbon. By repeatedly predicting C, the model could increase its token accuracy because many positions in the target string also contain C. This behavior explains the gap between the 68% token accuracy and the 0% exact match and canonical match. The model was reducing token-level loss by exploiting common token frequencies rather than truly understanding the image structure. </a:t>
            </a:r>
            <a:r>
              <a:rPr lang="en-US" dirty="0"/>
              <a:t>This </a:t>
            </a:r>
            <a:r>
              <a:rPr lang="en-US"/>
              <a:t>analysis reveals that </a:t>
            </a:r>
            <a:r>
              <a:rPr lang="en-US" dirty="0"/>
              <a:t>valid SMILES rate alone is not </a:t>
            </a:r>
            <a:r>
              <a:rPr lang="en-US"/>
              <a:t>a sufficient evaluation metric</a:t>
            </a:r>
            <a:r>
              <a:rPr lang="en-US" dirty="0"/>
              <a:t>. </a:t>
            </a:r>
            <a:r>
              <a:rPr lang="en-US"/>
              <a:t>A prediction can be parseable and even chemically valid while representing a completely different molecule from the target</a:t>
            </a:r>
            <a:r>
              <a:rPr lang="en-US" dirty="0"/>
              <a: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Several significant challenges were encountered throughout this project. The original scope </a:t>
            </a:r>
            <a:r>
              <a:rPr lang="en-US" dirty="0"/>
              <a:t>was </a:t>
            </a:r>
            <a:r>
              <a:rPr lang="en-US"/>
              <a:t>too large for a solo project, which required narrowing from three fundamentally different architectures to three decoder variants within one framework. An early approach using </a:t>
            </a:r>
            <a:r>
              <a:rPr lang="en-US" dirty="0"/>
              <a:t>a </a:t>
            </a:r>
            <a:r>
              <a:rPr lang="en-US"/>
              <a:t>closed-set </a:t>
            </a:r>
            <a:r>
              <a:rPr lang="en-US" dirty="0"/>
              <a:t>CNN classifier </a:t>
            </a:r>
            <a:r>
              <a:rPr lang="en-US"/>
              <a:t>did </a:t>
            </a:r>
            <a:r>
              <a:rPr lang="en-US" dirty="0"/>
              <a:t>not </a:t>
            </a:r>
            <a:r>
              <a:rPr lang="en-US"/>
              <a:t>match </a:t>
            </a:r>
            <a:r>
              <a:rPr lang="en-US" dirty="0"/>
              <a:t>the </a:t>
            </a:r>
            <a:r>
              <a:rPr lang="en-US"/>
              <a:t>OCSR task because treating </a:t>
            </a:r>
            <a:r>
              <a:rPr lang="en-US" dirty="0"/>
              <a:t>each molecule as a </a:t>
            </a:r>
            <a:r>
              <a:rPr lang="en-US"/>
              <a:t>separate </a:t>
            </a:r>
            <a:r>
              <a:rPr lang="en-US" dirty="0"/>
              <a:t>class</a:t>
            </a:r>
            <a:r>
              <a:rPr lang="en-US"/>
              <a:t> means </a:t>
            </a:r>
            <a:r>
              <a:rPr lang="en-US" dirty="0"/>
              <a:t>the model cannot generate unseen molecules. Moving </a:t>
            </a:r>
            <a:r>
              <a:rPr lang="en-US"/>
              <a:t>from a CNN classifier </a:t>
            </a:r>
            <a:r>
              <a:rPr lang="en-US" dirty="0"/>
              <a:t>to </a:t>
            </a:r>
            <a:r>
              <a:rPr lang="en-US"/>
              <a:t>an </a:t>
            </a:r>
            <a:r>
              <a:rPr lang="en-US" dirty="0"/>
              <a:t>image-to-sequence </a:t>
            </a:r>
            <a:r>
              <a:rPr lang="en-US"/>
              <a:t>formulation </a:t>
            </a:r>
            <a:r>
              <a:rPr lang="en-US" dirty="0"/>
              <a:t>was a </a:t>
            </a:r>
            <a:r>
              <a:rPr lang="en-US"/>
              <a:t>key pivot that </a:t>
            </a:r>
            <a:r>
              <a:rPr lang="en-US" dirty="0"/>
              <a:t>better </a:t>
            </a:r>
            <a:r>
              <a:rPr lang="en-US"/>
              <a:t>matched the OCSR problem</a:t>
            </a:r>
            <a:r>
              <a:rPr lang="en-US" dirty="0"/>
              <a:t>. </a:t>
            </a:r>
            <a:r>
              <a:rPr lang="en-US"/>
              <a:t>The dataset </a:t>
            </a:r>
            <a:r>
              <a:rPr lang="en-US" dirty="0"/>
              <a:t>was </a:t>
            </a:r>
            <a:r>
              <a:rPr lang="en-US"/>
              <a:t>small at only 400 images, which is far fewer than what modern </a:t>
            </a:r>
            <a:r>
              <a:rPr lang="en-US" dirty="0"/>
              <a:t>OCSR </a:t>
            </a:r>
            <a:r>
              <a:rPr lang="en-US"/>
              <a:t>systems </a:t>
            </a:r>
            <a:r>
              <a:rPr lang="en-US" dirty="0"/>
              <a:t>train on</a:t>
            </a:r>
            <a:r>
              <a:rPr lang="en-US"/>
              <a:t>. Deep learning models for sequence generation typically need thousands or tens of thousands of examples to learn the patterns effectively. External datasets like EPA CompTox and DECIMER caused significant domain shift, where the models trained on PubChem-generated images struggled with molecules from different sources or different visual styles. Finally, exact molecule generation proved to be much harder than token-level prediction. Getting individual tokens right does not guarantee a correct overall molecule</a:t>
            </a:r>
            <a:r>
              <a:rPr lang="en-US" dirty="0"/>
              <a:t>, </a:t>
            </a:r>
            <a:r>
              <a:rPr lang="en-US"/>
              <a:t>and </a:t>
            </a:r>
            <a:r>
              <a:rPr lang="en-US" dirty="0"/>
              <a:t>this </a:t>
            </a:r>
            <a:r>
              <a:rPr lang="en-US"/>
              <a:t>gap between token accuracy and exact match </a:t>
            </a:r>
            <a:r>
              <a:rPr lang="en-US" dirty="0"/>
              <a:t>was </a:t>
            </a:r>
            <a:r>
              <a:rPr lang="en-US"/>
              <a:t>one of the central findings of </a:t>
            </a:r>
            <a:r>
              <a:rPr lang="en-US" dirty="0"/>
              <a:t>the </a:t>
            </a:r>
            <a:r>
              <a:rPr lang="en-US"/>
              <a:t>project</a:t>
            </a:r>
            <a:r>
              <a:rPr lang="en-US" dirty="0"/>
              <a: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
            </a:r>
            <a:r>
              <a:rPr lang="en-US"/>
              <a:t>project started as a comparison of CNN, Transformer, and graph-based </a:t>
            </a:r>
            <a:r>
              <a:rPr lang="en-US" dirty="0"/>
              <a:t>OCSR </a:t>
            </a:r>
            <a:r>
              <a:rPr lang="en-US"/>
              <a:t>models, but after feedback, it was narrowed down to </a:t>
            </a:r>
            <a:r>
              <a:rPr lang="en-US" dirty="0"/>
              <a:t>a </a:t>
            </a:r>
            <a:r>
              <a:rPr lang="en-US"/>
              <a:t>CNN recurrent decoder comparison</a:t>
            </a:r>
            <a:r>
              <a:rPr lang="en-US" dirty="0"/>
              <a:t>. The </a:t>
            </a:r>
            <a:r>
              <a:rPr lang="en-US"/>
              <a:t>final models were CNN-RNN, </a:t>
            </a:r>
            <a:r>
              <a:rPr lang="en-US" dirty="0"/>
              <a:t>CNN-GRU</a:t>
            </a:r>
            <a:r>
              <a:rPr lang="en-US"/>
              <a:t>, and CNN-LSTM, with the best</a:t>
            </a:r>
            <a:r>
              <a:rPr lang="en-US" dirty="0"/>
              <a:t> model </a:t>
            </a:r>
            <a:r>
              <a:rPr lang="en-US"/>
              <a:t>being CNN-GRU at 68.42% token accuracy. The key takeaway is that OCSR should be treated as image-to-sequence translation, not simple image classification. However, even the </a:t>
            </a:r>
            <a:r>
              <a:rPr lang="en-US" dirty="0"/>
              <a:t>best </a:t>
            </a:r>
            <a:r>
              <a:rPr lang="en-US"/>
              <a:t>model never achieved an exact match or canonical match, meaning full molecule reconstruction was not obtained. Token accuracy improved across training</a:t>
            </a:r>
            <a:r>
              <a:rPr lang="en-US" dirty="0"/>
              <a:t>, </a:t>
            </a:r>
            <a:r>
              <a:rPr lang="en-US"/>
              <a:t>showing that </a:t>
            </a:r>
            <a:r>
              <a:rPr lang="en-US" dirty="0"/>
              <a:t>the models </a:t>
            </a:r>
            <a:r>
              <a:rPr lang="en-US"/>
              <a:t>were learning partial SMILES patterns, but they could </a:t>
            </a:r>
            <a:r>
              <a:rPr lang="en-US" dirty="0"/>
              <a:t>not </a:t>
            </a:r>
            <a:r>
              <a:rPr lang="en-US"/>
              <a:t>assemble these patterns into complete correct </a:t>
            </a:r>
            <a:r>
              <a:rPr lang="en-US" dirty="0"/>
              <a:t>molecules. The results </a:t>
            </a:r>
            <a:r>
              <a:rPr lang="en-US"/>
              <a:t>demonstrate both the </a:t>
            </a:r>
            <a:r>
              <a:rPr lang="en-US" dirty="0"/>
              <a:t>partial learning </a:t>
            </a:r>
            <a:r>
              <a:rPr lang="en-US"/>
              <a:t>that is possible with limited data </a:t>
            </a:r>
            <a:r>
              <a:rPr lang="en-US" dirty="0"/>
              <a:t>and the </a:t>
            </a:r>
            <a:r>
              <a:rPr lang="en-US"/>
              <a:t>fundamental difficulty of the OCSR </a:t>
            </a:r>
            <a:r>
              <a:rPr lang="en-US" dirty="0"/>
              <a:t>task. </a:t>
            </a:r>
            <a:r>
              <a:rPr lang="en-US"/>
              <a:t>Limitations include the small dataset size, the lack of attention mechanisms in the decoder, and the simplicity of greedy decoding. More </a:t>
            </a:r>
            <a:r>
              <a:rPr lang="en-US" dirty="0"/>
              <a:t>data, </a:t>
            </a:r>
            <a:r>
              <a:rPr lang="en-US"/>
              <a:t>stronger </a:t>
            </a:r>
            <a:r>
              <a:rPr lang="en-US" dirty="0"/>
              <a:t>decoding</a:t>
            </a:r>
            <a:r>
              <a:rPr lang="en-US"/>
              <a:t> strategies like beam search or attention</a:t>
            </a:r>
            <a:r>
              <a:rPr lang="en-US" dirty="0"/>
              <a:t>, and </a:t>
            </a:r>
            <a:r>
              <a:rPr lang="en-US"/>
              <a:t>better </a:t>
            </a:r>
            <a:r>
              <a:rPr lang="en-US" dirty="0"/>
              <a:t>architectures</a:t>
            </a:r>
            <a:r>
              <a:rPr lang="en-US"/>
              <a:t> such as Transformers are needed to push toward actual molecule reconstruction</a:t>
            </a:r>
            <a:r>
              <a:rPr lang="en-US" dirty="0"/>
              <a: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Several future directions could improve upon this project. </a:t>
            </a:r>
            <a:r>
              <a:rPr lang="en-US" dirty="0"/>
              <a:t>The most important next step would be </a:t>
            </a:r>
            <a:r>
              <a:rPr lang="en-US"/>
              <a:t>training on a larger PubChem </a:t>
            </a:r>
            <a:r>
              <a:rPr lang="en-US" dirty="0"/>
              <a:t>dataset</a:t>
            </a:r>
            <a:r>
              <a:rPr lang="en-US"/>
              <a:t>, as 400 images is far too few for a sequence generation task</a:t>
            </a:r>
            <a:r>
              <a:rPr lang="en-US" dirty="0"/>
              <a:t>. </a:t>
            </a:r>
            <a:r>
              <a:rPr lang="en-US"/>
              <a:t>Adding </a:t>
            </a:r>
            <a:r>
              <a:rPr lang="en-US" dirty="0"/>
              <a:t>attention </a:t>
            </a:r>
            <a:r>
              <a:rPr lang="en-US"/>
              <a:t>mechanisms between image features </a:t>
            </a:r>
            <a:r>
              <a:rPr lang="en-US" dirty="0"/>
              <a:t>and </a:t>
            </a:r>
            <a:r>
              <a:rPr lang="en-US"/>
              <a:t>decoder steps would allow the decoder to focus on relevant parts of the image at each generation step, rather than relying solely on a single compressed feature vector. Using </a:t>
            </a:r>
            <a:r>
              <a:rPr lang="en-US" dirty="0"/>
              <a:t>beam search </a:t>
            </a:r>
            <a:r>
              <a:rPr lang="en-US"/>
              <a:t>instead of greedy </a:t>
            </a:r>
            <a:r>
              <a:rPr lang="en-US" dirty="0"/>
              <a:t>decoding</a:t>
            </a:r>
            <a:r>
              <a:rPr lang="en-US"/>
              <a:t> would explore multiple candidate sequences and select the most likely overall prediction, rather than committing to the single most likely token at each step</a:t>
            </a:r>
            <a:r>
              <a:rPr lang="en-US" dirty="0"/>
              <a:t>. </a:t>
            </a:r>
            <a:r>
              <a:rPr lang="en-US"/>
              <a:t>An interesting alternative to SMILES is </a:t>
            </a:r>
            <a:r>
              <a:rPr lang="en-US" dirty="0"/>
              <a:t>SELFIES</a:t>
            </a:r>
            <a:r>
              <a:rPr lang="en-US"/>
              <a:t>, or Self-Referencing Embedded Strings, which</a:t>
            </a:r>
            <a:r>
              <a:rPr lang="en-US" dirty="0"/>
              <a:t> is designed to </a:t>
            </a:r>
            <a:r>
              <a:rPr lang="en-US"/>
              <a:t>always </a:t>
            </a:r>
            <a:r>
              <a:rPr lang="en-US" dirty="0"/>
              <a:t>produce valid molecular strings</a:t>
            </a:r>
            <a:r>
              <a:rPr lang="en-US"/>
              <a:t> by construction. This could address the issue of generating invalid structures</a:t>
            </a:r>
            <a:r>
              <a:rPr lang="en-US" dirty="0"/>
              <a:t>. Finally, </a:t>
            </a:r>
            <a:r>
              <a:rPr lang="en-US"/>
              <a:t>comparing against </a:t>
            </a:r>
            <a:r>
              <a:rPr lang="en-US" dirty="0"/>
              <a:t>a </a:t>
            </a:r>
            <a:r>
              <a:rPr lang="en-US"/>
              <a:t>Transformer-based OCSR system like SwinOCSR and </a:t>
            </a:r>
            <a:r>
              <a:rPr lang="en-US" dirty="0"/>
              <a:t>a graph-based atom and bond detection method</a:t>
            </a:r>
            <a:r>
              <a:rPr lang="en-US"/>
              <a:t> would provide a more comprehensive evaluation of different approaches to the OCSR problem, which was the original goal of this project</a:t>
            </a:r>
            <a:r>
              <a:rPr lang="en-US" dirty="0"/>
              <a: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main references and tools used </a:t>
            </a:r>
            <a:r>
              <a:rPr lang="en-US"/>
              <a:t>throughout </a:t>
            </a:r>
            <a:r>
              <a:rPr lang="en-US" dirty="0"/>
              <a:t>the project. </a:t>
            </a:r>
            <a:r>
              <a:rPr lang="en-US"/>
              <a:t>The first reference, </a:t>
            </a:r>
            <a:r>
              <a:rPr lang="en-US" dirty="0"/>
              <a:t>SwinOCSR </a:t>
            </a:r>
            <a:r>
              <a:rPr lang="en-US"/>
              <a:t>by Xu et al. from 2022, introduced the concept of treating OCSR as an end-to-end image-to-sequence problem using a Swin Transformer, which directly inspired the image-to-sequence approach used in this project. The second reference by Oldenhof et al. from CVPR 2024 explores </a:t>
            </a:r>
            <a:r>
              <a:rPr lang="en-US" dirty="0"/>
              <a:t>atom-level </a:t>
            </a:r>
            <a:r>
              <a:rPr lang="en-US"/>
              <a:t>chemical structure recognition with limited supervision, representing the graph-based approach that was part of </a:t>
            </a:r>
            <a:r>
              <a:rPr lang="en-US" dirty="0"/>
              <a:t>the original </a:t>
            </a:r>
            <a:r>
              <a:rPr lang="en-US"/>
              <a:t>project </a:t>
            </a:r>
            <a:r>
              <a:rPr lang="en-US" dirty="0"/>
              <a:t>proposal</a:t>
            </a:r>
            <a:r>
              <a:rPr lang="en-US"/>
              <a:t>. The DECIMER hand-drawn molecule dataset from Zenodo provided the hand-drawn chemical structure images used for external evaluation. RDKit, the open-source cheminformatics toolkit, was essential for SMILES validation, canonicalization</a:t>
            </a:r>
            <a:r>
              <a:rPr lang="en-US" dirty="0"/>
              <a:t>, and </a:t>
            </a:r>
            <a:r>
              <a:rPr lang="en-US"/>
              <a:t>generating molecule images from SMILES strings. </a:t>
            </a:r>
            <a:r>
              <a:rPr lang="en-US" dirty="0"/>
              <a:t>PyTorch </a:t>
            </a:r>
            <a:r>
              <a:rPr lang="en-US"/>
              <a:t>and torchvision provided </a:t>
            </a:r>
            <a:r>
              <a:rPr lang="en-US" dirty="0"/>
              <a:t>the </a:t>
            </a:r>
            <a:r>
              <a:rPr lang="en-US"/>
              <a:t>deep learning framework and image transformation utilities used for all model </a:t>
            </a:r>
            <a:r>
              <a:rPr lang="en-US" dirty="0"/>
              <a:t>implementation</a:t>
            </a:r>
            <a:r>
              <a:rPr lang="en-US"/>
              <a:t>, training, and evaluation</a:t>
            </a:r>
            <a:r>
              <a:rPr lang="en-US" dirty="0"/>
              <a: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929"/>
        </a:solidFill>
        <a:effectLst/>
      </p:bgPr>
    </p:bg>
    <p:spTree>
      <p:nvGrpSpPr>
        <p:cNvPr id="1" name=""/>
        <p:cNvGrpSpPr/>
        <p:nvPr/>
      </p:nvGrpSpPr>
      <p:grpSpPr>
        <a:xfrm>
          <a:off x="0" y="0"/>
          <a:ext cx="0" cy="0"/>
          <a:chOff x="0" y="0"/>
          <a:chExt cx="0" cy="0"/>
        </a:xfrm>
      </p:grpSpPr>
      <p:pic>
        <p:nvPicPr>
          <p:cNvPr id="2" name="Image 0" descr="/agent/turn1/workspace/images/abstract-digital-molecular-structure-visualization_2026-04-28T10-56-29_image_DAS_0.jpg"/>
          <p:cNvPicPr>
            <a:picLocks noChangeAspect="1"/>
          </p:cNvPicPr>
          <p:nvPr/>
        </p:nvPicPr>
        <p:blipFill>
          <a:blip r:embed="rId3">
            <a:alphaModFix amt="40000"/>
          </a:blip>
          <a:srcRect t="7813" b="7813"/>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B1929">
              <a:alpha val="55000"/>
            </a:srgbClr>
          </a:solidFill>
          <a:ln/>
        </p:spPr>
        <p:txBody>
          <a:bodyPr/>
          <a:lstStyle/>
          <a:p>
            <a:endParaRPr lang="en-US"/>
          </a:p>
        </p:txBody>
      </p:sp>
      <p:sp>
        <p:nvSpPr>
          <p:cNvPr id="4" name="Shape 1"/>
          <p:cNvSpPr/>
          <p:nvPr/>
        </p:nvSpPr>
        <p:spPr>
          <a:xfrm>
            <a:off x="0" y="0"/>
            <a:ext cx="9144000" cy="54864"/>
          </a:xfrm>
          <a:prstGeom prst="rect">
            <a:avLst/>
          </a:prstGeom>
          <a:solidFill>
            <a:srgbClr val="17A2B8"/>
          </a:solidFill>
          <a:ln/>
        </p:spPr>
        <p:txBody>
          <a:bodyPr/>
          <a:lstStyle/>
          <a:p>
            <a:endParaRPr lang="en-US"/>
          </a:p>
        </p:txBody>
      </p:sp>
      <p:sp>
        <p:nvSpPr>
          <p:cNvPr id="5" name="Text 2"/>
          <p:cNvSpPr/>
          <p:nvPr/>
        </p:nvSpPr>
        <p:spPr>
          <a:xfrm>
            <a:off x="731520" y="1097280"/>
            <a:ext cx="7680960" cy="365760"/>
          </a:xfrm>
          <a:prstGeom prst="rect">
            <a:avLst/>
          </a:prstGeom>
          <a:noFill/>
          <a:ln/>
        </p:spPr>
        <p:txBody>
          <a:bodyPr wrap="square" lIns="0" tIns="0" rIns="0" bIns="0" rtlCol="0" anchor="ctr"/>
          <a:lstStyle/>
          <a:p>
            <a:pPr marL="0" indent="0" algn="l">
              <a:buNone/>
            </a:pPr>
            <a:r>
              <a:rPr lang="en-US" sz="1300" kern="0" spc="300" dirty="0">
                <a:solidFill>
                  <a:srgbClr val="17A2B8"/>
                </a:solidFill>
                <a:latin typeface="Calibri" pitchFamily="34" charset="0"/>
                <a:ea typeface="Calibri" pitchFamily="34" charset="-122"/>
                <a:cs typeface="Calibri" pitchFamily="34" charset="-120"/>
              </a:rPr>
              <a:t>CSC6850 Machine Learning Final Project</a:t>
            </a:r>
            <a:endParaRPr lang="en-US" sz="1300" dirty="0"/>
          </a:p>
        </p:txBody>
      </p:sp>
      <p:sp>
        <p:nvSpPr>
          <p:cNvPr id="6" name="Text 3"/>
          <p:cNvSpPr/>
          <p:nvPr/>
        </p:nvSpPr>
        <p:spPr>
          <a:xfrm>
            <a:off x="731520" y="1554480"/>
            <a:ext cx="7680960" cy="1645920"/>
          </a:xfrm>
          <a:prstGeom prst="rect">
            <a:avLst/>
          </a:prstGeom>
          <a:noFill/>
          <a:ln/>
        </p:spPr>
        <p:txBody>
          <a:bodyPr wrap="square" lIns="0" tIns="0" rIns="0" bIns="0" rtlCol="0" anchor="t"/>
          <a:lstStyle/>
          <a:p>
            <a:pPr marL="0" indent="0" algn="l">
              <a:lnSpc>
                <a:spcPct val="115000"/>
              </a:lnSpc>
              <a:buNone/>
            </a:pPr>
            <a:r>
              <a:rPr lang="en-US" sz="2800" b="1" dirty="0">
                <a:solidFill>
                  <a:srgbClr val="F8FAFC"/>
                </a:solidFill>
                <a:latin typeface="Trebuchet MS" pitchFamily="34" charset="0"/>
                <a:ea typeface="Trebuchet MS" pitchFamily="34" charset="-122"/>
                <a:cs typeface="Trebuchet MS" pitchFamily="34" charset="-120"/>
              </a:rPr>
              <a:t>Comparative Evaluation of CNN Recurrent Decoders for Optical Chemical Structure Recognition</a:t>
            </a:r>
            <a:endParaRPr lang="en-US" sz="2800" dirty="0"/>
          </a:p>
        </p:txBody>
      </p:sp>
      <p:sp>
        <p:nvSpPr>
          <p:cNvPr id="7" name="Text 4"/>
          <p:cNvSpPr/>
          <p:nvPr/>
        </p:nvSpPr>
        <p:spPr>
          <a:xfrm>
            <a:off x="731520" y="3474720"/>
            <a:ext cx="7680960" cy="365760"/>
          </a:xfrm>
          <a:prstGeom prst="rect">
            <a:avLst/>
          </a:prstGeom>
          <a:noFill/>
          <a:ln/>
        </p:spPr>
        <p:txBody>
          <a:bodyPr wrap="square" lIns="0" tIns="0" rIns="0" bIns="0" rtlCol="0" anchor="ctr"/>
          <a:lstStyle/>
          <a:p>
            <a:pPr marL="0" indent="0" algn="l">
              <a:buNone/>
            </a:pPr>
            <a:r>
              <a:rPr lang="en-US" sz="1600" dirty="0">
                <a:solidFill>
                  <a:srgbClr val="F8FAFC"/>
                </a:solidFill>
                <a:latin typeface="Calibri" pitchFamily="34" charset="0"/>
                <a:ea typeface="Calibri" pitchFamily="34" charset="-122"/>
                <a:cs typeface="Calibri" pitchFamily="34" charset="-120"/>
              </a:rPr>
              <a:t>Christopher Le</a:t>
            </a:r>
            <a:endParaRPr lang="en-US" sz="1600" dirty="0"/>
          </a:p>
        </p:txBody>
      </p:sp>
      <p:sp>
        <p:nvSpPr>
          <p:cNvPr id="8" name="Shape 5"/>
          <p:cNvSpPr/>
          <p:nvPr/>
        </p:nvSpPr>
        <p:spPr>
          <a:xfrm>
            <a:off x="0" y="5088636"/>
            <a:ext cx="9144000" cy="54864"/>
          </a:xfrm>
          <a:prstGeom prst="rect">
            <a:avLst/>
          </a:prstGeom>
          <a:solidFill>
            <a:srgbClr val="17A2B8"/>
          </a:solidFill>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6FA"/>
        </a:solidFill>
        <a:effectLst/>
      </p:bgPr>
    </p:bg>
    <p:spTree>
      <p:nvGrpSpPr>
        <p:cNvPr id="1" name=""/>
        <p:cNvGrpSpPr/>
        <p:nvPr/>
      </p:nvGrpSpPr>
      <p:grpSpPr>
        <a:xfrm>
          <a:off x="0" y="0"/>
          <a:ext cx="0" cy="0"/>
          <a:chOff x="0" y="0"/>
          <a:chExt cx="0" cy="0"/>
        </a:xfrm>
      </p:grpSpPr>
      <p:sp>
        <p:nvSpPr>
          <p:cNvPr id="2" name="Text 0"/>
          <p:cNvSpPr/>
          <p:nvPr/>
        </p:nvSpPr>
        <p:spPr>
          <a:xfrm>
            <a:off x="731520" y="365760"/>
            <a:ext cx="914400" cy="457200"/>
          </a:xfrm>
          <a:prstGeom prst="rect">
            <a:avLst/>
          </a:prstGeom>
          <a:noFill/>
          <a:ln/>
        </p:spPr>
        <p:txBody>
          <a:bodyPr wrap="square" lIns="0" tIns="0" rIns="0" bIns="0" rtlCol="0" anchor="ctr"/>
          <a:lstStyle/>
          <a:p>
            <a:pPr marL="0" indent="0">
              <a:buNone/>
            </a:pPr>
            <a:r>
              <a:rPr lang="en-US" sz="3600" b="1" dirty="0">
                <a:solidFill>
                  <a:srgbClr val="17A2B8"/>
                </a:solidFill>
                <a:latin typeface="Trebuchet MS" pitchFamily="34" charset="0"/>
                <a:ea typeface="Trebuchet MS" pitchFamily="34" charset="-122"/>
                <a:cs typeface="Trebuchet MS" pitchFamily="34" charset="-120"/>
              </a:rPr>
              <a:t>01</a:t>
            </a:r>
            <a:endParaRPr lang="en-US" sz="3600" dirty="0"/>
          </a:p>
        </p:txBody>
      </p:sp>
      <p:sp>
        <p:nvSpPr>
          <p:cNvPr id="3" name="Text 1"/>
          <p:cNvSpPr/>
          <p:nvPr/>
        </p:nvSpPr>
        <p:spPr>
          <a:xfrm>
            <a:off x="1645920" y="384048"/>
            <a:ext cx="6400800" cy="457200"/>
          </a:xfrm>
          <a:prstGeom prst="rect">
            <a:avLst/>
          </a:prstGeom>
          <a:noFill/>
          <a:ln/>
        </p:spPr>
        <p:txBody>
          <a:bodyPr wrap="square" lIns="0" tIns="0" rIns="0" bIns="0" rtlCol="0" anchor="ctr"/>
          <a:lstStyle/>
          <a:p>
            <a:pPr marL="0" indent="0">
              <a:buNone/>
            </a:pPr>
            <a:r>
              <a:rPr lang="en-US" sz="2800" b="1" dirty="0">
                <a:solidFill>
                  <a:srgbClr val="1E293B"/>
                </a:solidFill>
                <a:latin typeface="Trebuchet MS" pitchFamily="34" charset="0"/>
                <a:ea typeface="Trebuchet MS" pitchFamily="34" charset="-122"/>
                <a:cs typeface="Trebuchet MS" pitchFamily="34" charset="-120"/>
              </a:rPr>
              <a:t>Problem Motivation</a:t>
            </a:r>
            <a:endParaRPr lang="en-US" sz="2800" dirty="0"/>
          </a:p>
        </p:txBody>
      </p:sp>
      <p:sp>
        <p:nvSpPr>
          <p:cNvPr id="4" name="Shape 2"/>
          <p:cNvSpPr/>
          <p:nvPr/>
        </p:nvSpPr>
        <p:spPr>
          <a:xfrm>
            <a:off x="731520" y="1143000"/>
            <a:ext cx="3474720" cy="173736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a:p>
        </p:txBody>
      </p:sp>
      <p:pic>
        <p:nvPicPr>
          <p:cNvPr id="5" name="Image 0" descr="preencoded.png"/>
          <p:cNvPicPr>
            <a:picLocks noChangeAspect="1"/>
          </p:cNvPicPr>
          <p:nvPr/>
        </p:nvPicPr>
        <p:blipFill>
          <a:blip r:embed="rId3"/>
          <a:stretch>
            <a:fillRect/>
          </a:stretch>
        </p:blipFill>
        <p:spPr>
          <a:xfrm>
            <a:off x="1005840" y="1417320"/>
            <a:ext cx="320040" cy="320040"/>
          </a:xfrm>
          <a:prstGeom prst="rect">
            <a:avLst/>
          </a:prstGeom>
        </p:spPr>
      </p:pic>
      <p:sp>
        <p:nvSpPr>
          <p:cNvPr id="6" name="Text 3"/>
          <p:cNvSpPr/>
          <p:nvPr/>
        </p:nvSpPr>
        <p:spPr>
          <a:xfrm>
            <a:off x="1463040" y="1371600"/>
            <a:ext cx="2468880" cy="365760"/>
          </a:xfrm>
          <a:prstGeom prst="rect">
            <a:avLst/>
          </a:prstGeom>
          <a:noFill/>
          <a:ln/>
        </p:spPr>
        <p:txBody>
          <a:bodyPr wrap="square" lIns="0" tIns="0" rIns="0" bIns="0" rtlCol="0" anchor="ctr"/>
          <a:lstStyle/>
          <a:p>
            <a:pPr marL="0" indent="0">
              <a:buNone/>
            </a:pPr>
            <a:r>
              <a:rPr lang="en-US" sz="1400" b="1" dirty="0">
                <a:solidFill>
                  <a:srgbClr val="1E293B"/>
                </a:solidFill>
                <a:latin typeface="Trebuchet MS" pitchFamily="34" charset="0"/>
                <a:ea typeface="Trebuchet MS" pitchFamily="34" charset="-122"/>
                <a:cs typeface="Trebuchet MS" pitchFamily="34" charset="-120"/>
              </a:rPr>
              <a:t>Image-Based Storage</a:t>
            </a:r>
            <a:endParaRPr lang="en-US" sz="1400" dirty="0"/>
          </a:p>
        </p:txBody>
      </p:sp>
      <p:sp>
        <p:nvSpPr>
          <p:cNvPr id="7" name="Text 4"/>
          <p:cNvSpPr/>
          <p:nvPr/>
        </p:nvSpPr>
        <p:spPr>
          <a:xfrm>
            <a:off x="1005840" y="1920240"/>
            <a:ext cx="2926080" cy="1005840"/>
          </a:xfrm>
          <a:prstGeom prst="rect">
            <a:avLst/>
          </a:prstGeom>
          <a:noFill/>
          <a:ln/>
        </p:spPr>
        <p:txBody>
          <a:bodyPr wrap="square" lIns="0" tIns="0" rIns="0" bIns="0" rtlCol="0" anchor="ctr"/>
          <a:lstStyle/>
          <a:p>
            <a:pPr marL="0" indent="0">
              <a:lnSpc>
                <a:spcPct val="130000"/>
              </a:lnSpc>
              <a:buNone/>
            </a:pPr>
            <a:r>
              <a:rPr lang="en-US" sz="1200" dirty="0">
                <a:solidFill>
                  <a:srgbClr val="475569"/>
                </a:solidFill>
                <a:latin typeface="Calibri" pitchFamily="34" charset="0"/>
                <a:ea typeface="Calibri" pitchFamily="34" charset="-122"/>
                <a:cs typeface="Calibri" pitchFamily="34" charset="-120"/>
              </a:rPr>
              <a:t>Chemical structures are often stored as images in papers, patents, and databases</a:t>
            </a:r>
            <a:endParaRPr lang="en-US" sz="1200" dirty="0"/>
          </a:p>
        </p:txBody>
      </p:sp>
      <p:sp>
        <p:nvSpPr>
          <p:cNvPr id="8" name="Shape 5"/>
          <p:cNvSpPr/>
          <p:nvPr/>
        </p:nvSpPr>
        <p:spPr>
          <a:xfrm>
            <a:off x="4572000" y="1143000"/>
            <a:ext cx="3474720" cy="173736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a:p>
        </p:txBody>
      </p:sp>
      <p:pic>
        <p:nvPicPr>
          <p:cNvPr id="9" name="Image 1" descr="preencoded.png"/>
          <p:cNvPicPr>
            <a:picLocks noChangeAspect="1"/>
          </p:cNvPicPr>
          <p:nvPr/>
        </p:nvPicPr>
        <p:blipFill>
          <a:blip r:embed="rId3"/>
          <a:stretch>
            <a:fillRect/>
          </a:stretch>
        </p:blipFill>
        <p:spPr>
          <a:xfrm>
            <a:off x="4846320" y="1417320"/>
            <a:ext cx="320040" cy="320040"/>
          </a:xfrm>
          <a:prstGeom prst="rect">
            <a:avLst/>
          </a:prstGeom>
        </p:spPr>
      </p:pic>
      <p:sp>
        <p:nvSpPr>
          <p:cNvPr id="10" name="Text 6"/>
          <p:cNvSpPr/>
          <p:nvPr/>
        </p:nvSpPr>
        <p:spPr>
          <a:xfrm>
            <a:off x="5303520" y="1371600"/>
            <a:ext cx="2468880" cy="365760"/>
          </a:xfrm>
          <a:prstGeom prst="rect">
            <a:avLst/>
          </a:prstGeom>
          <a:noFill/>
          <a:ln/>
        </p:spPr>
        <p:txBody>
          <a:bodyPr wrap="square" lIns="0" tIns="0" rIns="0" bIns="0" rtlCol="0" anchor="ctr"/>
          <a:lstStyle/>
          <a:p>
            <a:pPr marL="0" indent="0">
              <a:buNone/>
            </a:pPr>
            <a:r>
              <a:rPr lang="en-US" sz="1400" b="1" dirty="0">
                <a:solidFill>
                  <a:srgbClr val="1E293B"/>
                </a:solidFill>
                <a:latin typeface="Trebuchet MS" pitchFamily="34" charset="0"/>
                <a:ea typeface="Trebuchet MS" pitchFamily="34" charset="-122"/>
                <a:cs typeface="Trebuchet MS" pitchFamily="34" charset="-120"/>
              </a:rPr>
              <a:t>Human vs Machine</a:t>
            </a:r>
            <a:endParaRPr lang="en-US" sz="1400" dirty="0"/>
          </a:p>
        </p:txBody>
      </p:sp>
      <p:sp>
        <p:nvSpPr>
          <p:cNvPr id="11" name="Text 7"/>
          <p:cNvSpPr/>
          <p:nvPr/>
        </p:nvSpPr>
        <p:spPr>
          <a:xfrm>
            <a:off x="4846320" y="1920240"/>
            <a:ext cx="2926080" cy="1005840"/>
          </a:xfrm>
          <a:prstGeom prst="rect">
            <a:avLst/>
          </a:prstGeom>
          <a:noFill/>
          <a:ln/>
        </p:spPr>
        <p:txBody>
          <a:bodyPr wrap="square" lIns="0" tIns="0" rIns="0" bIns="0" rtlCol="0" anchor="ctr"/>
          <a:lstStyle/>
          <a:p>
            <a:pPr marL="0" indent="0">
              <a:lnSpc>
                <a:spcPct val="130000"/>
              </a:lnSpc>
              <a:buNone/>
            </a:pPr>
            <a:r>
              <a:rPr lang="en-US" sz="1200" dirty="0">
                <a:solidFill>
                  <a:srgbClr val="475569"/>
                </a:solidFill>
                <a:latin typeface="Calibri" pitchFamily="34" charset="0"/>
                <a:ea typeface="Calibri" pitchFamily="34" charset="-122"/>
                <a:cs typeface="Calibri" pitchFamily="34" charset="-120"/>
              </a:rPr>
              <a:t>Images are readable to humans but not directly usable by computers for analysis</a:t>
            </a:r>
            <a:endParaRPr lang="en-US" sz="1200" dirty="0"/>
          </a:p>
        </p:txBody>
      </p:sp>
      <p:sp>
        <p:nvSpPr>
          <p:cNvPr id="12" name="Shape 8"/>
          <p:cNvSpPr/>
          <p:nvPr/>
        </p:nvSpPr>
        <p:spPr>
          <a:xfrm>
            <a:off x="731520" y="3154680"/>
            <a:ext cx="3474720" cy="173736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a:p>
        </p:txBody>
      </p:sp>
      <p:pic>
        <p:nvPicPr>
          <p:cNvPr id="13" name="Image 2" descr="preencoded.png"/>
          <p:cNvPicPr>
            <a:picLocks noChangeAspect="1"/>
          </p:cNvPicPr>
          <p:nvPr/>
        </p:nvPicPr>
        <p:blipFill>
          <a:blip r:embed="rId3"/>
          <a:stretch>
            <a:fillRect/>
          </a:stretch>
        </p:blipFill>
        <p:spPr>
          <a:xfrm>
            <a:off x="1005840" y="3429000"/>
            <a:ext cx="320040" cy="320040"/>
          </a:xfrm>
          <a:prstGeom prst="rect">
            <a:avLst/>
          </a:prstGeom>
        </p:spPr>
      </p:pic>
      <p:sp>
        <p:nvSpPr>
          <p:cNvPr id="14" name="Text 9"/>
          <p:cNvSpPr/>
          <p:nvPr/>
        </p:nvSpPr>
        <p:spPr>
          <a:xfrm>
            <a:off x="1463040" y="3383280"/>
            <a:ext cx="2468880" cy="365760"/>
          </a:xfrm>
          <a:prstGeom prst="rect">
            <a:avLst/>
          </a:prstGeom>
          <a:noFill/>
          <a:ln/>
        </p:spPr>
        <p:txBody>
          <a:bodyPr wrap="square" lIns="0" tIns="0" rIns="0" bIns="0" rtlCol="0" anchor="ctr"/>
          <a:lstStyle/>
          <a:p>
            <a:pPr marL="0" indent="0">
              <a:buNone/>
            </a:pPr>
            <a:r>
              <a:rPr lang="en-US" sz="1400" b="1" dirty="0">
                <a:solidFill>
                  <a:srgbClr val="1E293B"/>
                </a:solidFill>
                <a:latin typeface="Trebuchet MS" pitchFamily="34" charset="0"/>
                <a:ea typeface="Trebuchet MS" pitchFamily="34" charset="-122"/>
                <a:cs typeface="Trebuchet MS" pitchFamily="34" charset="-120"/>
              </a:rPr>
              <a:t>OCSR Conversion</a:t>
            </a:r>
            <a:endParaRPr lang="en-US" sz="1400" dirty="0"/>
          </a:p>
        </p:txBody>
      </p:sp>
      <p:sp>
        <p:nvSpPr>
          <p:cNvPr id="15" name="Text 10"/>
          <p:cNvSpPr/>
          <p:nvPr/>
        </p:nvSpPr>
        <p:spPr>
          <a:xfrm>
            <a:off x="1005840" y="3931920"/>
            <a:ext cx="2926080" cy="1005840"/>
          </a:xfrm>
          <a:prstGeom prst="rect">
            <a:avLst/>
          </a:prstGeom>
          <a:noFill/>
          <a:ln/>
        </p:spPr>
        <p:txBody>
          <a:bodyPr wrap="square" lIns="0" tIns="0" rIns="0" bIns="0" rtlCol="0" anchor="ctr"/>
          <a:lstStyle/>
          <a:p>
            <a:pPr marL="0" indent="0">
              <a:lnSpc>
                <a:spcPct val="130000"/>
              </a:lnSpc>
              <a:buNone/>
            </a:pPr>
            <a:r>
              <a:rPr lang="en-US" sz="1200" dirty="0">
                <a:solidFill>
                  <a:srgbClr val="475569"/>
                </a:solidFill>
                <a:latin typeface="Calibri" pitchFamily="34" charset="0"/>
                <a:ea typeface="Calibri" pitchFamily="34" charset="-122"/>
                <a:cs typeface="Calibri" pitchFamily="34" charset="-120"/>
              </a:rPr>
              <a:t>Optical Chemical Structure Recognition converts molecule images into SMILES strings</a:t>
            </a:r>
            <a:endParaRPr lang="en-US" sz="1200" dirty="0"/>
          </a:p>
        </p:txBody>
      </p:sp>
      <p:sp>
        <p:nvSpPr>
          <p:cNvPr id="16" name="Shape 11"/>
          <p:cNvSpPr/>
          <p:nvPr/>
        </p:nvSpPr>
        <p:spPr>
          <a:xfrm>
            <a:off x="4572000" y="3154680"/>
            <a:ext cx="3474720" cy="173736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a:p>
        </p:txBody>
      </p:sp>
      <p:pic>
        <p:nvPicPr>
          <p:cNvPr id="17" name="Image 3" descr="preencoded.png"/>
          <p:cNvPicPr>
            <a:picLocks noChangeAspect="1"/>
          </p:cNvPicPr>
          <p:nvPr/>
        </p:nvPicPr>
        <p:blipFill>
          <a:blip r:embed="rId3"/>
          <a:stretch>
            <a:fillRect/>
          </a:stretch>
        </p:blipFill>
        <p:spPr>
          <a:xfrm>
            <a:off x="4846320" y="3429000"/>
            <a:ext cx="320040" cy="320040"/>
          </a:xfrm>
          <a:prstGeom prst="rect">
            <a:avLst/>
          </a:prstGeom>
        </p:spPr>
      </p:pic>
      <p:sp>
        <p:nvSpPr>
          <p:cNvPr id="18" name="Text 12"/>
          <p:cNvSpPr/>
          <p:nvPr/>
        </p:nvSpPr>
        <p:spPr>
          <a:xfrm>
            <a:off x="5303520" y="3383280"/>
            <a:ext cx="2468880" cy="365760"/>
          </a:xfrm>
          <a:prstGeom prst="rect">
            <a:avLst/>
          </a:prstGeom>
          <a:noFill/>
          <a:ln/>
        </p:spPr>
        <p:txBody>
          <a:bodyPr wrap="square" lIns="0" tIns="0" rIns="0" bIns="0" rtlCol="0" anchor="ctr"/>
          <a:lstStyle/>
          <a:p>
            <a:pPr marL="0" indent="0">
              <a:buNone/>
            </a:pPr>
            <a:r>
              <a:rPr lang="en-US" sz="1400" b="1" dirty="0">
                <a:solidFill>
                  <a:srgbClr val="1E293B"/>
                </a:solidFill>
                <a:latin typeface="Trebuchet MS" pitchFamily="34" charset="0"/>
                <a:ea typeface="Trebuchet MS" pitchFamily="34" charset="-122"/>
                <a:cs typeface="Trebuchet MS" pitchFamily="34" charset="-120"/>
              </a:rPr>
              <a:t>Downstream Uses</a:t>
            </a:r>
            <a:endParaRPr lang="en-US" sz="1400" dirty="0"/>
          </a:p>
        </p:txBody>
      </p:sp>
      <p:sp>
        <p:nvSpPr>
          <p:cNvPr id="19" name="Text 13"/>
          <p:cNvSpPr/>
          <p:nvPr/>
        </p:nvSpPr>
        <p:spPr>
          <a:xfrm>
            <a:off x="4846320" y="3931920"/>
            <a:ext cx="2926080" cy="1005840"/>
          </a:xfrm>
          <a:prstGeom prst="rect">
            <a:avLst/>
          </a:prstGeom>
          <a:noFill/>
          <a:ln/>
        </p:spPr>
        <p:txBody>
          <a:bodyPr wrap="square" lIns="0" tIns="0" rIns="0" bIns="0" rtlCol="0" anchor="ctr"/>
          <a:lstStyle/>
          <a:p>
            <a:pPr marL="0" indent="0">
              <a:lnSpc>
                <a:spcPct val="130000"/>
              </a:lnSpc>
              <a:buNone/>
            </a:pPr>
            <a:r>
              <a:rPr lang="en-US" sz="1200" dirty="0">
                <a:solidFill>
                  <a:srgbClr val="475569"/>
                </a:solidFill>
                <a:latin typeface="Calibri" pitchFamily="34" charset="0"/>
                <a:ea typeface="Calibri" pitchFamily="34" charset="-122"/>
                <a:cs typeface="Calibri" pitchFamily="34" charset="-120"/>
              </a:rPr>
              <a:t>SMILES enables search, analysis, database storage, and machine learning applications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6FA"/>
        </a:solidFill>
        <a:effectLst/>
      </p:bgPr>
    </p:bg>
    <p:spTree>
      <p:nvGrpSpPr>
        <p:cNvPr id="1" name=""/>
        <p:cNvGrpSpPr/>
        <p:nvPr/>
      </p:nvGrpSpPr>
      <p:grpSpPr>
        <a:xfrm>
          <a:off x="0" y="0"/>
          <a:ext cx="0" cy="0"/>
          <a:chOff x="0" y="0"/>
          <a:chExt cx="0" cy="0"/>
        </a:xfrm>
      </p:grpSpPr>
      <p:sp>
        <p:nvSpPr>
          <p:cNvPr id="2" name="Text 0"/>
          <p:cNvSpPr/>
          <p:nvPr/>
        </p:nvSpPr>
        <p:spPr>
          <a:xfrm>
            <a:off x="731520" y="365760"/>
            <a:ext cx="914400" cy="457200"/>
          </a:xfrm>
          <a:prstGeom prst="rect">
            <a:avLst/>
          </a:prstGeom>
          <a:noFill/>
          <a:ln/>
        </p:spPr>
        <p:txBody>
          <a:bodyPr wrap="square" lIns="0" tIns="0" rIns="0" bIns="0" rtlCol="0" anchor="ctr"/>
          <a:lstStyle/>
          <a:p>
            <a:pPr marL="0" indent="0">
              <a:buNone/>
            </a:pPr>
            <a:r>
              <a:rPr lang="en-US" sz="3600" b="1" dirty="0">
                <a:solidFill>
                  <a:srgbClr val="17A2B8"/>
                </a:solidFill>
                <a:latin typeface="Trebuchet MS" pitchFamily="34" charset="0"/>
                <a:ea typeface="Trebuchet MS" pitchFamily="34" charset="-122"/>
                <a:cs typeface="Trebuchet MS" pitchFamily="34" charset="-120"/>
              </a:rPr>
              <a:t>02</a:t>
            </a:r>
            <a:endParaRPr lang="en-US" sz="3600" dirty="0"/>
          </a:p>
        </p:txBody>
      </p:sp>
      <p:sp>
        <p:nvSpPr>
          <p:cNvPr id="3" name="Text 1"/>
          <p:cNvSpPr/>
          <p:nvPr/>
        </p:nvSpPr>
        <p:spPr>
          <a:xfrm>
            <a:off x="1645920" y="384048"/>
            <a:ext cx="6400800" cy="457200"/>
          </a:xfrm>
          <a:prstGeom prst="rect">
            <a:avLst/>
          </a:prstGeom>
          <a:noFill/>
          <a:ln/>
        </p:spPr>
        <p:txBody>
          <a:bodyPr wrap="square" lIns="0" tIns="0" rIns="0" bIns="0" rtlCol="0" anchor="ctr"/>
          <a:lstStyle/>
          <a:p>
            <a:pPr marL="0" indent="0">
              <a:buNone/>
            </a:pPr>
            <a:r>
              <a:rPr lang="en-US" sz="2800" b="1" dirty="0">
                <a:solidFill>
                  <a:srgbClr val="1E293B"/>
                </a:solidFill>
                <a:latin typeface="Trebuchet MS" pitchFamily="34" charset="0"/>
                <a:ea typeface="Trebuchet MS" pitchFamily="34" charset="-122"/>
                <a:cs typeface="Trebuchet MS" pitchFamily="34" charset="-120"/>
              </a:rPr>
              <a:t>Why OCSR Is Difficult</a:t>
            </a:r>
            <a:endParaRPr lang="en-US" sz="2800" dirty="0"/>
          </a:p>
        </p:txBody>
      </p:sp>
      <p:sp>
        <p:nvSpPr>
          <p:cNvPr id="4" name="Shape 2"/>
          <p:cNvSpPr/>
          <p:nvPr/>
        </p:nvSpPr>
        <p:spPr>
          <a:xfrm>
            <a:off x="731520" y="1188720"/>
            <a:ext cx="1828800" cy="274320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a:p>
        </p:txBody>
      </p:sp>
      <p:sp>
        <p:nvSpPr>
          <p:cNvPr id="5" name="Shape 3"/>
          <p:cNvSpPr/>
          <p:nvPr/>
        </p:nvSpPr>
        <p:spPr>
          <a:xfrm>
            <a:off x="731520" y="1188720"/>
            <a:ext cx="1828800" cy="54864"/>
          </a:xfrm>
          <a:prstGeom prst="rect">
            <a:avLst/>
          </a:prstGeom>
          <a:solidFill>
            <a:srgbClr val="17A2B8"/>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1417320" y="1463040"/>
            <a:ext cx="411480" cy="411480"/>
          </a:xfrm>
          <a:prstGeom prst="rect">
            <a:avLst/>
          </a:prstGeom>
        </p:spPr>
      </p:pic>
      <p:sp>
        <p:nvSpPr>
          <p:cNvPr id="7" name="Text 4"/>
          <p:cNvSpPr/>
          <p:nvPr/>
        </p:nvSpPr>
        <p:spPr>
          <a:xfrm>
            <a:off x="868680" y="2011680"/>
            <a:ext cx="1554480" cy="411480"/>
          </a:xfrm>
          <a:prstGeom prst="rect">
            <a:avLst/>
          </a:prstGeom>
          <a:noFill/>
          <a:ln/>
        </p:spPr>
        <p:txBody>
          <a:bodyPr wrap="square" lIns="0" tIns="0" rIns="0" bIns="0" rtlCol="0" anchor="ctr"/>
          <a:lstStyle/>
          <a:p>
            <a:pPr marL="0" indent="0" algn="ctr">
              <a:buNone/>
            </a:pPr>
            <a:r>
              <a:rPr lang="en-US" sz="1300" b="1" dirty="0">
                <a:solidFill>
                  <a:srgbClr val="1E293B"/>
                </a:solidFill>
                <a:latin typeface="Trebuchet MS" pitchFamily="34" charset="0"/>
                <a:ea typeface="Trebuchet MS" pitchFamily="34" charset="-122"/>
                <a:cs typeface="Trebuchet MS" pitchFamily="34" charset="-120"/>
              </a:rPr>
              <a:t>Complex Recognition</a:t>
            </a:r>
            <a:endParaRPr lang="en-US" sz="1300" dirty="0"/>
          </a:p>
        </p:txBody>
      </p:sp>
      <p:sp>
        <p:nvSpPr>
          <p:cNvPr id="8" name="Text 5"/>
          <p:cNvSpPr/>
          <p:nvPr/>
        </p:nvSpPr>
        <p:spPr>
          <a:xfrm>
            <a:off x="868680" y="2468880"/>
            <a:ext cx="1554480" cy="1371600"/>
          </a:xfrm>
          <a:prstGeom prst="rect">
            <a:avLst/>
          </a:prstGeom>
          <a:noFill/>
          <a:ln/>
        </p:spPr>
        <p:txBody>
          <a:bodyPr wrap="square" lIns="0" tIns="0" rIns="0" bIns="0" rtlCol="0" anchor="ctr"/>
          <a:lstStyle/>
          <a:p>
            <a:pPr marL="0" indent="0" algn="ctr">
              <a:lnSpc>
                <a:spcPct val="130000"/>
              </a:lnSpc>
              <a:buNone/>
            </a:pPr>
            <a:r>
              <a:rPr lang="en-US" sz="1100" dirty="0">
                <a:solidFill>
                  <a:srgbClr val="475569"/>
                </a:solidFill>
                <a:latin typeface="Calibri" pitchFamily="34" charset="0"/>
                <a:ea typeface="Calibri" pitchFamily="34" charset="-122"/>
                <a:cs typeface="Calibri" pitchFamily="34" charset="-120"/>
              </a:rPr>
              <a:t>The model must recognize atoms, bonds, rings, branches, and charges from images</a:t>
            </a:r>
            <a:endParaRPr lang="en-US" sz="1100" dirty="0"/>
          </a:p>
        </p:txBody>
      </p:sp>
      <p:sp>
        <p:nvSpPr>
          <p:cNvPr id="9" name="Shape 6"/>
          <p:cNvSpPr/>
          <p:nvPr/>
        </p:nvSpPr>
        <p:spPr>
          <a:xfrm>
            <a:off x="2880360" y="1188720"/>
            <a:ext cx="1828800" cy="274320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a:p>
        </p:txBody>
      </p:sp>
      <p:sp>
        <p:nvSpPr>
          <p:cNvPr id="10" name="Shape 7"/>
          <p:cNvSpPr/>
          <p:nvPr/>
        </p:nvSpPr>
        <p:spPr>
          <a:xfrm>
            <a:off x="2880360" y="1188720"/>
            <a:ext cx="1828800" cy="54864"/>
          </a:xfrm>
          <a:prstGeom prst="rect">
            <a:avLst/>
          </a:prstGeom>
          <a:solidFill>
            <a:srgbClr val="17A2B8"/>
          </a:solidFill>
          <a:ln/>
        </p:spPr>
        <p:txBody>
          <a:bodyPr/>
          <a:lstStyle/>
          <a:p>
            <a:endParaRPr lang="en-US"/>
          </a:p>
        </p:txBody>
      </p:sp>
      <p:pic>
        <p:nvPicPr>
          <p:cNvPr id="11" name="Image 1" descr="preencoded.png"/>
          <p:cNvPicPr>
            <a:picLocks noChangeAspect="1"/>
          </p:cNvPicPr>
          <p:nvPr/>
        </p:nvPicPr>
        <p:blipFill>
          <a:blip r:embed="rId3"/>
          <a:stretch>
            <a:fillRect/>
          </a:stretch>
        </p:blipFill>
        <p:spPr>
          <a:xfrm>
            <a:off x="3566160" y="1463040"/>
            <a:ext cx="411480" cy="411480"/>
          </a:xfrm>
          <a:prstGeom prst="rect">
            <a:avLst/>
          </a:prstGeom>
        </p:spPr>
      </p:pic>
      <p:sp>
        <p:nvSpPr>
          <p:cNvPr id="12" name="Text 8"/>
          <p:cNvSpPr/>
          <p:nvPr/>
        </p:nvSpPr>
        <p:spPr>
          <a:xfrm>
            <a:off x="3017520" y="2011680"/>
            <a:ext cx="1554480" cy="411480"/>
          </a:xfrm>
          <a:prstGeom prst="rect">
            <a:avLst/>
          </a:prstGeom>
          <a:noFill/>
          <a:ln/>
        </p:spPr>
        <p:txBody>
          <a:bodyPr wrap="square" lIns="0" tIns="0" rIns="0" bIns="0" rtlCol="0" anchor="ctr"/>
          <a:lstStyle/>
          <a:p>
            <a:pPr marL="0" indent="0" algn="ctr">
              <a:buNone/>
            </a:pPr>
            <a:r>
              <a:rPr lang="en-US" sz="1300" b="1" dirty="0">
                <a:solidFill>
                  <a:srgbClr val="1E293B"/>
                </a:solidFill>
                <a:latin typeface="Trebuchet MS" pitchFamily="34" charset="0"/>
                <a:ea typeface="Trebuchet MS" pitchFamily="34" charset="-122"/>
                <a:cs typeface="Trebuchet MS" pitchFamily="34" charset="-120"/>
              </a:rPr>
              <a:t>High Sensitivity</a:t>
            </a:r>
            <a:endParaRPr lang="en-US" sz="1300" dirty="0"/>
          </a:p>
        </p:txBody>
      </p:sp>
      <p:sp>
        <p:nvSpPr>
          <p:cNvPr id="13" name="Text 9"/>
          <p:cNvSpPr/>
          <p:nvPr/>
        </p:nvSpPr>
        <p:spPr>
          <a:xfrm>
            <a:off x="3017520" y="2468880"/>
            <a:ext cx="1554480" cy="1371600"/>
          </a:xfrm>
          <a:prstGeom prst="rect">
            <a:avLst/>
          </a:prstGeom>
          <a:noFill/>
          <a:ln/>
        </p:spPr>
        <p:txBody>
          <a:bodyPr wrap="square" lIns="0" tIns="0" rIns="0" bIns="0" rtlCol="0" anchor="ctr"/>
          <a:lstStyle/>
          <a:p>
            <a:pPr marL="0" indent="0" algn="ctr">
              <a:lnSpc>
                <a:spcPct val="130000"/>
              </a:lnSpc>
              <a:buNone/>
            </a:pPr>
            <a:r>
              <a:rPr lang="en-US" sz="1100" dirty="0">
                <a:solidFill>
                  <a:srgbClr val="475569"/>
                </a:solidFill>
                <a:latin typeface="Calibri" pitchFamily="34" charset="0"/>
                <a:ea typeface="Calibri" pitchFamily="34" charset="-122"/>
                <a:cs typeface="Calibri" pitchFamily="34" charset="-120"/>
              </a:rPr>
              <a:t>A small mistake can completely change the molecule's identity and properties</a:t>
            </a:r>
            <a:endParaRPr lang="en-US" sz="1100" dirty="0"/>
          </a:p>
        </p:txBody>
      </p:sp>
      <p:sp>
        <p:nvSpPr>
          <p:cNvPr id="14" name="Shape 10"/>
          <p:cNvSpPr/>
          <p:nvPr/>
        </p:nvSpPr>
        <p:spPr>
          <a:xfrm>
            <a:off x="5029200" y="1188720"/>
            <a:ext cx="1828800" cy="274320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a:p>
        </p:txBody>
      </p:sp>
      <p:sp>
        <p:nvSpPr>
          <p:cNvPr id="15" name="Shape 11"/>
          <p:cNvSpPr/>
          <p:nvPr/>
        </p:nvSpPr>
        <p:spPr>
          <a:xfrm>
            <a:off x="5029200" y="1188720"/>
            <a:ext cx="1828800" cy="54864"/>
          </a:xfrm>
          <a:prstGeom prst="rect">
            <a:avLst/>
          </a:prstGeom>
          <a:solidFill>
            <a:srgbClr val="17A2B8"/>
          </a:solidFill>
          <a:ln/>
        </p:spPr>
        <p:txBody>
          <a:bodyPr/>
          <a:lstStyle/>
          <a:p>
            <a:endParaRPr lang="en-US"/>
          </a:p>
        </p:txBody>
      </p:sp>
      <p:pic>
        <p:nvPicPr>
          <p:cNvPr id="16" name="Image 2" descr="preencoded.png"/>
          <p:cNvPicPr>
            <a:picLocks noChangeAspect="1"/>
          </p:cNvPicPr>
          <p:nvPr/>
        </p:nvPicPr>
        <p:blipFill>
          <a:blip r:embed="rId3"/>
          <a:stretch>
            <a:fillRect/>
          </a:stretch>
        </p:blipFill>
        <p:spPr>
          <a:xfrm>
            <a:off x="5715000" y="1463040"/>
            <a:ext cx="411480" cy="411480"/>
          </a:xfrm>
          <a:prstGeom prst="rect">
            <a:avLst/>
          </a:prstGeom>
        </p:spPr>
      </p:pic>
      <p:sp>
        <p:nvSpPr>
          <p:cNvPr id="17" name="Text 12"/>
          <p:cNvSpPr/>
          <p:nvPr/>
        </p:nvSpPr>
        <p:spPr>
          <a:xfrm>
            <a:off x="5166360" y="2011680"/>
            <a:ext cx="1554480" cy="411480"/>
          </a:xfrm>
          <a:prstGeom prst="rect">
            <a:avLst/>
          </a:prstGeom>
          <a:noFill/>
          <a:ln/>
        </p:spPr>
        <p:txBody>
          <a:bodyPr wrap="square" lIns="0" tIns="0" rIns="0" bIns="0" rtlCol="0" anchor="ctr"/>
          <a:lstStyle/>
          <a:p>
            <a:pPr marL="0" indent="0" algn="ctr">
              <a:buNone/>
            </a:pPr>
            <a:r>
              <a:rPr lang="en-US" sz="1300" b="1" dirty="0">
                <a:solidFill>
                  <a:srgbClr val="1E293B"/>
                </a:solidFill>
                <a:latin typeface="Trebuchet MS" pitchFamily="34" charset="0"/>
                <a:ea typeface="Trebuchet MS" pitchFamily="34" charset="-122"/>
                <a:cs typeface="Trebuchet MS" pitchFamily="34" charset="-120"/>
              </a:rPr>
              <a:t>Sequence Sensitivity</a:t>
            </a:r>
            <a:endParaRPr lang="en-US" sz="1300" dirty="0"/>
          </a:p>
        </p:txBody>
      </p:sp>
      <p:sp>
        <p:nvSpPr>
          <p:cNvPr id="18" name="Text 13"/>
          <p:cNvSpPr/>
          <p:nvPr/>
        </p:nvSpPr>
        <p:spPr>
          <a:xfrm>
            <a:off x="5166360" y="2468880"/>
            <a:ext cx="1554480" cy="1371600"/>
          </a:xfrm>
          <a:prstGeom prst="rect">
            <a:avLst/>
          </a:prstGeom>
          <a:noFill/>
          <a:ln/>
        </p:spPr>
        <p:txBody>
          <a:bodyPr wrap="square" lIns="0" tIns="0" rIns="0" bIns="0" rtlCol="0" anchor="ctr"/>
          <a:lstStyle/>
          <a:p>
            <a:pPr marL="0" indent="0" algn="ctr">
              <a:lnSpc>
                <a:spcPct val="130000"/>
              </a:lnSpc>
              <a:buNone/>
            </a:pPr>
            <a:r>
              <a:rPr lang="en-US" sz="1100" dirty="0">
                <a:solidFill>
                  <a:srgbClr val="475569"/>
                </a:solidFill>
                <a:latin typeface="Calibri" pitchFamily="34" charset="0"/>
                <a:ea typeface="Calibri" pitchFamily="34" charset="-122"/>
                <a:cs typeface="Calibri" pitchFamily="34" charset="-120"/>
              </a:rPr>
              <a:t>SMILES notation is strictly order-dependent — token position matters</a:t>
            </a:r>
            <a:endParaRPr lang="en-US" sz="1100" dirty="0"/>
          </a:p>
        </p:txBody>
      </p:sp>
      <p:sp>
        <p:nvSpPr>
          <p:cNvPr id="19" name="Shape 14"/>
          <p:cNvSpPr/>
          <p:nvPr/>
        </p:nvSpPr>
        <p:spPr>
          <a:xfrm>
            <a:off x="7178040" y="1188720"/>
            <a:ext cx="1828800" cy="274320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a:p>
        </p:txBody>
      </p:sp>
      <p:sp>
        <p:nvSpPr>
          <p:cNvPr id="20" name="Shape 15"/>
          <p:cNvSpPr/>
          <p:nvPr/>
        </p:nvSpPr>
        <p:spPr>
          <a:xfrm>
            <a:off x="7178040" y="1188720"/>
            <a:ext cx="1828800" cy="54864"/>
          </a:xfrm>
          <a:prstGeom prst="rect">
            <a:avLst/>
          </a:prstGeom>
          <a:solidFill>
            <a:srgbClr val="17A2B8"/>
          </a:solidFill>
          <a:ln/>
        </p:spPr>
        <p:txBody>
          <a:bodyPr/>
          <a:lstStyle/>
          <a:p>
            <a:endParaRPr lang="en-US"/>
          </a:p>
        </p:txBody>
      </p:sp>
      <p:pic>
        <p:nvPicPr>
          <p:cNvPr id="21" name="Image 3" descr="preencoded.png"/>
          <p:cNvPicPr>
            <a:picLocks noChangeAspect="1"/>
          </p:cNvPicPr>
          <p:nvPr/>
        </p:nvPicPr>
        <p:blipFill>
          <a:blip r:embed="rId3"/>
          <a:stretch>
            <a:fillRect/>
          </a:stretch>
        </p:blipFill>
        <p:spPr>
          <a:xfrm>
            <a:off x="7863840" y="1463040"/>
            <a:ext cx="411480" cy="411480"/>
          </a:xfrm>
          <a:prstGeom prst="rect">
            <a:avLst/>
          </a:prstGeom>
        </p:spPr>
      </p:pic>
      <p:sp>
        <p:nvSpPr>
          <p:cNvPr id="22" name="Text 16"/>
          <p:cNvSpPr/>
          <p:nvPr/>
        </p:nvSpPr>
        <p:spPr>
          <a:xfrm>
            <a:off x="7315200" y="2011680"/>
            <a:ext cx="1554480" cy="411480"/>
          </a:xfrm>
          <a:prstGeom prst="rect">
            <a:avLst/>
          </a:prstGeom>
          <a:noFill/>
          <a:ln/>
        </p:spPr>
        <p:txBody>
          <a:bodyPr wrap="square" lIns="0" tIns="0" rIns="0" bIns="0" rtlCol="0" anchor="ctr"/>
          <a:lstStyle/>
          <a:p>
            <a:pPr marL="0" indent="0" algn="ctr">
              <a:buNone/>
            </a:pPr>
            <a:r>
              <a:rPr lang="en-US" sz="1300" b="1" dirty="0">
                <a:solidFill>
                  <a:srgbClr val="1E293B"/>
                </a:solidFill>
                <a:latin typeface="Trebuchet MS" pitchFamily="34" charset="0"/>
                <a:ea typeface="Trebuchet MS" pitchFamily="34" charset="-122"/>
                <a:cs typeface="Trebuchet MS" pitchFamily="34" charset="-120"/>
              </a:rPr>
              <a:t>Accuracy Paradox</a:t>
            </a:r>
            <a:endParaRPr lang="en-US" sz="1300" dirty="0"/>
          </a:p>
        </p:txBody>
      </p:sp>
      <p:sp>
        <p:nvSpPr>
          <p:cNvPr id="23" name="Text 17"/>
          <p:cNvSpPr/>
          <p:nvPr/>
        </p:nvSpPr>
        <p:spPr>
          <a:xfrm>
            <a:off x="7315200" y="2468880"/>
            <a:ext cx="1554480" cy="1371600"/>
          </a:xfrm>
          <a:prstGeom prst="rect">
            <a:avLst/>
          </a:prstGeom>
          <a:noFill/>
          <a:ln/>
        </p:spPr>
        <p:txBody>
          <a:bodyPr wrap="square" lIns="0" tIns="0" rIns="0" bIns="0" rtlCol="0" anchor="ctr"/>
          <a:lstStyle/>
          <a:p>
            <a:pPr marL="0" indent="0" algn="ctr">
              <a:lnSpc>
                <a:spcPct val="130000"/>
              </a:lnSpc>
              <a:buNone/>
            </a:pPr>
            <a:r>
              <a:rPr lang="en-US" sz="1100" dirty="0">
                <a:solidFill>
                  <a:srgbClr val="475569"/>
                </a:solidFill>
                <a:latin typeface="Calibri" pitchFamily="34" charset="0"/>
                <a:ea typeface="Calibri" pitchFamily="34" charset="-122"/>
                <a:cs typeface="Calibri" pitchFamily="34" charset="-120"/>
              </a:rPr>
              <a:t>Correct token accuracy does not guarantee a correct molecule reconstruction</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6FA"/>
        </a:solidFill>
        <a:effectLst/>
      </p:bgPr>
    </p:bg>
    <p:spTree>
      <p:nvGrpSpPr>
        <p:cNvPr id="1" name=""/>
        <p:cNvGrpSpPr/>
        <p:nvPr/>
      </p:nvGrpSpPr>
      <p:grpSpPr>
        <a:xfrm>
          <a:off x="0" y="0"/>
          <a:ext cx="0" cy="0"/>
          <a:chOff x="0" y="0"/>
          <a:chExt cx="0" cy="0"/>
        </a:xfrm>
      </p:grpSpPr>
      <p:sp>
        <p:nvSpPr>
          <p:cNvPr id="2" name="Text 0"/>
          <p:cNvSpPr/>
          <p:nvPr/>
        </p:nvSpPr>
        <p:spPr>
          <a:xfrm>
            <a:off x="731520" y="365760"/>
            <a:ext cx="914400" cy="457200"/>
          </a:xfrm>
          <a:prstGeom prst="rect">
            <a:avLst/>
          </a:prstGeom>
          <a:noFill/>
          <a:ln/>
        </p:spPr>
        <p:txBody>
          <a:bodyPr wrap="square" lIns="0" tIns="0" rIns="0" bIns="0" rtlCol="0" anchor="ctr"/>
          <a:lstStyle/>
          <a:p>
            <a:pPr marL="0" indent="0">
              <a:buNone/>
            </a:pPr>
            <a:r>
              <a:rPr lang="en-US" sz="3600" b="1" dirty="0">
                <a:solidFill>
                  <a:srgbClr val="17A2B8"/>
                </a:solidFill>
                <a:latin typeface="Trebuchet MS" pitchFamily="34" charset="0"/>
                <a:ea typeface="Trebuchet MS" pitchFamily="34" charset="-122"/>
                <a:cs typeface="Trebuchet MS" pitchFamily="34" charset="-120"/>
              </a:rPr>
              <a:t>03</a:t>
            </a:r>
            <a:endParaRPr lang="en-US" sz="3600" dirty="0"/>
          </a:p>
        </p:txBody>
      </p:sp>
      <p:sp>
        <p:nvSpPr>
          <p:cNvPr id="3" name="Text 1"/>
          <p:cNvSpPr/>
          <p:nvPr/>
        </p:nvSpPr>
        <p:spPr>
          <a:xfrm>
            <a:off x="1645920" y="384048"/>
            <a:ext cx="6400800" cy="457200"/>
          </a:xfrm>
          <a:prstGeom prst="rect">
            <a:avLst/>
          </a:prstGeom>
          <a:noFill/>
          <a:ln/>
        </p:spPr>
        <p:txBody>
          <a:bodyPr wrap="square" lIns="0" tIns="0" rIns="0" bIns="0" rtlCol="0" anchor="ctr"/>
          <a:lstStyle/>
          <a:p>
            <a:pPr marL="0" indent="0">
              <a:buNone/>
            </a:pPr>
            <a:r>
              <a:rPr lang="en-US" sz="2800" b="1" dirty="0">
                <a:solidFill>
                  <a:srgbClr val="1E293B"/>
                </a:solidFill>
                <a:latin typeface="Trebuchet MS" pitchFamily="34" charset="0"/>
                <a:ea typeface="Trebuchet MS" pitchFamily="34" charset="-122"/>
                <a:cs typeface="Trebuchet MS" pitchFamily="34" charset="-120"/>
              </a:rPr>
              <a:t>Original Plan vs Final Scope</a:t>
            </a:r>
            <a:endParaRPr lang="en-US" sz="2800" dirty="0"/>
          </a:p>
        </p:txBody>
      </p:sp>
      <p:sp>
        <p:nvSpPr>
          <p:cNvPr id="4" name="Shape 2"/>
          <p:cNvSpPr/>
          <p:nvPr/>
        </p:nvSpPr>
        <p:spPr>
          <a:xfrm>
            <a:off x="731520" y="1188720"/>
            <a:ext cx="3657600" cy="329184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a:p>
        </p:txBody>
      </p:sp>
      <p:sp>
        <p:nvSpPr>
          <p:cNvPr id="5" name="Text 3"/>
          <p:cNvSpPr/>
          <p:nvPr/>
        </p:nvSpPr>
        <p:spPr>
          <a:xfrm>
            <a:off x="731520" y="1188720"/>
            <a:ext cx="3657600" cy="502920"/>
          </a:xfrm>
          <a:prstGeom prst="rect">
            <a:avLst/>
          </a:prstGeom>
          <a:solidFill>
            <a:srgbClr val="475569"/>
          </a:solidFill>
          <a:ln/>
        </p:spPr>
        <p:txBody>
          <a:bodyPr wrap="square" rtlCol="0" anchor="ctr"/>
          <a:lstStyle/>
          <a:p>
            <a:pPr marL="0" indent="0" algn="ctr">
              <a:buNone/>
            </a:pPr>
            <a:r>
              <a:rPr lang="en-US" sz="1500" b="1" dirty="0">
                <a:solidFill>
                  <a:srgbClr val="FFFFFF"/>
                </a:solidFill>
                <a:latin typeface="Trebuchet MS" pitchFamily="34" charset="0"/>
                <a:ea typeface="Trebuchet MS" pitchFamily="34" charset="-122"/>
                <a:cs typeface="Trebuchet MS" pitchFamily="34" charset="-120"/>
              </a:rPr>
              <a:t>Original Plan</a:t>
            </a:r>
            <a:endParaRPr lang="en-US" sz="1500" dirty="0"/>
          </a:p>
        </p:txBody>
      </p:sp>
      <p:sp>
        <p:nvSpPr>
          <p:cNvPr id="6" name="Text 4"/>
          <p:cNvSpPr/>
          <p:nvPr/>
        </p:nvSpPr>
        <p:spPr>
          <a:xfrm>
            <a:off x="1005840" y="1828800"/>
            <a:ext cx="3108960" cy="2377440"/>
          </a:xfrm>
          <a:prstGeom prst="rect">
            <a:avLst/>
          </a:prstGeom>
          <a:noFill/>
          <a:ln/>
        </p:spPr>
        <p:txBody>
          <a:bodyPr wrap="square" rtlCol="0" anchor="ctr"/>
          <a:lstStyle/>
          <a:p>
            <a:pPr marL="342900" indent="-342900">
              <a:lnSpc>
                <a:spcPct val="120000"/>
              </a:lnSpc>
              <a:spcAft>
                <a:spcPts val="800"/>
              </a:spcAft>
              <a:buSzPct val="100000"/>
              <a:buChar char="•"/>
            </a:pPr>
            <a:r>
              <a:rPr lang="en-US" sz="1200" dirty="0">
                <a:solidFill>
                  <a:srgbClr val="475569"/>
                </a:solidFill>
                <a:latin typeface="Calibri" pitchFamily="34" charset="0"/>
                <a:ea typeface="Calibri" pitchFamily="34" charset="-122"/>
                <a:cs typeface="Calibri" pitchFamily="34" charset="-120"/>
              </a:rPr>
              <a:t>CNN-based model</a:t>
            </a:r>
            <a:endParaRPr lang="en-US" sz="1200" dirty="0"/>
          </a:p>
          <a:p>
            <a:pPr marL="342900" indent="-342900">
              <a:lnSpc>
                <a:spcPct val="120000"/>
              </a:lnSpc>
              <a:spcAft>
                <a:spcPts val="800"/>
              </a:spcAft>
              <a:buSzPct val="100000"/>
              <a:buChar char="•"/>
            </a:pPr>
            <a:r>
              <a:rPr lang="en-US" sz="1200" dirty="0">
                <a:solidFill>
                  <a:srgbClr val="475569"/>
                </a:solidFill>
                <a:latin typeface="Calibri" pitchFamily="34" charset="0"/>
                <a:ea typeface="Calibri" pitchFamily="34" charset="-122"/>
                <a:cs typeface="Calibri" pitchFamily="34" charset="-120"/>
              </a:rPr>
              <a:t>Transformer-based model (SwinOCSR)</a:t>
            </a:r>
            <a:endParaRPr lang="en-US" sz="1200" dirty="0"/>
          </a:p>
          <a:p>
            <a:pPr marL="342900" indent="-342900">
              <a:lnSpc>
                <a:spcPct val="120000"/>
              </a:lnSpc>
              <a:spcAft>
                <a:spcPts val="800"/>
              </a:spcAft>
              <a:buSzPct val="100000"/>
              <a:buChar char="•"/>
            </a:pPr>
            <a:r>
              <a:rPr lang="en-US" sz="1200" dirty="0">
                <a:solidFill>
                  <a:srgbClr val="475569"/>
                </a:solidFill>
                <a:latin typeface="Calibri" pitchFamily="34" charset="0"/>
                <a:ea typeface="Calibri" pitchFamily="34" charset="-122"/>
                <a:cs typeface="Calibri" pitchFamily="34" charset="-120"/>
              </a:rPr>
              <a:t>Graph-based model (Atom-level OCSR)</a:t>
            </a:r>
            <a:endParaRPr lang="en-US" sz="1200" dirty="0"/>
          </a:p>
          <a:p>
            <a:pPr marL="342900" indent="-342900">
              <a:lnSpc>
                <a:spcPct val="120000"/>
              </a:lnSpc>
              <a:spcAft>
                <a:spcPts val="800"/>
              </a:spcAft>
              <a:buSzPct val="100000"/>
              <a:buChar char="•"/>
            </a:pPr>
            <a:r>
              <a:rPr lang="en-US" sz="1200" dirty="0">
                <a:solidFill>
                  <a:srgbClr val="475569"/>
                </a:solidFill>
                <a:latin typeface="Calibri" pitchFamily="34" charset="0"/>
                <a:ea typeface="Calibri" pitchFamily="34" charset="-122"/>
                <a:cs typeface="Calibri" pitchFamily="34" charset="-120"/>
              </a:rPr>
              <a:t>Multiple datasets: PubChem, EPA, DECIMER</a:t>
            </a:r>
            <a:endParaRPr lang="en-US" sz="1200" dirty="0"/>
          </a:p>
        </p:txBody>
      </p:sp>
      <p:sp>
        <p:nvSpPr>
          <p:cNvPr id="7" name="Shape 5"/>
          <p:cNvSpPr/>
          <p:nvPr/>
        </p:nvSpPr>
        <p:spPr>
          <a:xfrm>
            <a:off x="4754880" y="1188720"/>
            <a:ext cx="3657600" cy="329184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a:p>
        </p:txBody>
      </p:sp>
      <p:sp>
        <p:nvSpPr>
          <p:cNvPr id="8" name="Text 6"/>
          <p:cNvSpPr/>
          <p:nvPr/>
        </p:nvSpPr>
        <p:spPr>
          <a:xfrm>
            <a:off x="4754880" y="1188720"/>
            <a:ext cx="3657600" cy="502920"/>
          </a:xfrm>
          <a:prstGeom prst="rect">
            <a:avLst/>
          </a:prstGeom>
          <a:solidFill>
            <a:srgbClr val="17A2B8"/>
          </a:solidFill>
          <a:ln/>
        </p:spPr>
        <p:txBody>
          <a:bodyPr wrap="square" rtlCol="0" anchor="ctr"/>
          <a:lstStyle/>
          <a:p>
            <a:pPr marL="0" indent="0" algn="ctr">
              <a:buNone/>
            </a:pPr>
            <a:r>
              <a:rPr lang="en-US" sz="1500" b="1" dirty="0">
                <a:solidFill>
                  <a:srgbClr val="FFFFFF"/>
                </a:solidFill>
                <a:latin typeface="Trebuchet MS" pitchFamily="34" charset="0"/>
                <a:ea typeface="Trebuchet MS" pitchFamily="34" charset="-122"/>
                <a:cs typeface="Trebuchet MS" pitchFamily="34" charset="-120"/>
              </a:rPr>
              <a:t>Final Scope</a:t>
            </a:r>
            <a:endParaRPr lang="en-US" sz="1500" dirty="0"/>
          </a:p>
        </p:txBody>
      </p:sp>
      <p:sp>
        <p:nvSpPr>
          <p:cNvPr id="9" name="Text 7"/>
          <p:cNvSpPr/>
          <p:nvPr/>
        </p:nvSpPr>
        <p:spPr>
          <a:xfrm>
            <a:off x="5029200" y="1828800"/>
            <a:ext cx="3108960" cy="2377440"/>
          </a:xfrm>
          <a:prstGeom prst="rect">
            <a:avLst/>
          </a:prstGeom>
          <a:noFill/>
          <a:ln/>
        </p:spPr>
        <p:txBody>
          <a:bodyPr wrap="square" rtlCol="0" anchor="ctr"/>
          <a:lstStyle/>
          <a:p>
            <a:pPr marL="342900" indent="-342900">
              <a:lnSpc>
                <a:spcPct val="120000"/>
              </a:lnSpc>
              <a:spcAft>
                <a:spcPts val="600"/>
              </a:spcAft>
              <a:buSzPct val="100000"/>
              <a:buChar char="•"/>
            </a:pPr>
            <a:r>
              <a:rPr lang="en-US" sz="1200" b="1" dirty="0">
                <a:solidFill>
                  <a:srgbClr val="475569"/>
                </a:solidFill>
                <a:latin typeface="Calibri" pitchFamily="34" charset="0"/>
                <a:ea typeface="Calibri" pitchFamily="34" charset="-122"/>
                <a:cs typeface="Calibri" pitchFamily="34" charset="-120"/>
              </a:rPr>
              <a:t>CNN encoder + 3 recurrent decoders:</a:t>
            </a:r>
            <a:endParaRPr lang="en-US" sz="1200" dirty="0"/>
          </a:p>
          <a:p>
            <a:pPr marL="685800" lvl="1" indent="-342900">
              <a:lnSpc>
                <a:spcPct val="120000"/>
              </a:lnSpc>
              <a:spcAft>
                <a:spcPts val="600"/>
              </a:spcAft>
              <a:buSzPct val="100000"/>
              <a:buChar char="•"/>
            </a:pPr>
            <a:r>
              <a:rPr lang="en-US" sz="1200" dirty="0">
                <a:solidFill>
                  <a:srgbClr val="475569"/>
                </a:solidFill>
                <a:latin typeface="Calibri" pitchFamily="34" charset="0"/>
                <a:ea typeface="Calibri" pitchFamily="34" charset="-122"/>
                <a:cs typeface="Calibri" pitchFamily="34" charset="-120"/>
              </a:rPr>
              <a:t>RNN</a:t>
            </a:r>
            <a:endParaRPr lang="en-US" sz="1200" dirty="0"/>
          </a:p>
          <a:p>
            <a:pPr marL="685800" lvl="1" indent="-342900">
              <a:lnSpc>
                <a:spcPct val="120000"/>
              </a:lnSpc>
              <a:spcAft>
                <a:spcPts val="600"/>
              </a:spcAft>
              <a:buSzPct val="100000"/>
              <a:buChar char="•"/>
            </a:pPr>
            <a:r>
              <a:rPr lang="en-US" sz="1200" dirty="0">
                <a:solidFill>
                  <a:srgbClr val="475569"/>
                </a:solidFill>
                <a:latin typeface="Calibri" pitchFamily="34" charset="0"/>
                <a:ea typeface="Calibri" pitchFamily="34" charset="-122"/>
                <a:cs typeface="Calibri" pitchFamily="34" charset="-120"/>
              </a:rPr>
              <a:t>GRU</a:t>
            </a:r>
            <a:endParaRPr lang="en-US" sz="1200" dirty="0"/>
          </a:p>
          <a:p>
            <a:pPr marL="685800" lvl="1" indent="-342900">
              <a:lnSpc>
                <a:spcPct val="120000"/>
              </a:lnSpc>
              <a:spcAft>
                <a:spcPts val="600"/>
              </a:spcAft>
              <a:buSzPct val="100000"/>
              <a:buChar char="•"/>
            </a:pPr>
            <a:r>
              <a:rPr lang="en-US" sz="1200" dirty="0">
                <a:solidFill>
                  <a:srgbClr val="475569"/>
                </a:solidFill>
                <a:latin typeface="Calibri" pitchFamily="34" charset="0"/>
                <a:ea typeface="Calibri" pitchFamily="34" charset="-122"/>
                <a:cs typeface="Calibri" pitchFamily="34" charset="-120"/>
              </a:rPr>
              <a:t>LSTM</a:t>
            </a:r>
            <a:endParaRPr lang="en-US" sz="1200" dirty="0"/>
          </a:p>
          <a:p>
            <a:pPr marL="342900" indent="-342900">
              <a:lnSpc>
                <a:spcPct val="120000"/>
              </a:lnSpc>
              <a:spcAft>
                <a:spcPts val="600"/>
              </a:spcAft>
              <a:buSzPct val="100000"/>
              <a:buChar char="•"/>
            </a:pPr>
            <a:r>
              <a:rPr lang="en-US" sz="1200" dirty="0">
                <a:solidFill>
                  <a:srgbClr val="475569"/>
                </a:solidFill>
                <a:latin typeface="Calibri" pitchFamily="34" charset="0"/>
                <a:ea typeface="Calibri" pitchFamily="34" charset="-122"/>
                <a:cs typeface="Calibri" pitchFamily="34" charset="-120"/>
              </a:rPr>
              <a:t>PubChem training</a:t>
            </a:r>
            <a:endParaRPr lang="en-US" sz="1200" dirty="0"/>
          </a:p>
          <a:p>
            <a:pPr marL="342900" indent="-342900">
              <a:lnSpc>
                <a:spcPct val="120000"/>
              </a:lnSpc>
              <a:spcAft>
                <a:spcPts val="600"/>
              </a:spcAft>
              <a:buSzPct val="100000"/>
              <a:buChar char="•"/>
            </a:pPr>
            <a:r>
              <a:rPr lang="en-US" sz="1200" dirty="0">
                <a:solidFill>
                  <a:srgbClr val="475569"/>
                </a:solidFill>
                <a:latin typeface="Calibri" pitchFamily="34" charset="0"/>
                <a:ea typeface="Calibri" pitchFamily="34" charset="-122"/>
                <a:cs typeface="Calibri" pitchFamily="34" charset="-120"/>
              </a:rPr>
              <a:t>EPA + DECIMER external testing</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6FA"/>
        </a:solidFill>
        <a:effectLst/>
      </p:bgPr>
    </p:bg>
    <p:spTree>
      <p:nvGrpSpPr>
        <p:cNvPr id="1" name=""/>
        <p:cNvGrpSpPr/>
        <p:nvPr/>
      </p:nvGrpSpPr>
      <p:grpSpPr>
        <a:xfrm>
          <a:off x="0" y="0"/>
          <a:ext cx="0" cy="0"/>
          <a:chOff x="0" y="0"/>
          <a:chExt cx="0" cy="0"/>
        </a:xfrm>
      </p:grpSpPr>
      <p:sp>
        <p:nvSpPr>
          <p:cNvPr id="2" name="Text 0"/>
          <p:cNvSpPr/>
          <p:nvPr/>
        </p:nvSpPr>
        <p:spPr>
          <a:xfrm>
            <a:off x="731520" y="365760"/>
            <a:ext cx="914400" cy="457200"/>
          </a:xfrm>
          <a:prstGeom prst="rect">
            <a:avLst/>
          </a:prstGeom>
          <a:noFill/>
          <a:ln/>
        </p:spPr>
        <p:txBody>
          <a:bodyPr wrap="square" lIns="0" tIns="0" rIns="0" bIns="0" rtlCol="0" anchor="ctr"/>
          <a:lstStyle/>
          <a:p>
            <a:pPr marL="0" indent="0">
              <a:buNone/>
            </a:pPr>
            <a:r>
              <a:rPr lang="en-US" sz="3600" b="1" dirty="0">
                <a:solidFill>
                  <a:srgbClr val="17A2B8"/>
                </a:solidFill>
                <a:latin typeface="Trebuchet MS" pitchFamily="34" charset="0"/>
                <a:ea typeface="Trebuchet MS" pitchFamily="34" charset="-122"/>
                <a:cs typeface="Trebuchet MS" pitchFamily="34" charset="-120"/>
              </a:rPr>
              <a:t>04</a:t>
            </a:r>
            <a:endParaRPr lang="en-US" sz="3600" dirty="0"/>
          </a:p>
        </p:txBody>
      </p:sp>
      <p:sp>
        <p:nvSpPr>
          <p:cNvPr id="3" name="Text 1"/>
          <p:cNvSpPr/>
          <p:nvPr/>
        </p:nvSpPr>
        <p:spPr>
          <a:xfrm>
            <a:off x="1645920" y="384048"/>
            <a:ext cx="6400800" cy="457200"/>
          </a:xfrm>
          <a:prstGeom prst="rect">
            <a:avLst/>
          </a:prstGeom>
          <a:noFill/>
          <a:ln/>
        </p:spPr>
        <p:txBody>
          <a:bodyPr wrap="square" lIns="0" tIns="0" rIns="0" bIns="0" rtlCol="0" anchor="ctr"/>
          <a:lstStyle/>
          <a:p>
            <a:pPr marL="0" indent="0">
              <a:buNone/>
            </a:pPr>
            <a:r>
              <a:rPr lang="en-US" sz="2800" b="1" dirty="0">
                <a:solidFill>
                  <a:srgbClr val="1E293B"/>
                </a:solidFill>
                <a:latin typeface="Trebuchet MS" pitchFamily="34" charset="0"/>
                <a:ea typeface="Trebuchet MS" pitchFamily="34" charset="-122"/>
                <a:cs typeface="Trebuchet MS" pitchFamily="34" charset="-120"/>
              </a:rPr>
              <a:t>Related Work</a:t>
            </a:r>
            <a:endParaRPr lang="en-US" sz="2800" dirty="0"/>
          </a:p>
        </p:txBody>
      </p:sp>
      <p:sp>
        <p:nvSpPr>
          <p:cNvPr id="4" name="Shape 2"/>
          <p:cNvSpPr/>
          <p:nvPr/>
        </p:nvSpPr>
        <p:spPr>
          <a:xfrm>
            <a:off x="731520" y="1188720"/>
            <a:ext cx="2468880" cy="274320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a:p>
        </p:txBody>
      </p:sp>
      <p:sp>
        <p:nvSpPr>
          <p:cNvPr id="5" name="Shape 3"/>
          <p:cNvSpPr/>
          <p:nvPr/>
        </p:nvSpPr>
        <p:spPr>
          <a:xfrm>
            <a:off x="1691640" y="1417320"/>
            <a:ext cx="548640" cy="548640"/>
          </a:xfrm>
          <a:prstGeom prst="ellipse">
            <a:avLst/>
          </a:prstGeom>
          <a:solidFill>
            <a:srgbClr val="17A2B8"/>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1801368" y="1527048"/>
            <a:ext cx="329184" cy="329184"/>
          </a:xfrm>
          <a:prstGeom prst="rect">
            <a:avLst/>
          </a:prstGeom>
        </p:spPr>
      </p:pic>
      <p:sp>
        <p:nvSpPr>
          <p:cNvPr id="7" name="Text 4"/>
          <p:cNvSpPr/>
          <p:nvPr/>
        </p:nvSpPr>
        <p:spPr>
          <a:xfrm>
            <a:off x="868680" y="2148840"/>
            <a:ext cx="2194560" cy="320040"/>
          </a:xfrm>
          <a:prstGeom prst="rect">
            <a:avLst/>
          </a:prstGeom>
          <a:noFill/>
          <a:ln/>
        </p:spPr>
        <p:txBody>
          <a:bodyPr wrap="square" lIns="0" tIns="0" rIns="0" bIns="0" rtlCol="0" anchor="ctr"/>
          <a:lstStyle/>
          <a:p>
            <a:pPr marL="0" indent="0" algn="ctr">
              <a:buNone/>
            </a:pPr>
            <a:r>
              <a:rPr lang="en-US" sz="1400" b="1" dirty="0">
                <a:solidFill>
                  <a:srgbClr val="1E293B"/>
                </a:solidFill>
                <a:latin typeface="Trebuchet MS" pitchFamily="34" charset="0"/>
                <a:ea typeface="Trebuchet MS" pitchFamily="34" charset="-122"/>
                <a:cs typeface="Trebuchet MS" pitchFamily="34" charset="-120"/>
              </a:rPr>
              <a:t>SwinOCSR</a:t>
            </a:r>
            <a:endParaRPr lang="en-US" sz="1400" dirty="0"/>
          </a:p>
        </p:txBody>
      </p:sp>
      <p:sp>
        <p:nvSpPr>
          <p:cNvPr id="8" name="Text 5"/>
          <p:cNvSpPr/>
          <p:nvPr/>
        </p:nvSpPr>
        <p:spPr>
          <a:xfrm>
            <a:off x="868680" y="2423160"/>
            <a:ext cx="2194560" cy="274320"/>
          </a:xfrm>
          <a:prstGeom prst="rect">
            <a:avLst/>
          </a:prstGeom>
          <a:noFill/>
          <a:ln/>
        </p:spPr>
        <p:txBody>
          <a:bodyPr wrap="square" lIns="0" tIns="0" rIns="0" bIns="0" rtlCol="0" anchor="ctr"/>
          <a:lstStyle/>
          <a:p>
            <a:pPr marL="0" indent="0" algn="ctr">
              <a:buNone/>
            </a:pPr>
            <a:r>
              <a:rPr lang="en-US" sz="1000" dirty="0">
                <a:solidFill>
                  <a:srgbClr val="17A2B8"/>
                </a:solidFill>
                <a:latin typeface="Calibri" pitchFamily="34" charset="0"/>
                <a:ea typeface="Calibri" pitchFamily="34" charset="-122"/>
                <a:cs typeface="Calibri" pitchFamily="34" charset="-120"/>
              </a:rPr>
              <a:t>Image-to-Sequence OCSR</a:t>
            </a:r>
            <a:endParaRPr lang="en-US" sz="1000" dirty="0"/>
          </a:p>
        </p:txBody>
      </p:sp>
      <p:sp>
        <p:nvSpPr>
          <p:cNvPr id="9" name="Text 6"/>
          <p:cNvSpPr/>
          <p:nvPr/>
        </p:nvSpPr>
        <p:spPr>
          <a:xfrm>
            <a:off x="914400" y="2788920"/>
            <a:ext cx="2103120" cy="1005840"/>
          </a:xfrm>
          <a:prstGeom prst="rect">
            <a:avLst/>
          </a:prstGeom>
          <a:noFill/>
          <a:ln/>
        </p:spPr>
        <p:txBody>
          <a:bodyPr wrap="square" lIns="0" tIns="0" rIns="0" bIns="0" rtlCol="0" anchor="ctr"/>
          <a:lstStyle/>
          <a:p>
            <a:pPr marL="0" indent="0" algn="ctr">
              <a:lnSpc>
                <a:spcPct val="130000"/>
              </a:lnSpc>
              <a:buNone/>
            </a:pPr>
            <a:r>
              <a:rPr lang="en-US" sz="1100" dirty="0">
                <a:solidFill>
                  <a:srgbClr val="475569"/>
                </a:solidFill>
                <a:latin typeface="Calibri" pitchFamily="34" charset="0"/>
                <a:ea typeface="Calibri" pitchFamily="34" charset="-122"/>
                <a:cs typeface="Calibri" pitchFamily="34" charset="-120"/>
              </a:rPr>
              <a:t>Swin Transformer encoder with Transformer decoder for end-to-end structure recognition</a:t>
            </a:r>
            <a:endParaRPr lang="en-US" sz="1100" dirty="0"/>
          </a:p>
        </p:txBody>
      </p:sp>
      <p:sp>
        <p:nvSpPr>
          <p:cNvPr id="10" name="Shape 7"/>
          <p:cNvSpPr/>
          <p:nvPr/>
        </p:nvSpPr>
        <p:spPr>
          <a:xfrm>
            <a:off x="3474720" y="1188720"/>
            <a:ext cx="2468880" cy="274320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a:p>
        </p:txBody>
      </p:sp>
      <p:sp>
        <p:nvSpPr>
          <p:cNvPr id="11" name="Shape 8"/>
          <p:cNvSpPr/>
          <p:nvPr/>
        </p:nvSpPr>
        <p:spPr>
          <a:xfrm>
            <a:off x="4434840" y="1417320"/>
            <a:ext cx="548640" cy="548640"/>
          </a:xfrm>
          <a:prstGeom prst="ellipse">
            <a:avLst/>
          </a:prstGeom>
          <a:solidFill>
            <a:srgbClr val="17A2B8"/>
          </a:solidFill>
          <a:ln/>
        </p:spPr>
        <p:txBody>
          <a:bodyPr/>
          <a:lstStyle/>
          <a:p>
            <a:endParaRPr lang="en-US"/>
          </a:p>
        </p:txBody>
      </p:sp>
      <p:pic>
        <p:nvPicPr>
          <p:cNvPr id="12" name="Image 1" descr="preencoded.png"/>
          <p:cNvPicPr>
            <a:picLocks noChangeAspect="1"/>
          </p:cNvPicPr>
          <p:nvPr/>
        </p:nvPicPr>
        <p:blipFill>
          <a:blip r:embed="rId3"/>
          <a:stretch>
            <a:fillRect/>
          </a:stretch>
        </p:blipFill>
        <p:spPr>
          <a:xfrm>
            <a:off x="4544568" y="1527048"/>
            <a:ext cx="329184" cy="329184"/>
          </a:xfrm>
          <a:prstGeom prst="rect">
            <a:avLst/>
          </a:prstGeom>
        </p:spPr>
      </p:pic>
      <p:sp>
        <p:nvSpPr>
          <p:cNvPr id="13" name="Text 9"/>
          <p:cNvSpPr/>
          <p:nvPr/>
        </p:nvSpPr>
        <p:spPr>
          <a:xfrm>
            <a:off x="3611880" y="2148840"/>
            <a:ext cx="2194560" cy="320040"/>
          </a:xfrm>
          <a:prstGeom prst="rect">
            <a:avLst/>
          </a:prstGeom>
          <a:noFill/>
          <a:ln/>
        </p:spPr>
        <p:txBody>
          <a:bodyPr wrap="square" lIns="0" tIns="0" rIns="0" bIns="0" rtlCol="0" anchor="ctr"/>
          <a:lstStyle/>
          <a:p>
            <a:pPr marL="0" indent="0" algn="ctr">
              <a:buNone/>
            </a:pPr>
            <a:r>
              <a:rPr lang="en-US" sz="1400" b="1" dirty="0">
                <a:solidFill>
                  <a:srgbClr val="1E293B"/>
                </a:solidFill>
                <a:latin typeface="Trebuchet MS" pitchFamily="34" charset="0"/>
                <a:ea typeface="Trebuchet MS" pitchFamily="34" charset="-122"/>
                <a:cs typeface="Trebuchet MS" pitchFamily="34" charset="-120"/>
              </a:rPr>
              <a:t>Atom-Level OCSR</a:t>
            </a:r>
            <a:endParaRPr lang="en-US" sz="1400" dirty="0"/>
          </a:p>
        </p:txBody>
      </p:sp>
      <p:sp>
        <p:nvSpPr>
          <p:cNvPr id="14" name="Text 10"/>
          <p:cNvSpPr/>
          <p:nvPr/>
        </p:nvSpPr>
        <p:spPr>
          <a:xfrm>
            <a:off x="3611880" y="2423160"/>
            <a:ext cx="2194560" cy="274320"/>
          </a:xfrm>
          <a:prstGeom prst="rect">
            <a:avLst/>
          </a:prstGeom>
          <a:noFill/>
          <a:ln/>
        </p:spPr>
        <p:txBody>
          <a:bodyPr wrap="square" lIns="0" tIns="0" rIns="0" bIns="0" rtlCol="0" anchor="ctr"/>
          <a:lstStyle/>
          <a:p>
            <a:pPr marL="0" indent="0" algn="ctr">
              <a:buNone/>
            </a:pPr>
            <a:r>
              <a:rPr lang="en-US" sz="1000" dirty="0">
                <a:solidFill>
                  <a:srgbClr val="17A2B8"/>
                </a:solidFill>
                <a:latin typeface="Calibri" pitchFamily="34" charset="0"/>
                <a:ea typeface="Calibri" pitchFamily="34" charset="-122"/>
                <a:cs typeface="Calibri" pitchFamily="34" charset="-120"/>
              </a:rPr>
              <a:t>Graph Reconstruction</a:t>
            </a:r>
            <a:endParaRPr lang="en-US" sz="1000" dirty="0"/>
          </a:p>
        </p:txBody>
      </p:sp>
      <p:sp>
        <p:nvSpPr>
          <p:cNvPr id="15" name="Text 11"/>
          <p:cNvSpPr/>
          <p:nvPr/>
        </p:nvSpPr>
        <p:spPr>
          <a:xfrm>
            <a:off x="3657600" y="2788920"/>
            <a:ext cx="2103120" cy="1005840"/>
          </a:xfrm>
          <a:prstGeom prst="rect">
            <a:avLst/>
          </a:prstGeom>
          <a:noFill/>
          <a:ln/>
        </p:spPr>
        <p:txBody>
          <a:bodyPr wrap="square" lIns="0" tIns="0" rIns="0" bIns="0" rtlCol="0" anchor="ctr"/>
          <a:lstStyle/>
          <a:p>
            <a:pPr marL="0" indent="0" algn="ctr">
              <a:lnSpc>
                <a:spcPct val="130000"/>
              </a:lnSpc>
              <a:buNone/>
            </a:pPr>
            <a:r>
              <a:rPr lang="en-US" sz="1100" dirty="0">
                <a:solidFill>
                  <a:srgbClr val="475569"/>
                </a:solidFill>
                <a:latin typeface="Calibri" pitchFamily="34" charset="0"/>
                <a:ea typeface="Calibri" pitchFamily="34" charset="-122"/>
                <a:cs typeface="Calibri" pitchFamily="34" charset="-120"/>
              </a:rPr>
              <a:t>Detects atoms and bonds individually, then reconstructs the molecular graph structure</a:t>
            </a:r>
            <a:endParaRPr lang="en-US" sz="1100" dirty="0"/>
          </a:p>
        </p:txBody>
      </p:sp>
      <p:sp>
        <p:nvSpPr>
          <p:cNvPr id="16" name="Shape 12"/>
          <p:cNvSpPr/>
          <p:nvPr/>
        </p:nvSpPr>
        <p:spPr>
          <a:xfrm>
            <a:off x="6217920" y="1188720"/>
            <a:ext cx="2468880" cy="274320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a:p>
        </p:txBody>
      </p:sp>
      <p:sp>
        <p:nvSpPr>
          <p:cNvPr id="17" name="Shape 13"/>
          <p:cNvSpPr/>
          <p:nvPr/>
        </p:nvSpPr>
        <p:spPr>
          <a:xfrm>
            <a:off x="7178040" y="1417320"/>
            <a:ext cx="548640" cy="548640"/>
          </a:xfrm>
          <a:prstGeom prst="ellipse">
            <a:avLst/>
          </a:prstGeom>
          <a:solidFill>
            <a:srgbClr val="17A2B8"/>
          </a:solidFill>
          <a:ln/>
        </p:spPr>
        <p:txBody>
          <a:bodyPr/>
          <a:lstStyle/>
          <a:p>
            <a:endParaRPr lang="en-US"/>
          </a:p>
        </p:txBody>
      </p:sp>
      <p:pic>
        <p:nvPicPr>
          <p:cNvPr id="18" name="Image 2" descr="preencoded.png"/>
          <p:cNvPicPr>
            <a:picLocks noChangeAspect="1"/>
          </p:cNvPicPr>
          <p:nvPr/>
        </p:nvPicPr>
        <p:blipFill>
          <a:blip r:embed="rId3"/>
          <a:stretch>
            <a:fillRect/>
          </a:stretch>
        </p:blipFill>
        <p:spPr>
          <a:xfrm>
            <a:off x="7287768" y="1527048"/>
            <a:ext cx="329184" cy="329184"/>
          </a:xfrm>
          <a:prstGeom prst="rect">
            <a:avLst/>
          </a:prstGeom>
        </p:spPr>
      </p:pic>
      <p:sp>
        <p:nvSpPr>
          <p:cNvPr id="19" name="Text 14"/>
          <p:cNvSpPr/>
          <p:nvPr/>
        </p:nvSpPr>
        <p:spPr>
          <a:xfrm>
            <a:off x="6355080" y="2148840"/>
            <a:ext cx="2194560" cy="320040"/>
          </a:xfrm>
          <a:prstGeom prst="rect">
            <a:avLst/>
          </a:prstGeom>
          <a:noFill/>
          <a:ln/>
        </p:spPr>
        <p:txBody>
          <a:bodyPr wrap="square" lIns="0" tIns="0" rIns="0" bIns="0" rtlCol="0" anchor="ctr"/>
          <a:lstStyle/>
          <a:p>
            <a:pPr marL="0" indent="0" algn="ctr">
              <a:buNone/>
            </a:pPr>
            <a:r>
              <a:rPr lang="en-US" sz="1400" b="1" dirty="0">
                <a:solidFill>
                  <a:srgbClr val="1E293B"/>
                </a:solidFill>
                <a:latin typeface="Trebuchet MS" pitchFamily="34" charset="0"/>
                <a:ea typeface="Trebuchet MS" pitchFamily="34" charset="-122"/>
                <a:cs typeface="Trebuchet MS" pitchFamily="34" charset="-120"/>
              </a:rPr>
              <a:t>This Project</a:t>
            </a:r>
            <a:endParaRPr lang="en-US" sz="1400" dirty="0"/>
          </a:p>
        </p:txBody>
      </p:sp>
      <p:sp>
        <p:nvSpPr>
          <p:cNvPr id="20" name="Text 15"/>
          <p:cNvSpPr/>
          <p:nvPr/>
        </p:nvSpPr>
        <p:spPr>
          <a:xfrm>
            <a:off x="6355080" y="2423160"/>
            <a:ext cx="2194560" cy="274320"/>
          </a:xfrm>
          <a:prstGeom prst="rect">
            <a:avLst/>
          </a:prstGeom>
          <a:noFill/>
          <a:ln/>
        </p:spPr>
        <p:txBody>
          <a:bodyPr wrap="square" lIns="0" tIns="0" rIns="0" bIns="0" rtlCol="0" anchor="ctr"/>
          <a:lstStyle/>
          <a:p>
            <a:pPr marL="0" indent="0" algn="ctr">
              <a:buNone/>
            </a:pPr>
            <a:r>
              <a:rPr lang="en-US" sz="1000" dirty="0">
                <a:solidFill>
                  <a:srgbClr val="17A2B8"/>
                </a:solidFill>
                <a:latin typeface="Calibri" pitchFamily="34" charset="0"/>
                <a:ea typeface="Calibri" pitchFamily="34" charset="-122"/>
                <a:cs typeface="Calibri" pitchFamily="34" charset="-120"/>
              </a:rPr>
              <a:t>Simplified Approach</a:t>
            </a:r>
            <a:endParaRPr lang="en-US" sz="1000" dirty="0"/>
          </a:p>
        </p:txBody>
      </p:sp>
      <p:sp>
        <p:nvSpPr>
          <p:cNvPr id="21" name="Text 16"/>
          <p:cNvSpPr/>
          <p:nvPr/>
        </p:nvSpPr>
        <p:spPr>
          <a:xfrm>
            <a:off x="6400800" y="2788920"/>
            <a:ext cx="2103120" cy="1005840"/>
          </a:xfrm>
          <a:prstGeom prst="rect">
            <a:avLst/>
          </a:prstGeom>
          <a:noFill/>
          <a:ln/>
        </p:spPr>
        <p:txBody>
          <a:bodyPr wrap="square" lIns="0" tIns="0" rIns="0" bIns="0" rtlCol="0" anchor="ctr"/>
          <a:lstStyle/>
          <a:p>
            <a:pPr marL="0" indent="0" algn="ctr">
              <a:lnSpc>
                <a:spcPct val="130000"/>
              </a:lnSpc>
              <a:buNone/>
            </a:pPr>
            <a:r>
              <a:rPr lang="en-US" sz="1100" dirty="0">
                <a:solidFill>
                  <a:srgbClr val="475569"/>
                </a:solidFill>
                <a:latin typeface="Calibri" pitchFamily="34" charset="0"/>
                <a:ea typeface="Calibri" pitchFamily="34" charset="-122"/>
                <a:cs typeface="Calibri" pitchFamily="34" charset="-120"/>
              </a:rPr>
              <a:t>Uses a CNN encoder with recurrent decoders following the image-to-sequence paradigm</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2137"/>
        </a:solidFill>
        <a:effectLst/>
      </p:bgPr>
    </p:bg>
    <p:spTree>
      <p:nvGrpSpPr>
        <p:cNvPr id="1" name=""/>
        <p:cNvGrpSpPr/>
        <p:nvPr/>
      </p:nvGrpSpPr>
      <p:grpSpPr>
        <a:xfrm>
          <a:off x="0" y="0"/>
          <a:ext cx="0" cy="0"/>
          <a:chOff x="0" y="0"/>
          <a:chExt cx="0" cy="0"/>
        </a:xfrm>
      </p:grpSpPr>
      <p:pic>
        <p:nvPicPr>
          <p:cNvPr id="2" name="Image 0" descr="/agent/turn1/workspace/images/abstract-neural-network-deep-learning-architecture_2026-04-28T10-57-20_image_DAS_0.jpg"/>
          <p:cNvPicPr>
            <a:picLocks noChangeAspect="1"/>
          </p:cNvPicPr>
          <p:nvPr/>
        </p:nvPicPr>
        <p:blipFill>
          <a:blip r:embed="rId3">
            <a:alphaModFix amt="30000"/>
          </a:blip>
          <a:srcRect t="7813" b="7813"/>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F2137">
              <a:alpha val="65000"/>
            </a:srgbClr>
          </a:solidFill>
          <a:ln/>
        </p:spPr>
        <p:txBody>
          <a:bodyPr/>
          <a:lstStyle/>
          <a:p>
            <a:endParaRPr lang="en-US"/>
          </a:p>
        </p:txBody>
      </p:sp>
      <p:sp>
        <p:nvSpPr>
          <p:cNvPr id="4" name="Text 1"/>
          <p:cNvSpPr/>
          <p:nvPr/>
        </p:nvSpPr>
        <p:spPr>
          <a:xfrm>
            <a:off x="731520" y="320040"/>
            <a:ext cx="914400" cy="457200"/>
          </a:xfrm>
          <a:prstGeom prst="rect">
            <a:avLst/>
          </a:prstGeom>
          <a:noFill/>
          <a:ln/>
        </p:spPr>
        <p:txBody>
          <a:bodyPr wrap="square" lIns="0" tIns="0" rIns="0" bIns="0" rtlCol="0" anchor="ctr"/>
          <a:lstStyle/>
          <a:p>
            <a:pPr marL="0" indent="0">
              <a:buNone/>
            </a:pPr>
            <a:r>
              <a:rPr lang="en-US" sz="3600" b="1" dirty="0">
                <a:solidFill>
                  <a:srgbClr val="17A2B8"/>
                </a:solidFill>
                <a:latin typeface="Trebuchet MS" pitchFamily="34" charset="0"/>
                <a:ea typeface="Trebuchet MS" pitchFamily="34" charset="-122"/>
                <a:cs typeface="Trebuchet MS" pitchFamily="34" charset="-120"/>
              </a:rPr>
              <a:t>05</a:t>
            </a:r>
            <a:endParaRPr lang="en-US" sz="3600" dirty="0"/>
          </a:p>
        </p:txBody>
      </p:sp>
      <p:sp>
        <p:nvSpPr>
          <p:cNvPr id="5" name="Text 2"/>
          <p:cNvSpPr/>
          <p:nvPr/>
        </p:nvSpPr>
        <p:spPr>
          <a:xfrm>
            <a:off x="1645920" y="338328"/>
            <a:ext cx="6400800" cy="457200"/>
          </a:xfrm>
          <a:prstGeom prst="rect">
            <a:avLst/>
          </a:prstGeom>
          <a:noFill/>
          <a:ln/>
        </p:spPr>
        <p:txBody>
          <a:bodyPr wrap="square" lIns="0" tIns="0" rIns="0" bIns="0" rtlCol="0" anchor="ctr"/>
          <a:lstStyle/>
          <a:p>
            <a:pPr marL="0" indent="0">
              <a:buNone/>
            </a:pPr>
            <a:r>
              <a:rPr lang="en-US" sz="2800" b="1" dirty="0">
                <a:solidFill>
                  <a:srgbClr val="F8FAFC"/>
                </a:solidFill>
                <a:latin typeface="Trebuchet MS" pitchFamily="34" charset="0"/>
                <a:ea typeface="Trebuchet MS" pitchFamily="34" charset="-122"/>
                <a:cs typeface="Trebuchet MS" pitchFamily="34" charset="-120"/>
              </a:rPr>
              <a:t>Model Architecture</a:t>
            </a:r>
            <a:endParaRPr lang="en-US" sz="2800" dirty="0"/>
          </a:p>
        </p:txBody>
      </p:sp>
      <p:sp>
        <p:nvSpPr>
          <p:cNvPr id="6" name="Shape 3"/>
          <p:cNvSpPr/>
          <p:nvPr/>
        </p:nvSpPr>
        <p:spPr>
          <a:xfrm>
            <a:off x="594360" y="1371600"/>
            <a:ext cx="1645920" cy="1097280"/>
          </a:xfrm>
          <a:prstGeom prst="rect">
            <a:avLst/>
          </a:prstGeom>
          <a:solidFill>
            <a:srgbClr val="1A3A5C"/>
          </a:solidFill>
          <a:ln/>
          <a:effectLst>
            <a:outerShdw blurRad="50800" dist="25400" dir="8100000" algn="bl" rotWithShape="0">
              <a:srgbClr val="000000">
                <a:alpha val="8000"/>
              </a:srgbClr>
            </a:outerShdw>
          </a:effectLst>
        </p:spPr>
        <p:txBody>
          <a:bodyPr/>
          <a:lstStyle/>
          <a:p>
            <a:endParaRPr lang="en-US"/>
          </a:p>
        </p:txBody>
      </p:sp>
      <p:sp>
        <p:nvSpPr>
          <p:cNvPr id="7" name="Text 4"/>
          <p:cNvSpPr/>
          <p:nvPr/>
        </p:nvSpPr>
        <p:spPr>
          <a:xfrm>
            <a:off x="594360" y="1371600"/>
            <a:ext cx="1645920" cy="1097280"/>
          </a:xfrm>
          <a:prstGeom prst="rect">
            <a:avLst/>
          </a:prstGeom>
          <a:noFill/>
          <a:ln/>
        </p:spPr>
        <p:txBody>
          <a:bodyPr wrap="square" lIns="0" tIns="0" rIns="0" bIns="0" rtlCol="0" anchor="ctr"/>
          <a:lstStyle/>
          <a:p>
            <a:pPr marL="0" indent="0" algn="ctr">
              <a:buNone/>
            </a:pPr>
            <a:r>
              <a:rPr lang="en-US" sz="1300" b="1" dirty="0">
                <a:solidFill>
                  <a:srgbClr val="F8FAFC"/>
                </a:solidFill>
                <a:latin typeface="Trebuchet MS" pitchFamily="34" charset="0"/>
                <a:ea typeface="Trebuchet MS" pitchFamily="34" charset="-122"/>
                <a:cs typeface="Trebuchet MS" pitchFamily="34" charset="-120"/>
              </a:rPr>
              <a:t>Molecule</a:t>
            </a:r>
            <a:endParaRPr lang="en-US" sz="1300" dirty="0"/>
          </a:p>
          <a:p>
            <a:pPr marL="0" indent="0" algn="ctr">
              <a:buNone/>
            </a:pPr>
            <a:r>
              <a:rPr lang="en-US" sz="1300" b="1" dirty="0">
                <a:solidFill>
                  <a:srgbClr val="F8FAFC"/>
                </a:solidFill>
                <a:latin typeface="Trebuchet MS" pitchFamily="34" charset="0"/>
                <a:ea typeface="Trebuchet MS" pitchFamily="34" charset="-122"/>
                <a:cs typeface="Trebuchet MS" pitchFamily="34" charset="-120"/>
              </a:rPr>
              <a:t>Image</a:t>
            </a:r>
            <a:endParaRPr lang="en-US" sz="1300" dirty="0"/>
          </a:p>
        </p:txBody>
      </p:sp>
      <p:sp>
        <p:nvSpPr>
          <p:cNvPr id="8" name="Text 5"/>
          <p:cNvSpPr/>
          <p:nvPr/>
        </p:nvSpPr>
        <p:spPr>
          <a:xfrm>
            <a:off x="2286000" y="1371600"/>
            <a:ext cx="365760" cy="1097280"/>
          </a:xfrm>
          <a:prstGeom prst="rect">
            <a:avLst/>
          </a:prstGeom>
          <a:noFill/>
          <a:ln/>
        </p:spPr>
        <p:txBody>
          <a:bodyPr wrap="square" lIns="0" tIns="0" rIns="0" bIns="0" rtlCol="0" anchor="ctr"/>
          <a:lstStyle/>
          <a:p>
            <a:pPr marL="0" indent="0" algn="ctr">
              <a:buNone/>
            </a:pPr>
            <a:r>
              <a:rPr lang="en-US" sz="2000" dirty="0">
                <a:solidFill>
                  <a:srgbClr val="17A2B8"/>
                </a:solidFill>
                <a:latin typeface="Calibri" pitchFamily="34" charset="0"/>
                <a:ea typeface="Calibri" pitchFamily="34" charset="-122"/>
                <a:cs typeface="Calibri" pitchFamily="34" charset="-120"/>
              </a:rPr>
              <a:t>▶</a:t>
            </a:r>
            <a:endParaRPr lang="en-US" sz="2000" dirty="0"/>
          </a:p>
        </p:txBody>
      </p:sp>
      <p:sp>
        <p:nvSpPr>
          <p:cNvPr id="9" name="Shape 6"/>
          <p:cNvSpPr/>
          <p:nvPr/>
        </p:nvSpPr>
        <p:spPr>
          <a:xfrm>
            <a:off x="2697480" y="1371600"/>
            <a:ext cx="1645920" cy="1097280"/>
          </a:xfrm>
          <a:prstGeom prst="rect">
            <a:avLst/>
          </a:prstGeom>
          <a:solidFill>
            <a:srgbClr val="1A3A5C"/>
          </a:solidFill>
          <a:ln/>
          <a:effectLst>
            <a:outerShdw blurRad="50800" dist="25400" dir="8100000" algn="bl" rotWithShape="0">
              <a:srgbClr val="000000">
                <a:alpha val="8000"/>
              </a:srgbClr>
            </a:outerShdw>
          </a:effectLst>
        </p:spPr>
        <p:txBody>
          <a:bodyPr/>
          <a:lstStyle/>
          <a:p>
            <a:endParaRPr lang="en-US"/>
          </a:p>
        </p:txBody>
      </p:sp>
      <p:sp>
        <p:nvSpPr>
          <p:cNvPr id="10" name="Text 7"/>
          <p:cNvSpPr/>
          <p:nvPr/>
        </p:nvSpPr>
        <p:spPr>
          <a:xfrm>
            <a:off x="2697480" y="1371600"/>
            <a:ext cx="1645920" cy="1097280"/>
          </a:xfrm>
          <a:prstGeom prst="rect">
            <a:avLst/>
          </a:prstGeom>
          <a:noFill/>
          <a:ln/>
        </p:spPr>
        <p:txBody>
          <a:bodyPr wrap="square" lIns="0" tIns="0" rIns="0" bIns="0" rtlCol="0" anchor="ctr"/>
          <a:lstStyle/>
          <a:p>
            <a:pPr marL="0" indent="0" algn="ctr">
              <a:buNone/>
            </a:pPr>
            <a:r>
              <a:rPr lang="en-US" sz="1300" b="1" dirty="0">
                <a:solidFill>
                  <a:srgbClr val="F8FAFC"/>
                </a:solidFill>
                <a:latin typeface="Trebuchet MS" pitchFamily="34" charset="0"/>
                <a:ea typeface="Trebuchet MS" pitchFamily="34" charset="-122"/>
                <a:cs typeface="Trebuchet MS" pitchFamily="34" charset="-120"/>
              </a:rPr>
              <a:t>CNN</a:t>
            </a:r>
            <a:endParaRPr lang="en-US" sz="1300" dirty="0"/>
          </a:p>
          <a:p>
            <a:pPr marL="0" indent="0" algn="ctr">
              <a:buNone/>
            </a:pPr>
            <a:r>
              <a:rPr lang="en-US" sz="1300" b="1" dirty="0">
                <a:solidFill>
                  <a:srgbClr val="F8FAFC"/>
                </a:solidFill>
                <a:latin typeface="Trebuchet MS" pitchFamily="34" charset="0"/>
                <a:ea typeface="Trebuchet MS" pitchFamily="34" charset="-122"/>
                <a:cs typeface="Trebuchet MS" pitchFamily="34" charset="-120"/>
              </a:rPr>
              <a:t>Encoder</a:t>
            </a:r>
            <a:endParaRPr lang="en-US" sz="1300" dirty="0"/>
          </a:p>
        </p:txBody>
      </p:sp>
      <p:sp>
        <p:nvSpPr>
          <p:cNvPr id="11" name="Text 8"/>
          <p:cNvSpPr/>
          <p:nvPr/>
        </p:nvSpPr>
        <p:spPr>
          <a:xfrm>
            <a:off x="4389120" y="1371600"/>
            <a:ext cx="365760" cy="1097280"/>
          </a:xfrm>
          <a:prstGeom prst="rect">
            <a:avLst/>
          </a:prstGeom>
          <a:noFill/>
          <a:ln/>
        </p:spPr>
        <p:txBody>
          <a:bodyPr wrap="square" lIns="0" tIns="0" rIns="0" bIns="0" rtlCol="0" anchor="ctr"/>
          <a:lstStyle/>
          <a:p>
            <a:pPr marL="0" indent="0" algn="ctr">
              <a:buNone/>
            </a:pPr>
            <a:r>
              <a:rPr lang="en-US" sz="2000" dirty="0">
                <a:solidFill>
                  <a:srgbClr val="17A2B8"/>
                </a:solidFill>
                <a:latin typeface="Calibri" pitchFamily="34" charset="0"/>
                <a:ea typeface="Calibri" pitchFamily="34" charset="-122"/>
                <a:cs typeface="Calibri" pitchFamily="34" charset="-120"/>
              </a:rPr>
              <a:t>▶</a:t>
            </a:r>
            <a:endParaRPr lang="en-US" sz="2000" dirty="0"/>
          </a:p>
        </p:txBody>
      </p:sp>
      <p:sp>
        <p:nvSpPr>
          <p:cNvPr id="12" name="Shape 9"/>
          <p:cNvSpPr/>
          <p:nvPr/>
        </p:nvSpPr>
        <p:spPr>
          <a:xfrm>
            <a:off x="4800600" y="1371600"/>
            <a:ext cx="1645920" cy="1097280"/>
          </a:xfrm>
          <a:prstGeom prst="rect">
            <a:avLst/>
          </a:prstGeom>
          <a:solidFill>
            <a:srgbClr val="17A2B8"/>
          </a:solidFill>
          <a:ln/>
          <a:effectLst>
            <a:outerShdw blurRad="50800" dist="25400" dir="8100000" algn="bl" rotWithShape="0">
              <a:srgbClr val="000000">
                <a:alpha val="8000"/>
              </a:srgbClr>
            </a:outerShdw>
          </a:effectLst>
        </p:spPr>
        <p:txBody>
          <a:bodyPr/>
          <a:lstStyle/>
          <a:p>
            <a:endParaRPr lang="en-US"/>
          </a:p>
        </p:txBody>
      </p:sp>
      <p:sp>
        <p:nvSpPr>
          <p:cNvPr id="13" name="Text 10"/>
          <p:cNvSpPr/>
          <p:nvPr/>
        </p:nvSpPr>
        <p:spPr>
          <a:xfrm>
            <a:off x="4800600" y="1371600"/>
            <a:ext cx="1645920" cy="1097280"/>
          </a:xfrm>
          <a:prstGeom prst="rect">
            <a:avLst/>
          </a:prstGeom>
          <a:noFill/>
          <a:ln/>
        </p:spPr>
        <p:txBody>
          <a:bodyPr wrap="square" lIns="0" tIns="0" rIns="0" bIns="0" rtlCol="0" anchor="ctr"/>
          <a:lstStyle/>
          <a:p>
            <a:pPr marL="0" indent="0" algn="ctr">
              <a:buNone/>
            </a:pPr>
            <a:r>
              <a:rPr lang="en-US" sz="1300" b="1" dirty="0">
                <a:solidFill>
                  <a:srgbClr val="F8FAFC"/>
                </a:solidFill>
                <a:latin typeface="Trebuchet MS" pitchFamily="34" charset="0"/>
                <a:ea typeface="Trebuchet MS" pitchFamily="34" charset="-122"/>
                <a:cs typeface="Trebuchet MS" pitchFamily="34" charset="-120"/>
              </a:rPr>
              <a:t>Recurrent</a:t>
            </a:r>
            <a:endParaRPr lang="en-US" sz="1300" dirty="0"/>
          </a:p>
          <a:p>
            <a:pPr marL="0" indent="0" algn="ctr">
              <a:buNone/>
            </a:pPr>
            <a:r>
              <a:rPr lang="en-US" sz="1300" b="1" dirty="0">
                <a:solidFill>
                  <a:srgbClr val="F8FAFC"/>
                </a:solidFill>
                <a:latin typeface="Trebuchet MS" pitchFamily="34" charset="0"/>
                <a:ea typeface="Trebuchet MS" pitchFamily="34" charset="-122"/>
                <a:cs typeface="Trebuchet MS" pitchFamily="34" charset="-120"/>
              </a:rPr>
              <a:t>Decoder</a:t>
            </a:r>
            <a:endParaRPr lang="en-US" sz="1300" dirty="0"/>
          </a:p>
        </p:txBody>
      </p:sp>
      <p:sp>
        <p:nvSpPr>
          <p:cNvPr id="14" name="Text 11"/>
          <p:cNvSpPr/>
          <p:nvPr/>
        </p:nvSpPr>
        <p:spPr>
          <a:xfrm>
            <a:off x="6492240" y="1371600"/>
            <a:ext cx="365760" cy="1097280"/>
          </a:xfrm>
          <a:prstGeom prst="rect">
            <a:avLst/>
          </a:prstGeom>
          <a:noFill/>
          <a:ln/>
        </p:spPr>
        <p:txBody>
          <a:bodyPr wrap="square" lIns="0" tIns="0" rIns="0" bIns="0" rtlCol="0" anchor="ctr"/>
          <a:lstStyle/>
          <a:p>
            <a:pPr marL="0" indent="0" algn="ctr">
              <a:buNone/>
            </a:pPr>
            <a:r>
              <a:rPr lang="en-US" sz="2000" dirty="0">
                <a:solidFill>
                  <a:srgbClr val="17A2B8"/>
                </a:solidFill>
                <a:latin typeface="Calibri" pitchFamily="34" charset="0"/>
                <a:ea typeface="Calibri" pitchFamily="34" charset="-122"/>
                <a:cs typeface="Calibri" pitchFamily="34" charset="-120"/>
              </a:rPr>
              <a:t>▶</a:t>
            </a:r>
            <a:endParaRPr lang="en-US" sz="2000" dirty="0"/>
          </a:p>
        </p:txBody>
      </p:sp>
      <p:sp>
        <p:nvSpPr>
          <p:cNvPr id="15" name="Shape 12"/>
          <p:cNvSpPr/>
          <p:nvPr/>
        </p:nvSpPr>
        <p:spPr>
          <a:xfrm>
            <a:off x="6903720" y="1371600"/>
            <a:ext cx="1645920" cy="1097280"/>
          </a:xfrm>
          <a:prstGeom prst="rect">
            <a:avLst/>
          </a:prstGeom>
          <a:solidFill>
            <a:srgbClr val="1A3A5C"/>
          </a:solidFill>
          <a:ln/>
          <a:effectLst>
            <a:outerShdw blurRad="50800" dist="25400" dir="8100000" algn="bl" rotWithShape="0">
              <a:srgbClr val="000000">
                <a:alpha val="8000"/>
              </a:srgbClr>
            </a:outerShdw>
          </a:effectLst>
        </p:spPr>
        <p:txBody>
          <a:bodyPr/>
          <a:lstStyle/>
          <a:p>
            <a:endParaRPr lang="en-US"/>
          </a:p>
        </p:txBody>
      </p:sp>
      <p:sp>
        <p:nvSpPr>
          <p:cNvPr id="16" name="Text 13"/>
          <p:cNvSpPr/>
          <p:nvPr/>
        </p:nvSpPr>
        <p:spPr>
          <a:xfrm>
            <a:off x="6903720" y="1371600"/>
            <a:ext cx="1645920" cy="1097280"/>
          </a:xfrm>
          <a:prstGeom prst="rect">
            <a:avLst/>
          </a:prstGeom>
          <a:noFill/>
          <a:ln/>
        </p:spPr>
        <p:txBody>
          <a:bodyPr wrap="square" lIns="0" tIns="0" rIns="0" bIns="0" rtlCol="0" anchor="ctr"/>
          <a:lstStyle/>
          <a:p>
            <a:pPr marL="0" indent="0" algn="ctr">
              <a:buNone/>
            </a:pPr>
            <a:r>
              <a:rPr lang="en-US" sz="1300" b="1" dirty="0">
                <a:solidFill>
                  <a:srgbClr val="F8FAFC"/>
                </a:solidFill>
                <a:latin typeface="Trebuchet MS" pitchFamily="34" charset="0"/>
                <a:ea typeface="Trebuchet MS" pitchFamily="34" charset="-122"/>
                <a:cs typeface="Trebuchet MS" pitchFamily="34" charset="-120"/>
              </a:rPr>
              <a:t>SMILES</a:t>
            </a:r>
            <a:endParaRPr lang="en-US" sz="1300" dirty="0"/>
          </a:p>
          <a:p>
            <a:pPr marL="0" indent="0" algn="ctr">
              <a:buNone/>
            </a:pPr>
            <a:r>
              <a:rPr lang="en-US" sz="1300" b="1" dirty="0">
                <a:solidFill>
                  <a:srgbClr val="F8FAFC"/>
                </a:solidFill>
                <a:latin typeface="Trebuchet MS" pitchFamily="34" charset="0"/>
                <a:ea typeface="Trebuchet MS" pitchFamily="34" charset="-122"/>
                <a:cs typeface="Trebuchet MS" pitchFamily="34" charset="-120"/>
              </a:rPr>
              <a:t>Tokens</a:t>
            </a:r>
            <a:endParaRPr lang="en-US" sz="1300" dirty="0"/>
          </a:p>
        </p:txBody>
      </p:sp>
      <p:sp>
        <p:nvSpPr>
          <p:cNvPr id="17" name="Shape 14"/>
          <p:cNvSpPr/>
          <p:nvPr/>
        </p:nvSpPr>
        <p:spPr>
          <a:xfrm>
            <a:off x="914400" y="3017520"/>
            <a:ext cx="2194560" cy="640080"/>
          </a:xfrm>
          <a:prstGeom prst="rect">
            <a:avLst/>
          </a:prstGeom>
          <a:solidFill>
            <a:srgbClr val="17A2B8">
              <a:alpha val="80000"/>
            </a:srgbClr>
          </a:solidFill>
          <a:ln w="19050">
            <a:solidFill>
              <a:srgbClr val="17A2B8"/>
            </a:solidFill>
            <a:prstDash val="solid"/>
          </a:ln>
        </p:spPr>
        <p:txBody>
          <a:bodyPr/>
          <a:lstStyle/>
          <a:p>
            <a:endParaRPr lang="en-US"/>
          </a:p>
        </p:txBody>
      </p:sp>
      <p:sp>
        <p:nvSpPr>
          <p:cNvPr id="18" name="Text 15"/>
          <p:cNvSpPr/>
          <p:nvPr/>
        </p:nvSpPr>
        <p:spPr>
          <a:xfrm>
            <a:off x="914400" y="3017520"/>
            <a:ext cx="2194560" cy="640080"/>
          </a:xfrm>
          <a:prstGeom prst="rect">
            <a:avLst/>
          </a:prstGeom>
          <a:noFill/>
          <a:ln/>
        </p:spPr>
        <p:txBody>
          <a:bodyPr wrap="square" lIns="0" tIns="0" rIns="0" bIns="0" rtlCol="0" anchor="ctr"/>
          <a:lstStyle/>
          <a:p>
            <a:pPr marL="0" indent="0" algn="ctr">
              <a:buNone/>
            </a:pPr>
            <a:r>
              <a:rPr lang="en-US" sz="1500" b="1" dirty="0">
                <a:solidFill>
                  <a:srgbClr val="F8FAFC"/>
                </a:solidFill>
                <a:latin typeface="Trebuchet MS" pitchFamily="34" charset="0"/>
                <a:ea typeface="Trebuchet MS" pitchFamily="34" charset="-122"/>
                <a:cs typeface="Trebuchet MS" pitchFamily="34" charset="-120"/>
              </a:rPr>
              <a:t>CNN-RNN</a:t>
            </a:r>
            <a:endParaRPr lang="en-US" sz="1500" dirty="0"/>
          </a:p>
        </p:txBody>
      </p:sp>
      <p:sp>
        <p:nvSpPr>
          <p:cNvPr id="19" name="Shape 16"/>
          <p:cNvSpPr/>
          <p:nvPr/>
        </p:nvSpPr>
        <p:spPr>
          <a:xfrm>
            <a:off x="3474720" y="3017520"/>
            <a:ext cx="2194560" cy="640080"/>
          </a:xfrm>
          <a:prstGeom prst="rect">
            <a:avLst/>
          </a:prstGeom>
          <a:solidFill>
            <a:srgbClr val="17A2B8">
              <a:alpha val="80000"/>
            </a:srgbClr>
          </a:solidFill>
          <a:ln w="19050">
            <a:solidFill>
              <a:srgbClr val="17A2B8"/>
            </a:solidFill>
            <a:prstDash val="solid"/>
          </a:ln>
        </p:spPr>
        <p:txBody>
          <a:bodyPr/>
          <a:lstStyle/>
          <a:p>
            <a:endParaRPr lang="en-US"/>
          </a:p>
        </p:txBody>
      </p:sp>
      <p:sp>
        <p:nvSpPr>
          <p:cNvPr id="20" name="Text 17"/>
          <p:cNvSpPr/>
          <p:nvPr/>
        </p:nvSpPr>
        <p:spPr>
          <a:xfrm>
            <a:off x="3474720" y="3017520"/>
            <a:ext cx="2194560" cy="640080"/>
          </a:xfrm>
          <a:prstGeom prst="rect">
            <a:avLst/>
          </a:prstGeom>
          <a:noFill/>
          <a:ln/>
        </p:spPr>
        <p:txBody>
          <a:bodyPr wrap="square" lIns="0" tIns="0" rIns="0" bIns="0" rtlCol="0" anchor="ctr"/>
          <a:lstStyle/>
          <a:p>
            <a:pPr marL="0" indent="0" algn="ctr">
              <a:buNone/>
            </a:pPr>
            <a:r>
              <a:rPr lang="en-US" sz="1500" b="1" dirty="0">
                <a:solidFill>
                  <a:srgbClr val="F8FAFC"/>
                </a:solidFill>
                <a:latin typeface="Trebuchet MS" pitchFamily="34" charset="0"/>
                <a:ea typeface="Trebuchet MS" pitchFamily="34" charset="-122"/>
                <a:cs typeface="Trebuchet MS" pitchFamily="34" charset="-120"/>
              </a:rPr>
              <a:t>CNN-GRU</a:t>
            </a:r>
            <a:endParaRPr lang="en-US" sz="1500" dirty="0"/>
          </a:p>
        </p:txBody>
      </p:sp>
      <p:sp>
        <p:nvSpPr>
          <p:cNvPr id="21" name="Shape 18"/>
          <p:cNvSpPr/>
          <p:nvPr/>
        </p:nvSpPr>
        <p:spPr>
          <a:xfrm>
            <a:off x="6035040" y="3017520"/>
            <a:ext cx="2194560" cy="640080"/>
          </a:xfrm>
          <a:prstGeom prst="rect">
            <a:avLst/>
          </a:prstGeom>
          <a:solidFill>
            <a:srgbClr val="17A2B8">
              <a:alpha val="80000"/>
            </a:srgbClr>
          </a:solidFill>
          <a:ln w="19050">
            <a:solidFill>
              <a:srgbClr val="17A2B8"/>
            </a:solidFill>
            <a:prstDash val="solid"/>
          </a:ln>
        </p:spPr>
        <p:txBody>
          <a:bodyPr/>
          <a:lstStyle/>
          <a:p>
            <a:endParaRPr lang="en-US"/>
          </a:p>
        </p:txBody>
      </p:sp>
      <p:sp>
        <p:nvSpPr>
          <p:cNvPr id="22" name="Text 19"/>
          <p:cNvSpPr/>
          <p:nvPr/>
        </p:nvSpPr>
        <p:spPr>
          <a:xfrm>
            <a:off x="6035040" y="3017520"/>
            <a:ext cx="2194560" cy="640080"/>
          </a:xfrm>
          <a:prstGeom prst="rect">
            <a:avLst/>
          </a:prstGeom>
          <a:noFill/>
          <a:ln/>
        </p:spPr>
        <p:txBody>
          <a:bodyPr wrap="square" lIns="0" tIns="0" rIns="0" bIns="0" rtlCol="0" anchor="ctr"/>
          <a:lstStyle/>
          <a:p>
            <a:pPr marL="0" indent="0" algn="ctr">
              <a:buNone/>
            </a:pPr>
            <a:r>
              <a:rPr lang="en-US" sz="1500" b="1" dirty="0">
                <a:solidFill>
                  <a:srgbClr val="F8FAFC"/>
                </a:solidFill>
                <a:latin typeface="Trebuchet MS" pitchFamily="34" charset="0"/>
                <a:ea typeface="Trebuchet MS" pitchFamily="34" charset="-122"/>
                <a:cs typeface="Trebuchet MS" pitchFamily="34" charset="-120"/>
              </a:rPr>
              <a:t>CNN-LSTM</a:t>
            </a:r>
            <a:endParaRPr lang="en-US" sz="1500" dirty="0"/>
          </a:p>
        </p:txBody>
      </p:sp>
      <p:sp>
        <p:nvSpPr>
          <p:cNvPr id="23" name="Text 20"/>
          <p:cNvSpPr/>
          <p:nvPr/>
        </p:nvSpPr>
        <p:spPr>
          <a:xfrm>
            <a:off x="731520" y="3931920"/>
            <a:ext cx="7680960" cy="274320"/>
          </a:xfrm>
          <a:prstGeom prst="rect">
            <a:avLst/>
          </a:prstGeom>
          <a:noFill/>
          <a:ln/>
        </p:spPr>
        <p:txBody>
          <a:bodyPr wrap="square" lIns="0" tIns="0" rIns="0" bIns="0" rtlCol="0" anchor="ctr"/>
          <a:lstStyle/>
          <a:p>
            <a:pPr marL="0" indent="0" algn="ctr">
              <a:buNone/>
            </a:pPr>
            <a:r>
              <a:rPr lang="en-US" sz="1100" kern="0" spc="200" dirty="0">
                <a:solidFill>
                  <a:srgbClr val="17A2B8"/>
                </a:solidFill>
                <a:latin typeface="Calibri" pitchFamily="34" charset="0"/>
                <a:ea typeface="Calibri" pitchFamily="34" charset="-122"/>
                <a:cs typeface="Calibri" pitchFamily="34" charset="-120"/>
              </a:rPr>
              <a:t>Models Compared</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F6FA"/>
        </a:solidFill>
        <a:effectLst/>
      </p:bgPr>
    </p:bg>
    <p:spTree>
      <p:nvGrpSpPr>
        <p:cNvPr id="1" name=""/>
        <p:cNvGrpSpPr/>
        <p:nvPr/>
      </p:nvGrpSpPr>
      <p:grpSpPr>
        <a:xfrm>
          <a:off x="0" y="0"/>
          <a:ext cx="0" cy="0"/>
          <a:chOff x="0" y="0"/>
          <a:chExt cx="0" cy="0"/>
        </a:xfrm>
      </p:grpSpPr>
      <p:sp>
        <p:nvSpPr>
          <p:cNvPr id="2" name="Text 0"/>
          <p:cNvSpPr/>
          <p:nvPr/>
        </p:nvSpPr>
        <p:spPr>
          <a:xfrm>
            <a:off x="731520" y="365760"/>
            <a:ext cx="914400" cy="457200"/>
          </a:xfrm>
          <a:prstGeom prst="rect">
            <a:avLst/>
          </a:prstGeom>
          <a:noFill/>
          <a:ln/>
        </p:spPr>
        <p:txBody>
          <a:bodyPr wrap="square" lIns="0" tIns="0" rIns="0" bIns="0" rtlCol="0" anchor="ctr"/>
          <a:lstStyle/>
          <a:p>
            <a:pPr marL="0" indent="0">
              <a:buNone/>
            </a:pPr>
            <a:r>
              <a:rPr lang="en-US" sz="3600" b="1" dirty="0">
                <a:solidFill>
                  <a:srgbClr val="17A2B8"/>
                </a:solidFill>
                <a:latin typeface="Trebuchet MS" pitchFamily="34" charset="0"/>
                <a:ea typeface="Trebuchet MS" pitchFamily="34" charset="-122"/>
                <a:cs typeface="Trebuchet MS" pitchFamily="34" charset="-120"/>
              </a:rPr>
              <a:t>06</a:t>
            </a:r>
            <a:endParaRPr lang="en-US" sz="3600" dirty="0"/>
          </a:p>
        </p:txBody>
      </p:sp>
      <p:sp>
        <p:nvSpPr>
          <p:cNvPr id="3" name="Text 1"/>
          <p:cNvSpPr/>
          <p:nvPr/>
        </p:nvSpPr>
        <p:spPr>
          <a:xfrm>
            <a:off x="1645920" y="384048"/>
            <a:ext cx="6400800" cy="457200"/>
          </a:xfrm>
          <a:prstGeom prst="rect">
            <a:avLst/>
          </a:prstGeom>
          <a:noFill/>
          <a:ln/>
        </p:spPr>
        <p:txBody>
          <a:bodyPr wrap="square" lIns="0" tIns="0" rIns="0" bIns="0" rtlCol="0" anchor="ctr"/>
          <a:lstStyle/>
          <a:p>
            <a:pPr marL="0" indent="0">
              <a:buNone/>
            </a:pPr>
            <a:r>
              <a:rPr lang="en-US" sz="2800" b="1" dirty="0">
                <a:solidFill>
                  <a:srgbClr val="1E293B"/>
                </a:solidFill>
                <a:latin typeface="Trebuchet MS" pitchFamily="34" charset="0"/>
                <a:ea typeface="Trebuchet MS" pitchFamily="34" charset="-122"/>
                <a:cs typeface="Trebuchet MS" pitchFamily="34" charset="-120"/>
              </a:rPr>
              <a:t>What the Decoder Does</a:t>
            </a:r>
            <a:endParaRPr lang="en-US" sz="2800" dirty="0"/>
          </a:p>
        </p:txBody>
      </p:sp>
      <p:sp>
        <p:nvSpPr>
          <p:cNvPr id="4" name="Shape 2"/>
          <p:cNvSpPr/>
          <p:nvPr/>
        </p:nvSpPr>
        <p:spPr>
          <a:xfrm>
            <a:off x="731520" y="1188720"/>
            <a:ext cx="4572000" cy="329184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a:p>
        </p:txBody>
      </p:sp>
      <p:sp>
        <p:nvSpPr>
          <p:cNvPr id="5" name="Text 3"/>
          <p:cNvSpPr/>
          <p:nvPr/>
        </p:nvSpPr>
        <p:spPr>
          <a:xfrm>
            <a:off x="1005840" y="1371600"/>
            <a:ext cx="4023360" cy="365760"/>
          </a:xfrm>
          <a:prstGeom prst="rect">
            <a:avLst/>
          </a:prstGeom>
          <a:noFill/>
          <a:ln/>
        </p:spPr>
        <p:txBody>
          <a:bodyPr wrap="square" lIns="0" tIns="0" rIns="0" bIns="0" rtlCol="0" anchor="ctr"/>
          <a:lstStyle/>
          <a:p>
            <a:pPr marL="0" indent="0">
              <a:buNone/>
            </a:pPr>
            <a:r>
              <a:rPr lang="en-US" sz="1500" b="1" dirty="0">
                <a:solidFill>
                  <a:srgbClr val="1E293B"/>
                </a:solidFill>
                <a:latin typeface="Trebuchet MS" pitchFamily="34" charset="0"/>
                <a:ea typeface="Trebuchet MS" pitchFamily="34" charset="-122"/>
                <a:cs typeface="Trebuchet MS" pitchFamily="34" charset="-120"/>
              </a:rPr>
              <a:t>Sequential Token Generation</a:t>
            </a:r>
            <a:endParaRPr lang="en-US" sz="1500" dirty="0"/>
          </a:p>
        </p:txBody>
      </p:sp>
      <p:sp>
        <p:nvSpPr>
          <p:cNvPr id="6" name="Text 4"/>
          <p:cNvSpPr/>
          <p:nvPr/>
        </p:nvSpPr>
        <p:spPr>
          <a:xfrm>
            <a:off x="1005840" y="1920240"/>
            <a:ext cx="4023360" cy="2286000"/>
          </a:xfrm>
          <a:prstGeom prst="rect">
            <a:avLst/>
          </a:prstGeom>
          <a:noFill/>
          <a:ln/>
        </p:spPr>
        <p:txBody>
          <a:bodyPr wrap="square" rtlCol="0" anchor="ctr"/>
          <a:lstStyle/>
          <a:p>
            <a:pPr marL="342900" indent="-342900">
              <a:lnSpc>
                <a:spcPct val="120000"/>
              </a:lnSpc>
              <a:spcAft>
                <a:spcPts val="600"/>
              </a:spcAft>
              <a:buSzPct val="100000"/>
              <a:buChar char="•"/>
            </a:pPr>
            <a:r>
              <a:rPr lang="en-US" sz="1200" dirty="0">
                <a:solidFill>
                  <a:srgbClr val="475569"/>
                </a:solidFill>
                <a:latin typeface="Calibri" pitchFamily="34" charset="0"/>
                <a:ea typeface="Calibri" pitchFamily="34" charset="-122"/>
                <a:cs typeface="Calibri" pitchFamily="34" charset="-120"/>
              </a:rPr>
              <a:t>Generates SMILES tokens one at a time</a:t>
            </a:r>
            <a:endParaRPr lang="en-US" sz="1200" dirty="0"/>
          </a:p>
          <a:p>
            <a:pPr marL="342900" indent="-342900">
              <a:lnSpc>
                <a:spcPct val="120000"/>
              </a:lnSpc>
              <a:spcAft>
                <a:spcPts val="600"/>
              </a:spcAft>
              <a:buSzPct val="100000"/>
              <a:buChar char="•"/>
            </a:pPr>
            <a:r>
              <a:rPr lang="en-US" sz="1200" dirty="0">
                <a:solidFill>
                  <a:srgbClr val="475569"/>
                </a:solidFill>
                <a:latin typeface="Calibri" pitchFamily="34" charset="0"/>
                <a:ea typeface="Calibri" pitchFamily="34" charset="-122"/>
                <a:cs typeface="Calibri" pitchFamily="34" charset="-120"/>
              </a:rPr>
              <a:t>Predicts next token based on:</a:t>
            </a:r>
            <a:endParaRPr lang="en-US" sz="1200" dirty="0"/>
          </a:p>
          <a:p>
            <a:pPr marL="685800" lvl="1" indent="-342900">
              <a:lnSpc>
                <a:spcPct val="120000"/>
              </a:lnSpc>
              <a:spcAft>
                <a:spcPts val="600"/>
              </a:spcAft>
              <a:buSzPct val="100000"/>
              <a:buChar char="•"/>
            </a:pPr>
            <a:r>
              <a:rPr lang="en-US" sz="1200" dirty="0">
                <a:solidFill>
                  <a:srgbClr val="475569"/>
                </a:solidFill>
                <a:latin typeface="Calibri" pitchFamily="34" charset="0"/>
                <a:ea typeface="Calibri" pitchFamily="34" charset="-122"/>
                <a:cs typeface="Calibri" pitchFamily="34" charset="-120"/>
              </a:rPr>
              <a:t>Image features from CNN encoder</a:t>
            </a:r>
            <a:endParaRPr lang="en-US" sz="1200" dirty="0"/>
          </a:p>
          <a:p>
            <a:pPr marL="685800" lvl="1" indent="-342900">
              <a:lnSpc>
                <a:spcPct val="120000"/>
              </a:lnSpc>
              <a:spcAft>
                <a:spcPts val="600"/>
              </a:spcAft>
              <a:buSzPct val="100000"/>
              <a:buChar char="•"/>
            </a:pPr>
            <a:r>
              <a:rPr lang="en-US" sz="1200" dirty="0">
                <a:solidFill>
                  <a:srgbClr val="475569"/>
                </a:solidFill>
                <a:latin typeface="Calibri" pitchFamily="34" charset="0"/>
                <a:ea typeface="Calibri" pitchFamily="34" charset="-122"/>
                <a:cs typeface="Calibri" pitchFamily="34" charset="-120"/>
              </a:rPr>
              <a:t>Previously generated tokens</a:t>
            </a:r>
            <a:endParaRPr lang="en-US" sz="1200" dirty="0"/>
          </a:p>
          <a:p>
            <a:pPr marL="685800" lvl="1" indent="-342900">
              <a:lnSpc>
                <a:spcPct val="120000"/>
              </a:lnSpc>
              <a:spcAft>
                <a:spcPts val="600"/>
              </a:spcAft>
              <a:buSzPct val="100000"/>
              <a:buChar char="•"/>
            </a:pPr>
            <a:r>
              <a:rPr lang="en-US" sz="1200" dirty="0">
                <a:solidFill>
                  <a:srgbClr val="475569"/>
                </a:solidFill>
                <a:latin typeface="Calibri" pitchFamily="34" charset="0"/>
                <a:ea typeface="Calibri" pitchFamily="34" charset="-122"/>
                <a:cs typeface="Calibri" pitchFamily="34" charset="-120"/>
              </a:rPr>
              <a:t>Current hidden state</a:t>
            </a:r>
            <a:endParaRPr lang="en-US" sz="1200" dirty="0"/>
          </a:p>
          <a:p>
            <a:pPr marL="342900" indent="-342900">
              <a:lnSpc>
                <a:spcPct val="120000"/>
              </a:lnSpc>
              <a:spcAft>
                <a:spcPts val="600"/>
              </a:spcAft>
              <a:buSzPct val="100000"/>
              <a:buChar char="•"/>
            </a:pPr>
            <a:r>
              <a:rPr lang="en-US" sz="1200" dirty="0">
                <a:solidFill>
                  <a:srgbClr val="475569"/>
                </a:solidFill>
                <a:latin typeface="Calibri" pitchFamily="34" charset="0"/>
                <a:ea typeface="Calibri" pitchFamily="34" charset="-122"/>
                <a:cs typeface="Calibri" pitchFamily="34" charset="-120"/>
              </a:rPr>
              <a:t>Must remember earlier structures (branches, rings) while generating remaining tokens</a:t>
            </a:r>
            <a:endParaRPr lang="en-US" sz="1200" dirty="0"/>
          </a:p>
        </p:txBody>
      </p:sp>
      <p:sp>
        <p:nvSpPr>
          <p:cNvPr id="7" name="Shape 5"/>
          <p:cNvSpPr/>
          <p:nvPr/>
        </p:nvSpPr>
        <p:spPr>
          <a:xfrm>
            <a:off x="5669280" y="1188720"/>
            <a:ext cx="2926080" cy="3291840"/>
          </a:xfrm>
          <a:prstGeom prst="rect">
            <a:avLst/>
          </a:prstGeom>
          <a:solidFill>
            <a:srgbClr val="0B1929"/>
          </a:solidFill>
          <a:ln/>
          <a:effectLst>
            <a:outerShdw blurRad="50800" dist="25400" dir="8100000" algn="bl" rotWithShape="0">
              <a:srgbClr val="000000">
                <a:alpha val="8000"/>
              </a:srgbClr>
            </a:outerShdw>
          </a:effectLst>
        </p:spPr>
        <p:txBody>
          <a:bodyPr/>
          <a:lstStyle/>
          <a:p>
            <a:endParaRPr lang="en-US"/>
          </a:p>
        </p:txBody>
      </p:sp>
      <p:pic>
        <p:nvPicPr>
          <p:cNvPr id="8" name="Image 0" descr="preencoded.png"/>
          <p:cNvPicPr>
            <a:picLocks noChangeAspect="1"/>
          </p:cNvPicPr>
          <p:nvPr/>
        </p:nvPicPr>
        <p:blipFill>
          <a:blip r:embed="rId3"/>
          <a:stretch>
            <a:fillRect/>
          </a:stretch>
        </p:blipFill>
        <p:spPr>
          <a:xfrm>
            <a:off x="6766560" y="1463040"/>
            <a:ext cx="731520" cy="731520"/>
          </a:xfrm>
          <a:prstGeom prst="rect">
            <a:avLst/>
          </a:prstGeom>
        </p:spPr>
      </p:pic>
      <p:sp>
        <p:nvSpPr>
          <p:cNvPr id="9" name="Text 6"/>
          <p:cNvSpPr/>
          <p:nvPr/>
        </p:nvSpPr>
        <p:spPr>
          <a:xfrm>
            <a:off x="5943600" y="2331720"/>
            <a:ext cx="2377440" cy="320040"/>
          </a:xfrm>
          <a:prstGeom prst="rect">
            <a:avLst/>
          </a:prstGeom>
          <a:noFill/>
          <a:ln/>
        </p:spPr>
        <p:txBody>
          <a:bodyPr wrap="square" lIns="0" tIns="0" rIns="0" bIns="0" rtlCol="0" anchor="ctr"/>
          <a:lstStyle/>
          <a:p>
            <a:pPr marL="0" indent="0" algn="ctr">
              <a:buNone/>
            </a:pPr>
            <a:r>
              <a:rPr lang="en-US" sz="1300" dirty="0">
                <a:solidFill>
                  <a:srgbClr val="17A2B8"/>
                </a:solidFill>
                <a:latin typeface="Trebuchet MS" pitchFamily="34" charset="0"/>
                <a:ea typeface="Trebuchet MS" pitchFamily="34" charset="-122"/>
                <a:cs typeface="Trebuchet MS" pitchFamily="34" charset="-120"/>
              </a:rPr>
              <a:t>Example Output</a:t>
            </a:r>
            <a:endParaRPr lang="en-US" sz="1300" dirty="0"/>
          </a:p>
        </p:txBody>
      </p:sp>
      <p:sp>
        <p:nvSpPr>
          <p:cNvPr id="10" name="Shape 7"/>
          <p:cNvSpPr/>
          <p:nvPr/>
        </p:nvSpPr>
        <p:spPr>
          <a:xfrm>
            <a:off x="5989320" y="2880360"/>
            <a:ext cx="365760" cy="365760"/>
          </a:xfrm>
          <a:prstGeom prst="rect">
            <a:avLst/>
          </a:prstGeom>
          <a:solidFill>
            <a:srgbClr val="1A3A5C"/>
          </a:solidFill>
          <a:ln/>
        </p:spPr>
        <p:txBody>
          <a:bodyPr/>
          <a:lstStyle/>
          <a:p>
            <a:endParaRPr lang="en-US"/>
          </a:p>
        </p:txBody>
      </p:sp>
      <p:sp>
        <p:nvSpPr>
          <p:cNvPr id="11" name="Text 8"/>
          <p:cNvSpPr/>
          <p:nvPr/>
        </p:nvSpPr>
        <p:spPr>
          <a:xfrm>
            <a:off x="5989320" y="2880360"/>
            <a:ext cx="365760" cy="365760"/>
          </a:xfrm>
          <a:prstGeom prst="rect">
            <a:avLst/>
          </a:prstGeom>
          <a:noFill/>
          <a:ln/>
        </p:spPr>
        <p:txBody>
          <a:bodyPr wrap="square" lIns="0" tIns="0" rIns="0" bIns="0" rtlCol="0" anchor="ctr"/>
          <a:lstStyle/>
          <a:p>
            <a:pPr marL="0" indent="0" algn="ctr">
              <a:buNone/>
            </a:pPr>
            <a:r>
              <a:rPr lang="en-US" sz="1100" dirty="0">
                <a:solidFill>
                  <a:srgbClr val="17A2B8"/>
                </a:solidFill>
                <a:latin typeface="Consolas" pitchFamily="34" charset="0"/>
                <a:ea typeface="Consolas" pitchFamily="34" charset="-122"/>
                <a:cs typeface="Consolas" pitchFamily="34" charset="-120"/>
              </a:rPr>
              <a:t>C</a:t>
            </a:r>
            <a:endParaRPr lang="en-US" sz="1100" dirty="0"/>
          </a:p>
        </p:txBody>
      </p:sp>
      <p:sp>
        <p:nvSpPr>
          <p:cNvPr id="12" name="Text 9"/>
          <p:cNvSpPr/>
          <p:nvPr/>
        </p:nvSpPr>
        <p:spPr>
          <a:xfrm>
            <a:off x="6355080" y="2880360"/>
            <a:ext cx="182880" cy="365760"/>
          </a:xfrm>
          <a:prstGeom prst="rect">
            <a:avLst/>
          </a:prstGeom>
          <a:noFill/>
          <a:ln/>
        </p:spPr>
        <p:txBody>
          <a:bodyPr wrap="square" lIns="0" tIns="0" rIns="0" bIns="0" rtlCol="0" anchor="ctr"/>
          <a:lstStyle/>
          <a:p>
            <a:pPr marL="0" indent="0" algn="ctr">
              <a:buNone/>
            </a:pPr>
            <a:r>
              <a:rPr lang="en-US" sz="1000" dirty="0">
                <a:solidFill>
                  <a:srgbClr val="F8FAFC"/>
                </a:solidFill>
                <a:latin typeface="Calibri" pitchFamily="34" charset="0"/>
                <a:ea typeface="Calibri" pitchFamily="34" charset="-122"/>
                <a:cs typeface="Calibri" pitchFamily="34" charset="-120"/>
              </a:rPr>
              <a:t>→</a:t>
            </a:r>
            <a:endParaRPr lang="en-US" sz="1000" dirty="0"/>
          </a:p>
        </p:txBody>
      </p:sp>
      <p:sp>
        <p:nvSpPr>
          <p:cNvPr id="13" name="Shape 10"/>
          <p:cNvSpPr/>
          <p:nvPr/>
        </p:nvSpPr>
        <p:spPr>
          <a:xfrm>
            <a:off x="6537960" y="2880360"/>
            <a:ext cx="365760" cy="365760"/>
          </a:xfrm>
          <a:prstGeom prst="rect">
            <a:avLst/>
          </a:prstGeom>
          <a:solidFill>
            <a:srgbClr val="1A3A5C"/>
          </a:solidFill>
          <a:ln/>
        </p:spPr>
        <p:txBody>
          <a:bodyPr/>
          <a:lstStyle/>
          <a:p>
            <a:endParaRPr lang="en-US"/>
          </a:p>
        </p:txBody>
      </p:sp>
      <p:sp>
        <p:nvSpPr>
          <p:cNvPr id="14" name="Text 11"/>
          <p:cNvSpPr/>
          <p:nvPr/>
        </p:nvSpPr>
        <p:spPr>
          <a:xfrm>
            <a:off x="6537960" y="2880360"/>
            <a:ext cx="365760" cy="365760"/>
          </a:xfrm>
          <a:prstGeom prst="rect">
            <a:avLst/>
          </a:prstGeom>
          <a:noFill/>
          <a:ln/>
        </p:spPr>
        <p:txBody>
          <a:bodyPr wrap="square" lIns="0" tIns="0" rIns="0" bIns="0" rtlCol="0" anchor="ctr"/>
          <a:lstStyle/>
          <a:p>
            <a:pPr marL="0" indent="0" algn="ctr">
              <a:buNone/>
            </a:pPr>
            <a:r>
              <a:rPr lang="en-US" sz="1100" dirty="0">
                <a:solidFill>
                  <a:srgbClr val="17A2B8"/>
                </a:solidFill>
                <a:latin typeface="Consolas" pitchFamily="34" charset="0"/>
                <a:ea typeface="Consolas" pitchFamily="34" charset="-122"/>
                <a:cs typeface="Consolas" pitchFamily="34" charset="-120"/>
              </a:rPr>
              <a:t>C</a:t>
            </a:r>
            <a:endParaRPr lang="en-US" sz="1100" dirty="0"/>
          </a:p>
        </p:txBody>
      </p:sp>
      <p:sp>
        <p:nvSpPr>
          <p:cNvPr id="15" name="Text 12"/>
          <p:cNvSpPr/>
          <p:nvPr/>
        </p:nvSpPr>
        <p:spPr>
          <a:xfrm>
            <a:off x="6903720" y="2880360"/>
            <a:ext cx="182880" cy="365760"/>
          </a:xfrm>
          <a:prstGeom prst="rect">
            <a:avLst/>
          </a:prstGeom>
          <a:noFill/>
          <a:ln/>
        </p:spPr>
        <p:txBody>
          <a:bodyPr wrap="square" lIns="0" tIns="0" rIns="0" bIns="0" rtlCol="0" anchor="ctr"/>
          <a:lstStyle/>
          <a:p>
            <a:pPr marL="0" indent="0" algn="ctr">
              <a:buNone/>
            </a:pPr>
            <a:r>
              <a:rPr lang="en-US" sz="1000" dirty="0">
                <a:solidFill>
                  <a:srgbClr val="F8FAFC"/>
                </a:solidFill>
                <a:latin typeface="Calibri" pitchFamily="34" charset="0"/>
                <a:ea typeface="Calibri" pitchFamily="34" charset="-122"/>
                <a:cs typeface="Calibri" pitchFamily="34" charset="-120"/>
              </a:rPr>
              <a:t>→</a:t>
            </a:r>
            <a:endParaRPr lang="en-US" sz="1000" dirty="0"/>
          </a:p>
        </p:txBody>
      </p:sp>
      <p:sp>
        <p:nvSpPr>
          <p:cNvPr id="16" name="Shape 13"/>
          <p:cNvSpPr/>
          <p:nvPr/>
        </p:nvSpPr>
        <p:spPr>
          <a:xfrm>
            <a:off x="7086600" y="2880360"/>
            <a:ext cx="365760" cy="365760"/>
          </a:xfrm>
          <a:prstGeom prst="rect">
            <a:avLst/>
          </a:prstGeom>
          <a:solidFill>
            <a:srgbClr val="1A3A5C"/>
          </a:solidFill>
          <a:ln/>
        </p:spPr>
        <p:txBody>
          <a:bodyPr/>
          <a:lstStyle/>
          <a:p>
            <a:endParaRPr lang="en-US"/>
          </a:p>
        </p:txBody>
      </p:sp>
      <p:sp>
        <p:nvSpPr>
          <p:cNvPr id="17" name="Text 14"/>
          <p:cNvSpPr/>
          <p:nvPr/>
        </p:nvSpPr>
        <p:spPr>
          <a:xfrm>
            <a:off x="7086600" y="2880360"/>
            <a:ext cx="365760" cy="365760"/>
          </a:xfrm>
          <a:prstGeom prst="rect">
            <a:avLst/>
          </a:prstGeom>
          <a:noFill/>
          <a:ln/>
        </p:spPr>
        <p:txBody>
          <a:bodyPr wrap="square" lIns="0" tIns="0" rIns="0" bIns="0" rtlCol="0" anchor="ctr"/>
          <a:lstStyle/>
          <a:p>
            <a:pPr marL="0" indent="0" algn="ctr">
              <a:buNone/>
            </a:pPr>
            <a:r>
              <a:rPr lang="en-US" sz="1100" dirty="0">
                <a:solidFill>
                  <a:srgbClr val="17A2B8"/>
                </a:solidFill>
                <a:latin typeface="Consolas" pitchFamily="34" charset="0"/>
                <a:ea typeface="Consolas" pitchFamily="34" charset="-122"/>
                <a:cs typeface="Consolas" pitchFamily="34" charset="-120"/>
              </a:rPr>
              <a:t>(</a:t>
            </a:r>
            <a:endParaRPr lang="en-US" sz="1100" dirty="0"/>
          </a:p>
        </p:txBody>
      </p:sp>
      <p:sp>
        <p:nvSpPr>
          <p:cNvPr id="18" name="Text 15"/>
          <p:cNvSpPr/>
          <p:nvPr/>
        </p:nvSpPr>
        <p:spPr>
          <a:xfrm>
            <a:off x="7452360" y="2880360"/>
            <a:ext cx="182880" cy="365760"/>
          </a:xfrm>
          <a:prstGeom prst="rect">
            <a:avLst/>
          </a:prstGeom>
          <a:noFill/>
          <a:ln/>
        </p:spPr>
        <p:txBody>
          <a:bodyPr wrap="square" lIns="0" tIns="0" rIns="0" bIns="0" rtlCol="0" anchor="ctr"/>
          <a:lstStyle/>
          <a:p>
            <a:pPr marL="0" indent="0" algn="ctr">
              <a:buNone/>
            </a:pPr>
            <a:r>
              <a:rPr lang="en-US" sz="1000" dirty="0">
                <a:solidFill>
                  <a:srgbClr val="F8FAFC"/>
                </a:solidFill>
                <a:latin typeface="Calibri" pitchFamily="34" charset="0"/>
                <a:ea typeface="Calibri" pitchFamily="34" charset="-122"/>
                <a:cs typeface="Calibri" pitchFamily="34" charset="-120"/>
              </a:rPr>
              <a:t>→</a:t>
            </a:r>
            <a:endParaRPr lang="en-US" sz="1000" dirty="0"/>
          </a:p>
        </p:txBody>
      </p:sp>
      <p:sp>
        <p:nvSpPr>
          <p:cNvPr id="19" name="Shape 16"/>
          <p:cNvSpPr/>
          <p:nvPr/>
        </p:nvSpPr>
        <p:spPr>
          <a:xfrm>
            <a:off x="7635240" y="2880360"/>
            <a:ext cx="365760" cy="365760"/>
          </a:xfrm>
          <a:prstGeom prst="rect">
            <a:avLst/>
          </a:prstGeom>
          <a:solidFill>
            <a:srgbClr val="1A3A5C"/>
          </a:solidFill>
          <a:ln/>
        </p:spPr>
        <p:txBody>
          <a:bodyPr/>
          <a:lstStyle/>
          <a:p>
            <a:endParaRPr lang="en-US"/>
          </a:p>
        </p:txBody>
      </p:sp>
      <p:sp>
        <p:nvSpPr>
          <p:cNvPr id="20" name="Text 17"/>
          <p:cNvSpPr/>
          <p:nvPr/>
        </p:nvSpPr>
        <p:spPr>
          <a:xfrm>
            <a:off x="7635240" y="2880360"/>
            <a:ext cx="365760" cy="365760"/>
          </a:xfrm>
          <a:prstGeom prst="rect">
            <a:avLst/>
          </a:prstGeom>
          <a:noFill/>
          <a:ln/>
        </p:spPr>
        <p:txBody>
          <a:bodyPr wrap="square" lIns="0" tIns="0" rIns="0" bIns="0" rtlCol="0" anchor="ctr"/>
          <a:lstStyle/>
          <a:p>
            <a:pPr marL="0" indent="0" algn="ctr">
              <a:buNone/>
            </a:pPr>
            <a:r>
              <a:rPr lang="en-US" sz="1100" dirty="0">
                <a:solidFill>
                  <a:srgbClr val="17A2B8"/>
                </a:solidFill>
                <a:latin typeface="Consolas" pitchFamily="34" charset="0"/>
                <a:ea typeface="Consolas" pitchFamily="34" charset="-122"/>
                <a:cs typeface="Consolas" pitchFamily="34" charset="-120"/>
              </a:rPr>
              <a:t>=O</a:t>
            </a:r>
            <a:endParaRPr lang="en-US" sz="1100" dirty="0"/>
          </a:p>
        </p:txBody>
      </p:sp>
      <p:sp>
        <p:nvSpPr>
          <p:cNvPr id="21" name="Text 18"/>
          <p:cNvSpPr/>
          <p:nvPr/>
        </p:nvSpPr>
        <p:spPr>
          <a:xfrm>
            <a:off x="8001000" y="2880360"/>
            <a:ext cx="182880" cy="365760"/>
          </a:xfrm>
          <a:prstGeom prst="rect">
            <a:avLst/>
          </a:prstGeom>
          <a:noFill/>
          <a:ln/>
        </p:spPr>
        <p:txBody>
          <a:bodyPr wrap="square" lIns="0" tIns="0" rIns="0" bIns="0" rtlCol="0" anchor="ctr"/>
          <a:lstStyle/>
          <a:p>
            <a:pPr marL="0" indent="0" algn="ctr">
              <a:buNone/>
            </a:pPr>
            <a:r>
              <a:rPr lang="en-US" sz="1000" dirty="0">
                <a:solidFill>
                  <a:srgbClr val="F8FAFC"/>
                </a:solidFill>
                <a:latin typeface="Calibri" pitchFamily="34" charset="0"/>
                <a:ea typeface="Calibri" pitchFamily="34" charset="-122"/>
                <a:cs typeface="Calibri" pitchFamily="34" charset="-120"/>
              </a:rPr>
              <a:t>→</a:t>
            </a:r>
            <a:endParaRPr lang="en-US" sz="1000" dirty="0"/>
          </a:p>
        </p:txBody>
      </p:sp>
      <p:sp>
        <p:nvSpPr>
          <p:cNvPr id="22" name="Shape 19"/>
          <p:cNvSpPr/>
          <p:nvPr/>
        </p:nvSpPr>
        <p:spPr>
          <a:xfrm>
            <a:off x="8183880" y="2880360"/>
            <a:ext cx="365760" cy="365760"/>
          </a:xfrm>
          <a:prstGeom prst="rect">
            <a:avLst/>
          </a:prstGeom>
          <a:solidFill>
            <a:srgbClr val="1A3A5C"/>
          </a:solidFill>
          <a:ln/>
        </p:spPr>
        <p:txBody>
          <a:bodyPr/>
          <a:lstStyle/>
          <a:p>
            <a:endParaRPr lang="en-US"/>
          </a:p>
        </p:txBody>
      </p:sp>
      <p:sp>
        <p:nvSpPr>
          <p:cNvPr id="23" name="Text 20"/>
          <p:cNvSpPr/>
          <p:nvPr/>
        </p:nvSpPr>
        <p:spPr>
          <a:xfrm>
            <a:off x="8183880" y="2880360"/>
            <a:ext cx="365760" cy="365760"/>
          </a:xfrm>
          <a:prstGeom prst="rect">
            <a:avLst/>
          </a:prstGeom>
          <a:noFill/>
          <a:ln/>
        </p:spPr>
        <p:txBody>
          <a:bodyPr wrap="square" lIns="0" tIns="0" rIns="0" bIns="0" rtlCol="0" anchor="ctr"/>
          <a:lstStyle/>
          <a:p>
            <a:pPr marL="0" indent="0" algn="ctr">
              <a:buNone/>
            </a:pPr>
            <a:r>
              <a:rPr lang="en-US" sz="1100" dirty="0">
                <a:solidFill>
                  <a:srgbClr val="17A2B8"/>
                </a:solidFill>
                <a:latin typeface="Consolas" pitchFamily="34" charset="0"/>
                <a:ea typeface="Consolas" pitchFamily="34" charset="-122"/>
                <a:cs typeface="Consolas" pitchFamily="34" charset="-120"/>
              </a:rPr>
              <a:t>)</a:t>
            </a:r>
            <a:endParaRPr lang="en-US" sz="1100" dirty="0"/>
          </a:p>
        </p:txBody>
      </p:sp>
      <p:sp>
        <p:nvSpPr>
          <p:cNvPr id="24" name="Text 21"/>
          <p:cNvSpPr/>
          <p:nvPr/>
        </p:nvSpPr>
        <p:spPr>
          <a:xfrm>
            <a:off x="8549640" y="2880360"/>
            <a:ext cx="182880" cy="365760"/>
          </a:xfrm>
          <a:prstGeom prst="rect">
            <a:avLst/>
          </a:prstGeom>
          <a:noFill/>
          <a:ln/>
        </p:spPr>
        <p:txBody>
          <a:bodyPr wrap="square" lIns="0" tIns="0" rIns="0" bIns="0" rtlCol="0" anchor="ctr"/>
          <a:lstStyle/>
          <a:p>
            <a:pPr marL="0" indent="0" algn="ctr">
              <a:buNone/>
            </a:pPr>
            <a:r>
              <a:rPr lang="en-US" sz="1000" dirty="0">
                <a:solidFill>
                  <a:srgbClr val="F8FAFC"/>
                </a:solidFill>
                <a:latin typeface="Calibri" pitchFamily="34" charset="0"/>
                <a:ea typeface="Calibri" pitchFamily="34" charset="-122"/>
                <a:cs typeface="Calibri" pitchFamily="34" charset="-120"/>
              </a:rPr>
              <a:t>→</a:t>
            </a:r>
            <a:endParaRPr lang="en-US" sz="1000" dirty="0"/>
          </a:p>
        </p:txBody>
      </p:sp>
      <p:sp>
        <p:nvSpPr>
          <p:cNvPr id="25" name="Shape 22"/>
          <p:cNvSpPr/>
          <p:nvPr/>
        </p:nvSpPr>
        <p:spPr>
          <a:xfrm>
            <a:off x="8732520" y="2880360"/>
            <a:ext cx="365760" cy="365760"/>
          </a:xfrm>
          <a:prstGeom prst="rect">
            <a:avLst/>
          </a:prstGeom>
          <a:solidFill>
            <a:srgbClr val="1A3A5C"/>
          </a:solidFill>
          <a:ln/>
        </p:spPr>
        <p:txBody>
          <a:bodyPr/>
          <a:lstStyle/>
          <a:p>
            <a:endParaRPr lang="en-US"/>
          </a:p>
        </p:txBody>
      </p:sp>
      <p:sp>
        <p:nvSpPr>
          <p:cNvPr id="26" name="Text 23"/>
          <p:cNvSpPr/>
          <p:nvPr/>
        </p:nvSpPr>
        <p:spPr>
          <a:xfrm>
            <a:off x="8732520" y="2880360"/>
            <a:ext cx="365760" cy="365760"/>
          </a:xfrm>
          <a:prstGeom prst="rect">
            <a:avLst/>
          </a:prstGeom>
          <a:noFill/>
          <a:ln/>
        </p:spPr>
        <p:txBody>
          <a:bodyPr wrap="square" lIns="0" tIns="0" rIns="0" bIns="0" rtlCol="0" anchor="ctr"/>
          <a:lstStyle/>
          <a:p>
            <a:pPr marL="0" indent="0" algn="ctr">
              <a:buNone/>
            </a:pPr>
            <a:r>
              <a:rPr lang="en-US" sz="1100" dirty="0">
                <a:solidFill>
                  <a:srgbClr val="17A2B8"/>
                </a:solidFill>
                <a:latin typeface="Consolas" pitchFamily="34" charset="0"/>
                <a:ea typeface="Consolas" pitchFamily="34" charset="-122"/>
                <a:cs typeface="Consolas" pitchFamily="34" charset="-120"/>
              </a:rPr>
              <a:t>O</a:t>
            </a:r>
            <a:endParaRPr lang="en-US" sz="1100" dirty="0"/>
          </a:p>
        </p:txBody>
      </p:sp>
      <p:sp>
        <p:nvSpPr>
          <p:cNvPr id="27" name="Text 24"/>
          <p:cNvSpPr/>
          <p:nvPr/>
        </p:nvSpPr>
        <p:spPr>
          <a:xfrm>
            <a:off x="5943600" y="3429000"/>
            <a:ext cx="2377440" cy="320040"/>
          </a:xfrm>
          <a:prstGeom prst="rect">
            <a:avLst/>
          </a:prstGeom>
          <a:noFill/>
          <a:ln/>
        </p:spPr>
        <p:txBody>
          <a:bodyPr wrap="square" lIns="0" tIns="0" rIns="0" bIns="0" rtlCol="0" anchor="ctr"/>
          <a:lstStyle/>
          <a:p>
            <a:pPr marL="0" indent="0" algn="ctr">
              <a:buNone/>
            </a:pPr>
            <a:r>
              <a:rPr lang="en-US" sz="1000" i="1" dirty="0">
                <a:solidFill>
                  <a:srgbClr val="F8FAFC"/>
                </a:solidFill>
                <a:latin typeface="Calibri" pitchFamily="34" charset="0"/>
                <a:ea typeface="Calibri" pitchFamily="34" charset="-122"/>
                <a:cs typeface="Calibri" pitchFamily="34" charset="-120"/>
              </a:rPr>
              <a:t>Acetic acid: CC(=O)O</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F6FA"/>
        </a:solidFill>
        <a:effectLst/>
      </p:bgPr>
    </p:bg>
    <p:spTree>
      <p:nvGrpSpPr>
        <p:cNvPr id="1" name=""/>
        <p:cNvGrpSpPr/>
        <p:nvPr/>
      </p:nvGrpSpPr>
      <p:grpSpPr>
        <a:xfrm>
          <a:off x="0" y="0"/>
          <a:ext cx="0" cy="0"/>
          <a:chOff x="0" y="0"/>
          <a:chExt cx="0" cy="0"/>
        </a:xfrm>
      </p:grpSpPr>
      <p:sp>
        <p:nvSpPr>
          <p:cNvPr id="2" name="Text 0"/>
          <p:cNvSpPr/>
          <p:nvPr/>
        </p:nvSpPr>
        <p:spPr>
          <a:xfrm>
            <a:off x="731520" y="365760"/>
            <a:ext cx="914400" cy="457200"/>
          </a:xfrm>
          <a:prstGeom prst="rect">
            <a:avLst/>
          </a:prstGeom>
          <a:noFill/>
          <a:ln/>
        </p:spPr>
        <p:txBody>
          <a:bodyPr wrap="square" lIns="0" tIns="0" rIns="0" bIns="0" rtlCol="0" anchor="ctr"/>
          <a:lstStyle/>
          <a:p>
            <a:pPr marL="0" indent="0">
              <a:buNone/>
            </a:pPr>
            <a:r>
              <a:rPr lang="en-US" sz="3600" b="1" dirty="0">
                <a:solidFill>
                  <a:srgbClr val="17A2B8"/>
                </a:solidFill>
                <a:latin typeface="Trebuchet MS" pitchFamily="34" charset="0"/>
                <a:ea typeface="Trebuchet MS" pitchFamily="34" charset="-122"/>
                <a:cs typeface="Trebuchet MS" pitchFamily="34" charset="-120"/>
              </a:rPr>
              <a:t>07</a:t>
            </a:r>
            <a:endParaRPr lang="en-US" sz="3600" dirty="0"/>
          </a:p>
        </p:txBody>
      </p:sp>
      <p:sp>
        <p:nvSpPr>
          <p:cNvPr id="3" name="Text 1"/>
          <p:cNvSpPr/>
          <p:nvPr/>
        </p:nvSpPr>
        <p:spPr>
          <a:xfrm>
            <a:off x="1645920" y="384048"/>
            <a:ext cx="6400800" cy="457200"/>
          </a:xfrm>
          <a:prstGeom prst="rect">
            <a:avLst/>
          </a:prstGeom>
          <a:noFill/>
          <a:ln/>
        </p:spPr>
        <p:txBody>
          <a:bodyPr wrap="square" lIns="0" tIns="0" rIns="0" bIns="0" rtlCol="0" anchor="ctr"/>
          <a:lstStyle/>
          <a:p>
            <a:pPr marL="0" indent="0">
              <a:buNone/>
            </a:pPr>
            <a:r>
              <a:rPr lang="en-US" sz="2800" b="1" dirty="0">
                <a:solidFill>
                  <a:srgbClr val="1E293B"/>
                </a:solidFill>
                <a:latin typeface="Trebuchet MS" pitchFamily="34" charset="0"/>
                <a:ea typeface="Trebuchet MS" pitchFamily="34" charset="-122"/>
                <a:cs typeface="Trebuchet MS" pitchFamily="34" charset="-120"/>
              </a:rPr>
              <a:t>RNN vs GRU vs LSTM</a:t>
            </a:r>
            <a:endParaRPr lang="en-US" sz="2800" dirty="0"/>
          </a:p>
        </p:txBody>
      </p:sp>
      <p:sp>
        <p:nvSpPr>
          <p:cNvPr id="4" name="Shape 2"/>
          <p:cNvSpPr/>
          <p:nvPr/>
        </p:nvSpPr>
        <p:spPr>
          <a:xfrm>
            <a:off x="731520" y="1188720"/>
            <a:ext cx="2468880" cy="310896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a:p>
        </p:txBody>
      </p:sp>
      <p:sp>
        <p:nvSpPr>
          <p:cNvPr id="5" name="Shape 3"/>
          <p:cNvSpPr/>
          <p:nvPr/>
        </p:nvSpPr>
        <p:spPr>
          <a:xfrm>
            <a:off x="731520" y="1188720"/>
            <a:ext cx="2468880" cy="731520"/>
          </a:xfrm>
          <a:prstGeom prst="rect">
            <a:avLst/>
          </a:prstGeom>
          <a:solidFill>
            <a:srgbClr val="1A3A5C"/>
          </a:solidFill>
          <a:ln/>
        </p:spPr>
        <p:txBody>
          <a:bodyPr/>
          <a:lstStyle/>
          <a:p>
            <a:endParaRPr lang="en-US"/>
          </a:p>
        </p:txBody>
      </p:sp>
      <p:sp>
        <p:nvSpPr>
          <p:cNvPr id="6" name="Text 4"/>
          <p:cNvSpPr/>
          <p:nvPr/>
        </p:nvSpPr>
        <p:spPr>
          <a:xfrm>
            <a:off x="731520" y="1188720"/>
            <a:ext cx="2468880" cy="457200"/>
          </a:xfrm>
          <a:prstGeom prst="rect">
            <a:avLst/>
          </a:prstGeom>
          <a:noFill/>
          <a:ln/>
        </p:spPr>
        <p:txBody>
          <a:bodyPr wrap="square" lIns="0" tIns="0" rIns="0" bIns="0" rtlCol="0" anchor="ctr"/>
          <a:lstStyle/>
          <a:p>
            <a:pPr marL="0" indent="0" algn="ctr">
              <a:buNone/>
            </a:pPr>
            <a:r>
              <a:rPr lang="en-US" sz="2000" b="1" dirty="0">
                <a:solidFill>
                  <a:srgbClr val="F8FAFC"/>
                </a:solidFill>
                <a:latin typeface="Trebuchet MS" pitchFamily="34" charset="0"/>
                <a:ea typeface="Trebuchet MS" pitchFamily="34" charset="-122"/>
                <a:cs typeface="Trebuchet MS" pitchFamily="34" charset="-120"/>
              </a:rPr>
              <a:t>RNN</a:t>
            </a:r>
            <a:endParaRPr lang="en-US" sz="2000" dirty="0"/>
          </a:p>
        </p:txBody>
      </p:sp>
      <p:sp>
        <p:nvSpPr>
          <p:cNvPr id="7" name="Text 5"/>
          <p:cNvSpPr/>
          <p:nvPr/>
        </p:nvSpPr>
        <p:spPr>
          <a:xfrm>
            <a:off x="731520" y="1600200"/>
            <a:ext cx="2468880" cy="274320"/>
          </a:xfrm>
          <a:prstGeom prst="rect">
            <a:avLst/>
          </a:prstGeom>
          <a:noFill/>
          <a:ln/>
        </p:spPr>
        <p:txBody>
          <a:bodyPr wrap="square" lIns="0" tIns="0" rIns="0" bIns="0" rtlCol="0" anchor="ctr"/>
          <a:lstStyle/>
          <a:p>
            <a:pPr marL="0" indent="0" algn="ctr">
              <a:buNone/>
            </a:pPr>
            <a:r>
              <a:rPr lang="en-US" sz="1000" dirty="0">
                <a:solidFill>
                  <a:srgbClr val="C8E6EC"/>
                </a:solidFill>
                <a:latin typeface="Calibri" pitchFamily="34" charset="0"/>
                <a:ea typeface="Calibri" pitchFamily="34" charset="-122"/>
                <a:cs typeface="Calibri" pitchFamily="34" charset="-120"/>
              </a:rPr>
              <a:t>Basic Sequence Memory</a:t>
            </a:r>
            <a:endParaRPr lang="en-US" sz="1000" dirty="0"/>
          </a:p>
        </p:txBody>
      </p:sp>
      <p:sp>
        <p:nvSpPr>
          <p:cNvPr id="8" name="Text 6"/>
          <p:cNvSpPr/>
          <p:nvPr/>
        </p:nvSpPr>
        <p:spPr>
          <a:xfrm>
            <a:off x="914400" y="2148840"/>
            <a:ext cx="2103120" cy="1920240"/>
          </a:xfrm>
          <a:prstGeom prst="rect">
            <a:avLst/>
          </a:prstGeom>
          <a:noFill/>
          <a:ln/>
        </p:spPr>
        <p:txBody>
          <a:bodyPr wrap="square" lIns="0" tIns="0" rIns="0" bIns="0" rtlCol="0" anchor="ctr"/>
          <a:lstStyle/>
          <a:p>
            <a:pPr marL="0" indent="0">
              <a:lnSpc>
                <a:spcPct val="135000"/>
              </a:lnSpc>
              <a:buNone/>
            </a:pPr>
            <a:r>
              <a:rPr lang="en-US" sz="1100" dirty="0">
                <a:solidFill>
                  <a:srgbClr val="475569"/>
                </a:solidFill>
                <a:latin typeface="Calibri" pitchFamily="34" charset="0"/>
                <a:ea typeface="Calibri" pitchFamily="34" charset="-122"/>
                <a:cs typeface="Calibri" pitchFamily="34" charset="-120"/>
              </a:rPr>
              <a:t>Maintains a single hidden state that is updated at each time step. Simple but can struggle with longer sequences due to vanishing gradients.</a:t>
            </a:r>
            <a:endParaRPr lang="en-US" sz="1100" dirty="0"/>
          </a:p>
        </p:txBody>
      </p:sp>
      <p:sp>
        <p:nvSpPr>
          <p:cNvPr id="9" name="Shape 7"/>
          <p:cNvSpPr/>
          <p:nvPr/>
        </p:nvSpPr>
        <p:spPr>
          <a:xfrm>
            <a:off x="3474720" y="1188720"/>
            <a:ext cx="2468880" cy="310896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a:p>
        </p:txBody>
      </p:sp>
      <p:sp>
        <p:nvSpPr>
          <p:cNvPr id="10" name="Shape 8"/>
          <p:cNvSpPr/>
          <p:nvPr/>
        </p:nvSpPr>
        <p:spPr>
          <a:xfrm>
            <a:off x="3474720" y="1188720"/>
            <a:ext cx="2468880" cy="731520"/>
          </a:xfrm>
          <a:prstGeom prst="rect">
            <a:avLst/>
          </a:prstGeom>
          <a:solidFill>
            <a:srgbClr val="17A2B8"/>
          </a:solidFill>
          <a:ln/>
        </p:spPr>
        <p:txBody>
          <a:bodyPr/>
          <a:lstStyle/>
          <a:p>
            <a:endParaRPr lang="en-US"/>
          </a:p>
        </p:txBody>
      </p:sp>
      <p:sp>
        <p:nvSpPr>
          <p:cNvPr id="11" name="Text 9"/>
          <p:cNvSpPr/>
          <p:nvPr/>
        </p:nvSpPr>
        <p:spPr>
          <a:xfrm>
            <a:off x="3474720" y="1188720"/>
            <a:ext cx="2468880" cy="457200"/>
          </a:xfrm>
          <a:prstGeom prst="rect">
            <a:avLst/>
          </a:prstGeom>
          <a:noFill/>
          <a:ln/>
        </p:spPr>
        <p:txBody>
          <a:bodyPr wrap="square" lIns="0" tIns="0" rIns="0" bIns="0" rtlCol="0" anchor="ctr"/>
          <a:lstStyle/>
          <a:p>
            <a:pPr marL="0" indent="0" algn="ctr">
              <a:buNone/>
            </a:pPr>
            <a:r>
              <a:rPr lang="en-US" sz="2000" b="1" dirty="0">
                <a:solidFill>
                  <a:srgbClr val="F8FAFC"/>
                </a:solidFill>
                <a:latin typeface="Trebuchet MS" pitchFamily="34" charset="0"/>
                <a:ea typeface="Trebuchet MS" pitchFamily="34" charset="-122"/>
                <a:cs typeface="Trebuchet MS" pitchFamily="34" charset="-120"/>
              </a:rPr>
              <a:t>GRU</a:t>
            </a:r>
            <a:endParaRPr lang="en-US" sz="2000" dirty="0"/>
          </a:p>
        </p:txBody>
      </p:sp>
      <p:sp>
        <p:nvSpPr>
          <p:cNvPr id="12" name="Text 10"/>
          <p:cNvSpPr/>
          <p:nvPr/>
        </p:nvSpPr>
        <p:spPr>
          <a:xfrm>
            <a:off x="3474720" y="1600200"/>
            <a:ext cx="2468880" cy="274320"/>
          </a:xfrm>
          <a:prstGeom prst="rect">
            <a:avLst/>
          </a:prstGeom>
          <a:noFill/>
          <a:ln/>
        </p:spPr>
        <p:txBody>
          <a:bodyPr wrap="square" lIns="0" tIns="0" rIns="0" bIns="0" rtlCol="0" anchor="ctr"/>
          <a:lstStyle/>
          <a:p>
            <a:pPr marL="0" indent="0" algn="ctr">
              <a:buNone/>
            </a:pPr>
            <a:r>
              <a:rPr lang="en-US" sz="1000" dirty="0">
                <a:solidFill>
                  <a:srgbClr val="C8E6EC"/>
                </a:solidFill>
                <a:latin typeface="Calibri" pitchFamily="34" charset="0"/>
                <a:ea typeface="Calibri" pitchFamily="34" charset="-122"/>
                <a:cs typeface="Calibri" pitchFamily="34" charset="-120"/>
              </a:rPr>
              <a:t>Gated Recurrent Unit</a:t>
            </a:r>
            <a:endParaRPr lang="en-US" sz="1000" dirty="0"/>
          </a:p>
        </p:txBody>
      </p:sp>
      <p:sp>
        <p:nvSpPr>
          <p:cNvPr id="13" name="Text 11"/>
          <p:cNvSpPr/>
          <p:nvPr/>
        </p:nvSpPr>
        <p:spPr>
          <a:xfrm>
            <a:off x="3657600" y="2148840"/>
            <a:ext cx="2103120" cy="1920240"/>
          </a:xfrm>
          <a:prstGeom prst="rect">
            <a:avLst/>
          </a:prstGeom>
          <a:noFill/>
          <a:ln/>
        </p:spPr>
        <p:txBody>
          <a:bodyPr wrap="square" lIns="0" tIns="0" rIns="0" bIns="0" rtlCol="0" anchor="ctr"/>
          <a:lstStyle/>
          <a:p>
            <a:pPr marL="0" indent="0">
              <a:lnSpc>
                <a:spcPct val="135000"/>
              </a:lnSpc>
              <a:buNone/>
            </a:pPr>
            <a:r>
              <a:rPr lang="en-US" sz="1100" dirty="0">
                <a:solidFill>
                  <a:srgbClr val="475569"/>
                </a:solidFill>
                <a:latin typeface="Calibri" pitchFamily="34" charset="0"/>
                <a:ea typeface="Calibri" pitchFamily="34" charset="-122"/>
                <a:cs typeface="Calibri" pitchFamily="34" charset="-120"/>
              </a:rPr>
              <a:t>Uses update and reset gates to control information flow. The update gate determines how much past information to keep; the reset gate controls past information in new state.</a:t>
            </a:r>
            <a:endParaRPr lang="en-US" sz="1100" dirty="0"/>
          </a:p>
        </p:txBody>
      </p:sp>
      <p:sp>
        <p:nvSpPr>
          <p:cNvPr id="14" name="Shape 12"/>
          <p:cNvSpPr/>
          <p:nvPr/>
        </p:nvSpPr>
        <p:spPr>
          <a:xfrm>
            <a:off x="6217920" y="1188720"/>
            <a:ext cx="2468880" cy="310896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a:p>
        </p:txBody>
      </p:sp>
      <p:sp>
        <p:nvSpPr>
          <p:cNvPr id="15" name="Shape 13"/>
          <p:cNvSpPr/>
          <p:nvPr/>
        </p:nvSpPr>
        <p:spPr>
          <a:xfrm>
            <a:off x="6217920" y="1188720"/>
            <a:ext cx="2468880" cy="731520"/>
          </a:xfrm>
          <a:prstGeom prst="rect">
            <a:avLst/>
          </a:prstGeom>
          <a:solidFill>
            <a:srgbClr val="0D8A9E"/>
          </a:solidFill>
          <a:ln/>
        </p:spPr>
        <p:txBody>
          <a:bodyPr/>
          <a:lstStyle/>
          <a:p>
            <a:endParaRPr lang="en-US"/>
          </a:p>
        </p:txBody>
      </p:sp>
      <p:sp>
        <p:nvSpPr>
          <p:cNvPr id="16" name="Text 14"/>
          <p:cNvSpPr/>
          <p:nvPr/>
        </p:nvSpPr>
        <p:spPr>
          <a:xfrm>
            <a:off x="6217920" y="1188720"/>
            <a:ext cx="2468880" cy="457200"/>
          </a:xfrm>
          <a:prstGeom prst="rect">
            <a:avLst/>
          </a:prstGeom>
          <a:noFill/>
          <a:ln/>
        </p:spPr>
        <p:txBody>
          <a:bodyPr wrap="square" lIns="0" tIns="0" rIns="0" bIns="0" rtlCol="0" anchor="ctr"/>
          <a:lstStyle/>
          <a:p>
            <a:pPr marL="0" indent="0" algn="ctr">
              <a:buNone/>
            </a:pPr>
            <a:r>
              <a:rPr lang="en-US" sz="2000" b="1" dirty="0">
                <a:solidFill>
                  <a:srgbClr val="F8FAFC"/>
                </a:solidFill>
                <a:latin typeface="Trebuchet MS" pitchFamily="34" charset="0"/>
                <a:ea typeface="Trebuchet MS" pitchFamily="34" charset="-122"/>
                <a:cs typeface="Trebuchet MS" pitchFamily="34" charset="-120"/>
              </a:rPr>
              <a:t>LSTM</a:t>
            </a:r>
            <a:endParaRPr lang="en-US" sz="2000" dirty="0"/>
          </a:p>
        </p:txBody>
      </p:sp>
      <p:sp>
        <p:nvSpPr>
          <p:cNvPr id="17" name="Text 15"/>
          <p:cNvSpPr/>
          <p:nvPr/>
        </p:nvSpPr>
        <p:spPr>
          <a:xfrm>
            <a:off x="6217920" y="1600200"/>
            <a:ext cx="2468880" cy="274320"/>
          </a:xfrm>
          <a:prstGeom prst="rect">
            <a:avLst/>
          </a:prstGeom>
          <a:noFill/>
          <a:ln/>
        </p:spPr>
        <p:txBody>
          <a:bodyPr wrap="square" lIns="0" tIns="0" rIns="0" bIns="0" rtlCol="0" anchor="ctr"/>
          <a:lstStyle/>
          <a:p>
            <a:pPr marL="0" indent="0" algn="ctr">
              <a:buNone/>
            </a:pPr>
            <a:r>
              <a:rPr lang="en-US" sz="1000" dirty="0">
                <a:solidFill>
                  <a:srgbClr val="C8E6EC"/>
                </a:solidFill>
                <a:latin typeface="Calibri" pitchFamily="34" charset="0"/>
                <a:ea typeface="Calibri" pitchFamily="34" charset="-122"/>
                <a:cs typeface="Calibri" pitchFamily="34" charset="-120"/>
              </a:rPr>
              <a:t>Long Short-Term Memory</a:t>
            </a:r>
            <a:endParaRPr lang="en-US" sz="1000" dirty="0"/>
          </a:p>
        </p:txBody>
      </p:sp>
      <p:sp>
        <p:nvSpPr>
          <p:cNvPr id="18" name="Text 16"/>
          <p:cNvSpPr/>
          <p:nvPr/>
        </p:nvSpPr>
        <p:spPr>
          <a:xfrm>
            <a:off x="6400800" y="2148840"/>
            <a:ext cx="2103120" cy="1920240"/>
          </a:xfrm>
          <a:prstGeom prst="rect">
            <a:avLst/>
          </a:prstGeom>
          <a:noFill/>
          <a:ln/>
        </p:spPr>
        <p:txBody>
          <a:bodyPr wrap="square" lIns="0" tIns="0" rIns="0" bIns="0" rtlCol="0" anchor="ctr"/>
          <a:lstStyle/>
          <a:p>
            <a:pPr marL="0" indent="0">
              <a:lnSpc>
                <a:spcPct val="135000"/>
              </a:lnSpc>
              <a:buNone/>
            </a:pPr>
            <a:r>
              <a:rPr lang="en-US" sz="1100" dirty="0">
                <a:solidFill>
                  <a:srgbClr val="475569"/>
                </a:solidFill>
                <a:latin typeface="Calibri" pitchFamily="34" charset="0"/>
                <a:ea typeface="Calibri" pitchFamily="34" charset="-122"/>
                <a:cs typeface="Calibri" pitchFamily="34" charset="-120"/>
              </a:rPr>
              <a:t>Uses a memory cell with input, forget, and output gates. More complex architecture provides better handling of long-range dependencies in sequences.</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F6FA"/>
        </a:solidFill>
        <a:effectLst/>
      </p:bgPr>
    </p:bg>
    <p:spTree>
      <p:nvGrpSpPr>
        <p:cNvPr id="1" name=""/>
        <p:cNvGrpSpPr/>
        <p:nvPr/>
      </p:nvGrpSpPr>
      <p:grpSpPr>
        <a:xfrm>
          <a:off x="0" y="0"/>
          <a:ext cx="0" cy="0"/>
          <a:chOff x="0" y="0"/>
          <a:chExt cx="0" cy="0"/>
        </a:xfrm>
      </p:grpSpPr>
      <p:sp>
        <p:nvSpPr>
          <p:cNvPr id="2" name="Text 0"/>
          <p:cNvSpPr/>
          <p:nvPr/>
        </p:nvSpPr>
        <p:spPr>
          <a:xfrm>
            <a:off x="731520" y="365760"/>
            <a:ext cx="914400" cy="457200"/>
          </a:xfrm>
          <a:prstGeom prst="rect">
            <a:avLst/>
          </a:prstGeom>
          <a:noFill/>
          <a:ln/>
        </p:spPr>
        <p:txBody>
          <a:bodyPr wrap="square" lIns="0" tIns="0" rIns="0" bIns="0" rtlCol="0" anchor="ctr"/>
          <a:lstStyle/>
          <a:p>
            <a:pPr marL="0" indent="0">
              <a:buNone/>
            </a:pPr>
            <a:r>
              <a:rPr lang="en-US" sz="3600" b="1" dirty="0">
                <a:solidFill>
                  <a:srgbClr val="17A2B8"/>
                </a:solidFill>
                <a:latin typeface="Trebuchet MS" pitchFamily="34" charset="0"/>
                <a:ea typeface="Trebuchet MS" pitchFamily="34" charset="-122"/>
                <a:cs typeface="Trebuchet MS" pitchFamily="34" charset="-120"/>
              </a:rPr>
              <a:t>08</a:t>
            </a:r>
            <a:endParaRPr lang="en-US" sz="3600" dirty="0"/>
          </a:p>
        </p:txBody>
      </p:sp>
      <p:sp>
        <p:nvSpPr>
          <p:cNvPr id="3" name="Text 1"/>
          <p:cNvSpPr/>
          <p:nvPr/>
        </p:nvSpPr>
        <p:spPr>
          <a:xfrm>
            <a:off x="1645920" y="384048"/>
            <a:ext cx="6400800" cy="457200"/>
          </a:xfrm>
          <a:prstGeom prst="rect">
            <a:avLst/>
          </a:prstGeom>
          <a:noFill/>
          <a:ln/>
        </p:spPr>
        <p:txBody>
          <a:bodyPr wrap="square" lIns="0" tIns="0" rIns="0" bIns="0" rtlCol="0" anchor="ctr"/>
          <a:lstStyle/>
          <a:p>
            <a:pPr marL="0" indent="0">
              <a:buNone/>
            </a:pPr>
            <a:r>
              <a:rPr lang="en-US" sz="2800" b="1" dirty="0">
                <a:solidFill>
                  <a:srgbClr val="1E293B"/>
                </a:solidFill>
                <a:latin typeface="Trebuchet MS" pitchFamily="34" charset="0"/>
                <a:ea typeface="Trebuchet MS" pitchFamily="34" charset="-122"/>
                <a:cs typeface="Trebuchet MS" pitchFamily="34" charset="-120"/>
              </a:rPr>
              <a:t>Datasets</a:t>
            </a:r>
            <a:endParaRPr lang="en-US" sz="2800" dirty="0"/>
          </a:p>
        </p:txBody>
      </p:sp>
      <p:sp>
        <p:nvSpPr>
          <p:cNvPr id="4" name="Shape 2"/>
          <p:cNvSpPr/>
          <p:nvPr/>
        </p:nvSpPr>
        <p:spPr>
          <a:xfrm>
            <a:off x="731520" y="1143000"/>
            <a:ext cx="4937760" cy="91440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a:p>
        </p:txBody>
      </p:sp>
      <p:sp>
        <p:nvSpPr>
          <p:cNvPr id="5" name="Shape 3"/>
          <p:cNvSpPr/>
          <p:nvPr/>
        </p:nvSpPr>
        <p:spPr>
          <a:xfrm>
            <a:off x="914400" y="1325880"/>
            <a:ext cx="502920" cy="502920"/>
          </a:xfrm>
          <a:prstGeom prst="ellipse">
            <a:avLst/>
          </a:prstGeom>
          <a:solidFill>
            <a:srgbClr val="17A2B8"/>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1005840" y="1417320"/>
            <a:ext cx="320040" cy="320040"/>
          </a:xfrm>
          <a:prstGeom prst="rect">
            <a:avLst/>
          </a:prstGeom>
        </p:spPr>
      </p:pic>
      <p:sp>
        <p:nvSpPr>
          <p:cNvPr id="7" name="Text 4"/>
          <p:cNvSpPr/>
          <p:nvPr/>
        </p:nvSpPr>
        <p:spPr>
          <a:xfrm>
            <a:off x="1600200" y="1252728"/>
            <a:ext cx="2286000" cy="320040"/>
          </a:xfrm>
          <a:prstGeom prst="rect">
            <a:avLst/>
          </a:prstGeom>
          <a:noFill/>
          <a:ln/>
        </p:spPr>
        <p:txBody>
          <a:bodyPr wrap="square" lIns="0" tIns="0" rIns="0" bIns="0" rtlCol="0" anchor="ctr"/>
          <a:lstStyle/>
          <a:p>
            <a:pPr marL="0" indent="0">
              <a:buNone/>
            </a:pPr>
            <a:r>
              <a:rPr lang="en-US" sz="1400" b="1" dirty="0">
                <a:solidFill>
                  <a:srgbClr val="1E293B"/>
                </a:solidFill>
                <a:latin typeface="Trebuchet MS" pitchFamily="34" charset="0"/>
                <a:ea typeface="Trebuchet MS" pitchFamily="34" charset="-122"/>
                <a:cs typeface="Trebuchet MS" pitchFamily="34" charset="-120"/>
              </a:rPr>
              <a:t>PubChem</a:t>
            </a:r>
            <a:endParaRPr lang="en-US" sz="1400" dirty="0"/>
          </a:p>
        </p:txBody>
      </p:sp>
      <p:sp>
        <p:nvSpPr>
          <p:cNvPr id="8" name="Text 5"/>
          <p:cNvSpPr/>
          <p:nvPr/>
        </p:nvSpPr>
        <p:spPr>
          <a:xfrm>
            <a:off x="3657600" y="1252728"/>
            <a:ext cx="1828800" cy="320040"/>
          </a:xfrm>
          <a:prstGeom prst="rect">
            <a:avLst/>
          </a:prstGeom>
          <a:noFill/>
          <a:ln/>
        </p:spPr>
        <p:txBody>
          <a:bodyPr wrap="square" lIns="0" tIns="0" rIns="0" bIns="0" rtlCol="0" anchor="ctr"/>
          <a:lstStyle/>
          <a:p>
            <a:pPr marL="0" indent="0" algn="r">
              <a:buNone/>
            </a:pPr>
            <a:r>
              <a:rPr lang="en-US" sz="1000" dirty="0">
                <a:solidFill>
                  <a:srgbClr val="17A2B8"/>
                </a:solidFill>
                <a:latin typeface="Calibri" pitchFamily="34" charset="0"/>
                <a:ea typeface="Calibri" pitchFamily="34" charset="-122"/>
                <a:cs typeface="Calibri" pitchFamily="34" charset="-120"/>
              </a:rPr>
              <a:t>Training &amp; Internal Testing</a:t>
            </a:r>
            <a:endParaRPr lang="en-US" sz="1000" dirty="0"/>
          </a:p>
        </p:txBody>
      </p:sp>
      <p:sp>
        <p:nvSpPr>
          <p:cNvPr id="9" name="Text 6"/>
          <p:cNvSpPr/>
          <p:nvPr/>
        </p:nvSpPr>
        <p:spPr>
          <a:xfrm>
            <a:off x="1600200" y="1600200"/>
            <a:ext cx="3840480" cy="320040"/>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400 images generated from SMILES via RDKit</a:t>
            </a:r>
            <a:endParaRPr lang="en-US" sz="1100" dirty="0"/>
          </a:p>
        </p:txBody>
      </p:sp>
      <p:sp>
        <p:nvSpPr>
          <p:cNvPr id="10" name="Shape 7"/>
          <p:cNvSpPr/>
          <p:nvPr/>
        </p:nvSpPr>
        <p:spPr>
          <a:xfrm>
            <a:off x="731520" y="2194560"/>
            <a:ext cx="4937760" cy="91440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a:p>
        </p:txBody>
      </p:sp>
      <p:sp>
        <p:nvSpPr>
          <p:cNvPr id="11" name="Shape 8"/>
          <p:cNvSpPr/>
          <p:nvPr/>
        </p:nvSpPr>
        <p:spPr>
          <a:xfrm>
            <a:off x="914400" y="2377440"/>
            <a:ext cx="502920" cy="502920"/>
          </a:xfrm>
          <a:prstGeom prst="ellipse">
            <a:avLst/>
          </a:prstGeom>
          <a:solidFill>
            <a:srgbClr val="17A2B8"/>
          </a:solidFill>
          <a:ln/>
        </p:spPr>
        <p:txBody>
          <a:bodyPr/>
          <a:lstStyle/>
          <a:p>
            <a:endParaRPr lang="en-US"/>
          </a:p>
        </p:txBody>
      </p:sp>
      <p:pic>
        <p:nvPicPr>
          <p:cNvPr id="12" name="Image 1" descr="preencoded.png"/>
          <p:cNvPicPr>
            <a:picLocks noChangeAspect="1"/>
          </p:cNvPicPr>
          <p:nvPr/>
        </p:nvPicPr>
        <p:blipFill>
          <a:blip r:embed="rId3"/>
          <a:stretch>
            <a:fillRect/>
          </a:stretch>
        </p:blipFill>
        <p:spPr>
          <a:xfrm>
            <a:off x="1005840" y="2468880"/>
            <a:ext cx="320040" cy="320040"/>
          </a:xfrm>
          <a:prstGeom prst="rect">
            <a:avLst/>
          </a:prstGeom>
        </p:spPr>
      </p:pic>
      <p:sp>
        <p:nvSpPr>
          <p:cNvPr id="13" name="Text 9"/>
          <p:cNvSpPr/>
          <p:nvPr/>
        </p:nvSpPr>
        <p:spPr>
          <a:xfrm>
            <a:off x="1600200" y="2304288"/>
            <a:ext cx="2286000" cy="320040"/>
          </a:xfrm>
          <a:prstGeom prst="rect">
            <a:avLst/>
          </a:prstGeom>
          <a:noFill/>
          <a:ln/>
        </p:spPr>
        <p:txBody>
          <a:bodyPr wrap="square" lIns="0" tIns="0" rIns="0" bIns="0" rtlCol="0" anchor="ctr"/>
          <a:lstStyle/>
          <a:p>
            <a:pPr marL="0" indent="0">
              <a:buNone/>
            </a:pPr>
            <a:r>
              <a:rPr lang="en-US" sz="1400" b="1" dirty="0">
                <a:solidFill>
                  <a:srgbClr val="1E293B"/>
                </a:solidFill>
                <a:latin typeface="Trebuchet MS" pitchFamily="34" charset="0"/>
                <a:ea typeface="Trebuchet MS" pitchFamily="34" charset="-122"/>
                <a:cs typeface="Trebuchet MS" pitchFamily="34" charset="-120"/>
              </a:rPr>
              <a:t>EPA CompTox</a:t>
            </a:r>
            <a:endParaRPr lang="en-US" sz="1400" dirty="0"/>
          </a:p>
        </p:txBody>
      </p:sp>
      <p:sp>
        <p:nvSpPr>
          <p:cNvPr id="14" name="Text 10"/>
          <p:cNvSpPr/>
          <p:nvPr/>
        </p:nvSpPr>
        <p:spPr>
          <a:xfrm>
            <a:off x="3657600" y="2304288"/>
            <a:ext cx="1828800" cy="320040"/>
          </a:xfrm>
          <a:prstGeom prst="rect">
            <a:avLst/>
          </a:prstGeom>
          <a:noFill/>
          <a:ln/>
        </p:spPr>
        <p:txBody>
          <a:bodyPr wrap="square" lIns="0" tIns="0" rIns="0" bIns="0" rtlCol="0" anchor="ctr"/>
          <a:lstStyle/>
          <a:p>
            <a:pPr marL="0" indent="0" algn="r">
              <a:buNone/>
            </a:pPr>
            <a:r>
              <a:rPr lang="en-US" sz="1000" dirty="0">
                <a:solidFill>
                  <a:srgbClr val="17A2B8"/>
                </a:solidFill>
                <a:latin typeface="Calibri" pitchFamily="34" charset="0"/>
                <a:ea typeface="Calibri" pitchFamily="34" charset="-122"/>
                <a:cs typeface="Calibri" pitchFamily="34" charset="-120"/>
              </a:rPr>
              <a:t>External Testing</a:t>
            </a:r>
            <a:endParaRPr lang="en-US" sz="1000" dirty="0"/>
          </a:p>
        </p:txBody>
      </p:sp>
      <p:sp>
        <p:nvSpPr>
          <p:cNvPr id="15" name="Text 11"/>
          <p:cNvSpPr/>
          <p:nvPr/>
        </p:nvSpPr>
        <p:spPr>
          <a:xfrm>
            <a:off x="1600200" y="2651760"/>
            <a:ext cx="3840480" cy="320040"/>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External chemical source for cross-domain evaluation</a:t>
            </a:r>
            <a:endParaRPr lang="en-US" sz="1100" dirty="0"/>
          </a:p>
        </p:txBody>
      </p:sp>
      <p:sp>
        <p:nvSpPr>
          <p:cNvPr id="16" name="Shape 12"/>
          <p:cNvSpPr/>
          <p:nvPr/>
        </p:nvSpPr>
        <p:spPr>
          <a:xfrm>
            <a:off x="731520" y="3246120"/>
            <a:ext cx="4937760" cy="91440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a:p>
        </p:txBody>
      </p:sp>
      <p:sp>
        <p:nvSpPr>
          <p:cNvPr id="17" name="Shape 13"/>
          <p:cNvSpPr/>
          <p:nvPr/>
        </p:nvSpPr>
        <p:spPr>
          <a:xfrm>
            <a:off x="914400" y="3429000"/>
            <a:ext cx="502920" cy="502920"/>
          </a:xfrm>
          <a:prstGeom prst="ellipse">
            <a:avLst/>
          </a:prstGeom>
          <a:solidFill>
            <a:srgbClr val="17A2B8"/>
          </a:solidFill>
          <a:ln/>
        </p:spPr>
        <p:txBody>
          <a:bodyPr/>
          <a:lstStyle/>
          <a:p>
            <a:endParaRPr lang="en-US"/>
          </a:p>
        </p:txBody>
      </p:sp>
      <p:pic>
        <p:nvPicPr>
          <p:cNvPr id="18" name="Image 2" descr="preencoded.png"/>
          <p:cNvPicPr>
            <a:picLocks noChangeAspect="1"/>
          </p:cNvPicPr>
          <p:nvPr/>
        </p:nvPicPr>
        <p:blipFill>
          <a:blip r:embed="rId3"/>
          <a:stretch>
            <a:fillRect/>
          </a:stretch>
        </p:blipFill>
        <p:spPr>
          <a:xfrm>
            <a:off x="1005840" y="3520440"/>
            <a:ext cx="320040" cy="320040"/>
          </a:xfrm>
          <a:prstGeom prst="rect">
            <a:avLst/>
          </a:prstGeom>
        </p:spPr>
      </p:pic>
      <p:sp>
        <p:nvSpPr>
          <p:cNvPr id="19" name="Text 14"/>
          <p:cNvSpPr/>
          <p:nvPr/>
        </p:nvSpPr>
        <p:spPr>
          <a:xfrm>
            <a:off x="1600200" y="3355848"/>
            <a:ext cx="2286000" cy="320040"/>
          </a:xfrm>
          <a:prstGeom prst="rect">
            <a:avLst/>
          </a:prstGeom>
          <a:noFill/>
          <a:ln/>
        </p:spPr>
        <p:txBody>
          <a:bodyPr wrap="square" lIns="0" tIns="0" rIns="0" bIns="0" rtlCol="0" anchor="ctr"/>
          <a:lstStyle/>
          <a:p>
            <a:pPr marL="0" indent="0">
              <a:buNone/>
            </a:pPr>
            <a:r>
              <a:rPr lang="en-US" sz="1400" b="1" dirty="0">
                <a:solidFill>
                  <a:srgbClr val="1E293B"/>
                </a:solidFill>
                <a:latin typeface="Trebuchet MS" pitchFamily="34" charset="0"/>
                <a:ea typeface="Trebuchet MS" pitchFamily="34" charset="-122"/>
                <a:cs typeface="Trebuchet MS" pitchFamily="34" charset="-120"/>
              </a:rPr>
              <a:t>DECIMER</a:t>
            </a:r>
            <a:endParaRPr lang="en-US" sz="1400" dirty="0"/>
          </a:p>
        </p:txBody>
      </p:sp>
      <p:sp>
        <p:nvSpPr>
          <p:cNvPr id="20" name="Text 15"/>
          <p:cNvSpPr/>
          <p:nvPr/>
        </p:nvSpPr>
        <p:spPr>
          <a:xfrm>
            <a:off x="3657600" y="3355848"/>
            <a:ext cx="1828800" cy="320040"/>
          </a:xfrm>
          <a:prstGeom prst="rect">
            <a:avLst/>
          </a:prstGeom>
          <a:noFill/>
          <a:ln/>
        </p:spPr>
        <p:txBody>
          <a:bodyPr wrap="square" lIns="0" tIns="0" rIns="0" bIns="0" rtlCol="0" anchor="ctr"/>
          <a:lstStyle/>
          <a:p>
            <a:pPr marL="0" indent="0" algn="r">
              <a:buNone/>
            </a:pPr>
            <a:r>
              <a:rPr lang="en-US" sz="1000" dirty="0">
                <a:solidFill>
                  <a:srgbClr val="17A2B8"/>
                </a:solidFill>
                <a:latin typeface="Calibri" pitchFamily="34" charset="0"/>
                <a:ea typeface="Calibri" pitchFamily="34" charset="-122"/>
                <a:cs typeface="Calibri" pitchFamily="34" charset="-120"/>
              </a:rPr>
              <a:t>External Hand-drawn Testing</a:t>
            </a:r>
            <a:endParaRPr lang="en-US" sz="1000" dirty="0"/>
          </a:p>
        </p:txBody>
      </p:sp>
      <p:sp>
        <p:nvSpPr>
          <p:cNvPr id="21" name="Text 16"/>
          <p:cNvSpPr/>
          <p:nvPr/>
        </p:nvSpPr>
        <p:spPr>
          <a:xfrm>
            <a:off x="1600200" y="3703320"/>
            <a:ext cx="3840480" cy="320040"/>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Hand-drawn molecular images — harder than generated images</a:t>
            </a:r>
            <a:endParaRPr lang="en-US" sz="1100" dirty="0"/>
          </a:p>
        </p:txBody>
      </p:sp>
      <p:sp>
        <p:nvSpPr>
          <p:cNvPr id="22" name="Shape 17"/>
          <p:cNvSpPr/>
          <p:nvPr/>
        </p:nvSpPr>
        <p:spPr>
          <a:xfrm>
            <a:off x="6035040" y="1143000"/>
            <a:ext cx="2560320" cy="3017520"/>
          </a:xfrm>
          <a:prstGeom prst="rect">
            <a:avLst/>
          </a:prstGeom>
          <a:solidFill>
            <a:srgbClr val="0B1929"/>
          </a:solidFill>
          <a:ln/>
          <a:effectLst>
            <a:outerShdw blurRad="50800" dist="25400" dir="8100000" algn="bl" rotWithShape="0">
              <a:srgbClr val="000000">
                <a:alpha val="8000"/>
              </a:srgbClr>
            </a:outerShdw>
          </a:effectLst>
        </p:spPr>
        <p:txBody>
          <a:bodyPr/>
          <a:lstStyle/>
          <a:p>
            <a:endParaRPr lang="en-US"/>
          </a:p>
        </p:txBody>
      </p:sp>
      <p:sp>
        <p:nvSpPr>
          <p:cNvPr id="23" name="Text 18"/>
          <p:cNvSpPr/>
          <p:nvPr/>
        </p:nvSpPr>
        <p:spPr>
          <a:xfrm>
            <a:off x="6035040" y="1325880"/>
            <a:ext cx="2560320" cy="320040"/>
          </a:xfrm>
          <a:prstGeom prst="rect">
            <a:avLst/>
          </a:prstGeom>
          <a:noFill/>
          <a:ln/>
        </p:spPr>
        <p:txBody>
          <a:bodyPr wrap="square" lIns="0" tIns="0" rIns="0" bIns="0" rtlCol="0" anchor="ctr"/>
          <a:lstStyle/>
          <a:p>
            <a:pPr marL="0" indent="0" algn="ctr">
              <a:buNone/>
            </a:pPr>
            <a:r>
              <a:rPr lang="en-US" sz="1400" b="1" dirty="0">
                <a:solidFill>
                  <a:srgbClr val="17A2B8"/>
                </a:solidFill>
                <a:latin typeface="Trebuchet MS" pitchFamily="34" charset="0"/>
                <a:ea typeface="Trebuchet MS" pitchFamily="34" charset="-122"/>
                <a:cs typeface="Trebuchet MS" pitchFamily="34" charset="-120"/>
              </a:rPr>
              <a:t>PubChem Split</a:t>
            </a:r>
            <a:endParaRPr lang="en-US" sz="1400" dirty="0"/>
          </a:p>
        </p:txBody>
      </p:sp>
      <p:sp>
        <p:nvSpPr>
          <p:cNvPr id="24" name="Text 19"/>
          <p:cNvSpPr/>
          <p:nvPr/>
        </p:nvSpPr>
        <p:spPr>
          <a:xfrm>
            <a:off x="6217920" y="1828800"/>
            <a:ext cx="1097280" cy="365760"/>
          </a:xfrm>
          <a:prstGeom prst="rect">
            <a:avLst/>
          </a:prstGeom>
          <a:noFill/>
          <a:ln/>
        </p:spPr>
        <p:txBody>
          <a:bodyPr wrap="square" lIns="0" tIns="0" rIns="0" bIns="0" rtlCol="0" anchor="ctr"/>
          <a:lstStyle/>
          <a:p>
            <a:pPr marL="0" indent="0">
              <a:buNone/>
            </a:pPr>
            <a:r>
              <a:rPr lang="en-US" sz="2200" b="1" dirty="0">
                <a:solidFill>
                  <a:srgbClr val="F8FAFC"/>
                </a:solidFill>
                <a:latin typeface="Trebuchet MS" pitchFamily="34" charset="0"/>
                <a:ea typeface="Trebuchet MS" pitchFamily="34" charset="-122"/>
                <a:cs typeface="Trebuchet MS" pitchFamily="34" charset="-120"/>
              </a:rPr>
              <a:t>400</a:t>
            </a:r>
            <a:endParaRPr lang="en-US" sz="2200" dirty="0"/>
          </a:p>
        </p:txBody>
      </p:sp>
      <p:sp>
        <p:nvSpPr>
          <p:cNvPr id="25" name="Text 20"/>
          <p:cNvSpPr/>
          <p:nvPr/>
        </p:nvSpPr>
        <p:spPr>
          <a:xfrm>
            <a:off x="7315200" y="1874520"/>
            <a:ext cx="1097280" cy="320040"/>
          </a:xfrm>
          <a:prstGeom prst="rect">
            <a:avLst/>
          </a:prstGeom>
          <a:noFill/>
          <a:ln/>
        </p:spPr>
        <p:txBody>
          <a:bodyPr wrap="square" lIns="0" tIns="0" rIns="0" bIns="0" rtlCol="0" anchor="ctr"/>
          <a:lstStyle/>
          <a:p>
            <a:pPr marL="0" indent="0">
              <a:buNone/>
            </a:pPr>
            <a:r>
              <a:rPr lang="en-US" sz="1000" dirty="0">
                <a:solidFill>
                  <a:srgbClr val="94A3B8"/>
                </a:solidFill>
                <a:latin typeface="Calibri" pitchFamily="34" charset="0"/>
                <a:ea typeface="Calibri" pitchFamily="34" charset="-122"/>
                <a:cs typeface="Calibri" pitchFamily="34" charset="-120"/>
              </a:rPr>
              <a:t>Total Images</a:t>
            </a:r>
            <a:endParaRPr lang="en-US" sz="1000" dirty="0"/>
          </a:p>
        </p:txBody>
      </p:sp>
      <p:sp>
        <p:nvSpPr>
          <p:cNvPr id="26" name="Text 21"/>
          <p:cNvSpPr/>
          <p:nvPr/>
        </p:nvSpPr>
        <p:spPr>
          <a:xfrm>
            <a:off x="6217920" y="2377440"/>
            <a:ext cx="1097280" cy="365760"/>
          </a:xfrm>
          <a:prstGeom prst="rect">
            <a:avLst/>
          </a:prstGeom>
          <a:noFill/>
          <a:ln/>
        </p:spPr>
        <p:txBody>
          <a:bodyPr wrap="square" lIns="0" tIns="0" rIns="0" bIns="0" rtlCol="0" anchor="ctr"/>
          <a:lstStyle/>
          <a:p>
            <a:pPr marL="0" indent="0">
              <a:buNone/>
            </a:pPr>
            <a:r>
              <a:rPr lang="en-US" sz="2200" b="1" dirty="0">
                <a:solidFill>
                  <a:srgbClr val="F8FAFC"/>
                </a:solidFill>
                <a:latin typeface="Trebuchet MS" pitchFamily="34" charset="0"/>
                <a:ea typeface="Trebuchet MS" pitchFamily="34" charset="-122"/>
                <a:cs typeface="Trebuchet MS" pitchFamily="34" charset="-120"/>
              </a:rPr>
              <a:t>320</a:t>
            </a:r>
            <a:endParaRPr lang="en-US" sz="2200" dirty="0"/>
          </a:p>
        </p:txBody>
      </p:sp>
      <p:sp>
        <p:nvSpPr>
          <p:cNvPr id="27" name="Text 22"/>
          <p:cNvSpPr/>
          <p:nvPr/>
        </p:nvSpPr>
        <p:spPr>
          <a:xfrm>
            <a:off x="7315200" y="2423160"/>
            <a:ext cx="1097280" cy="320040"/>
          </a:xfrm>
          <a:prstGeom prst="rect">
            <a:avLst/>
          </a:prstGeom>
          <a:noFill/>
          <a:ln/>
        </p:spPr>
        <p:txBody>
          <a:bodyPr wrap="square" lIns="0" tIns="0" rIns="0" bIns="0" rtlCol="0" anchor="ctr"/>
          <a:lstStyle/>
          <a:p>
            <a:pPr marL="0" indent="0">
              <a:buNone/>
            </a:pPr>
            <a:r>
              <a:rPr lang="en-US" sz="1000" dirty="0">
                <a:solidFill>
                  <a:srgbClr val="94A3B8"/>
                </a:solidFill>
                <a:latin typeface="Calibri" pitchFamily="34" charset="0"/>
                <a:ea typeface="Calibri" pitchFamily="34" charset="-122"/>
                <a:cs typeface="Calibri" pitchFamily="34" charset="-120"/>
              </a:rPr>
              <a:t>Training Set</a:t>
            </a:r>
            <a:endParaRPr lang="en-US" sz="1000" dirty="0"/>
          </a:p>
        </p:txBody>
      </p:sp>
      <p:sp>
        <p:nvSpPr>
          <p:cNvPr id="28" name="Text 23"/>
          <p:cNvSpPr/>
          <p:nvPr/>
        </p:nvSpPr>
        <p:spPr>
          <a:xfrm>
            <a:off x="6217920" y="2926080"/>
            <a:ext cx="1097280" cy="365760"/>
          </a:xfrm>
          <a:prstGeom prst="rect">
            <a:avLst/>
          </a:prstGeom>
          <a:noFill/>
          <a:ln/>
        </p:spPr>
        <p:txBody>
          <a:bodyPr wrap="square" lIns="0" tIns="0" rIns="0" bIns="0" rtlCol="0" anchor="ctr"/>
          <a:lstStyle/>
          <a:p>
            <a:pPr marL="0" indent="0">
              <a:buNone/>
            </a:pPr>
            <a:r>
              <a:rPr lang="en-US" sz="2200" b="1" dirty="0">
                <a:solidFill>
                  <a:srgbClr val="F8FAFC"/>
                </a:solidFill>
                <a:latin typeface="Trebuchet MS" pitchFamily="34" charset="0"/>
                <a:ea typeface="Trebuchet MS" pitchFamily="34" charset="-122"/>
                <a:cs typeface="Trebuchet MS" pitchFamily="34" charset="-120"/>
              </a:rPr>
              <a:t>80</a:t>
            </a:r>
            <a:endParaRPr lang="en-US" sz="2200" dirty="0"/>
          </a:p>
        </p:txBody>
      </p:sp>
      <p:sp>
        <p:nvSpPr>
          <p:cNvPr id="29" name="Text 24"/>
          <p:cNvSpPr/>
          <p:nvPr/>
        </p:nvSpPr>
        <p:spPr>
          <a:xfrm>
            <a:off x="7315200" y="2971800"/>
            <a:ext cx="1097280" cy="320040"/>
          </a:xfrm>
          <a:prstGeom prst="rect">
            <a:avLst/>
          </a:prstGeom>
          <a:noFill/>
          <a:ln/>
        </p:spPr>
        <p:txBody>
          <a:bodyPr wrap="square" lIns="0" tIns="0" rIns="0" bIns="0" rtlCol="0" anchor="ctr"/>
          <a:lstStyle/>
          <a:p>
            <a:pPr marL="0" indent="0">
              <a:buNone/>
            </a:pPr>
            <a:r>
              <a:rPr lang="en-US" sz="1000" dirty="0">
                <a:solidFill>
                  <a:srgbClr val="94A3B8"/>
                </a:solidFill>
                <a:latin typeface="Calibri" pitchFamily="34" charset="0"/>
                <a:ea typeface="Calibri" pitchFamily="34" charset="-122"/>
                <a:cs typeface="Calibri" pitchFamily="34" charset="-120"/>
              </a:rPr>
              <a:t>Test Set</a:t>
            </a:r>
            <a:endParaRPr lang="en-US" sz="1000" dirty="0"/>
          </a:p>
        </p:txBody>
      </p:sp>
      <p:sp>
        <p:nvSpPr>
          <p:cNvPr id="30" name="Text 25"/>
          <p:cNvSpPr/>
          <p:nvPr/>
        </p:nvSpPr>
        <p:spPr>
          <a:xfrm>
            <a:off x="6217920" y="3474720"/>
            <a:ext cx="1097280" cy="365760"/>
          </a:xfrm>
          <a:prstGeom prst="rect">
            <a:avLst/>
          </a:prstGeom>
          <a:noFill/>
          <a:ln/>
        </p:spPr>
        <p:txBody>
          <a:bodyPr wrap="square" lIns="0" tIns="0" rIns="0" bIns="0" rtlCol="0" anchor="ctr"/>
          <a:lstStyle/>
          <a:p>
            <a:pPr marL="0" indent="0">
              <a:buNone/>
            </a:pPr>
            <a:r>
              <a:rPr lang="en-US" sz="2200" b="1" dirty="0">
                <a:solidFill>
                  <a:srgbClr val="F8FAFC"/>
                </a:solidFill>
                <a:latin typeface="Trebuchet MS" pitchFamily="34" charset="0"/>
                <a:ea typeface="Trebuchet MS" pitchFamily="34" charset="-122"/>
                <a:cs typeface="Trebuchet MS" pitchFamily="34" charset="-120"/>
              </a:rPr>
              <a:t>80/20</a:t>
            </a:r>
            <a:endParaRPr lang="en-US" sz="2200" dirty="0"/>
          </a:p>
        </p:txBody>
      </p:sp>
      <p:sp>
        <p:nvSpPr>
          <p:cNvPr id="31" name="Text 26"/>
          <p:cNvSpPr/>
          <p:nvPr/>
        </p:nvSpPr>
        <p:spPr>
          <a:xfrm>
            <a:off x="7315200" y="3520440"/>
            <a:ext cx="1097280" cy="320040"/>
          </a:xfrm>
          <a:prstGeom prst="rect">
            <a:avLst/>
          </a:prstGeom>
          <a:noFill/>
          <a:ln/>
        </p:spPr>
        <p:txBody>
          <a:bodyPr wrap="square" lIns="0" tIns="0" rIns="0" bIns="0" rtlCol="0" anchor="ctr"/>
          <a:lstStyle/>
          <a:p>
            <a:pPr marL="0" indent="0">
              <a:buNone/>
            </a:pPr>
            <a:r>
              <a:rPr lang="en-US" sz="1000" dirty="0">
                <a:solidFill>
                  <a:srgbClr val="94A3B8"/>
                </a:solidFill>
                <a:latin typeface="Calibri" pitchFamily="34" charset="0"/>
                <a:ea typeface="Calibri" pitchFamily="34" charset="-122"/>
                <a:cs typeface="Calibri" pitchFamily="34" charset="-120"/>
              </a:rPr>
              <a:t>Split Ratio</a:t>
            </a:r>
            <a:endParaRPr lang="en-US" sz="1000" dirty="0"/>
          </a:p>
        </p:txBody>
      </p:sp>
      <p:sp>
        <p:nvSpPr>
          <p:cNvPr id="32" name="Text 27"/>
          <p:cNvSpPr/>
          <p:nvPr/>
        </p:nvSpPr>
        <p:spPr>
          <a:xfrm>
            <a:off x="6217920" y="3840480"/>
            <a:ext cx="2194560" cy="228600"/>
          </a:xfrm>
          <a:prstGeom prst="rect">
            <a:avLst/>
          </a:prstGeom>
          <a:noFill/>
          <a:ln/>
        </p:spPr>
        <p:txBody>
          <a:bodyPr wrap="square" lIns="0" tIns="0" rIns="0" bIns="0" rtlCol="0" anchor="ctr"/>
          <a:lstStyle/>
          <a:p>
            <a:pPr marL="0" indent="0" algn="ctr">
              <a:buNone/>
            </a:pPr>
            <a:r>
              <a:rPr lang="en-US" sz="1000" dirty="0">
                <a:solidFill>
                  <a:srgbClr val="64748B"/>
                </a:solidFill>
                <a:latin typeface="Consolas" pitchFamily="34" charset="0"/>
                <a:ea typeface="Consolas" pitchFamily="34" charset="-122"/>
                <a:cs typeface="Consolas" pitchFamily="34" charset="-120"/>
              </a:rPr>
              <a:t>seed = 42</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2F6FA"/>
        </a:solidFill>
        <a:effectLst/>
      </p:bgPr>
    </p:bg>
    <p:spTree>
      <p:nvGrpSpPr>
        <p:cNvPr id="1" name=""/>
        <p:cNvGrpSpPr/>
        <p:nvPr/>
      </p:nvGrpSpPr>
      <p:grpSpPr>
        <a:xfrm>
          <a:off x="0" y="0"/>
          <a:ext cx="0" cy="0"/>
          <a:chOff x="0" y="0"/>
          <a:chExt cx="0" cy="0"/>
        </a:xfrm>
      </p:grpSpPr>
      <p:sp>
        <p:nvSpPr>
          <p:cNvPr id="2" name="Text 0"/>
          <p:cNvSpPr/>
          <p:nvPr/>
        </p:nvSpPr>
        <p:spPr>
          <a:xfrm>
            <a:off x="731520" y="365760"/>
            <a:ext cx="914400" cy="457200"/>
          </a:xfrm>
          <a:prstGeom prst="rect">
            <a:avLst/>
          </a:prstGeom>
          <a:noFill/>
          <a:ln/>
        </p:spPr>
        <p:txBody>
          <a:bodyPr wrap="square" lIns="0" tIns="0" rIns="0" bIns="0" rtlCol="0" anchor="ctr"/>
          <a:lstStyle/>
          <a:p>
            <a:pPr marL="0" indent="0">
              <a:buNone/>
            </a:pPr>
            <a:r>
              <a:rPr lang="en-US" sz="3600" b="1" dirty="0">
                <a:solidFill>
                  <a:srgbClr val="17A2B8"/>
                </a:solidFill>
                <a:latin typeface="Trebuchet MS" pitchFamily="34" charset="0"/>
                <a:ea typeface="Trebuchet MS" pitchFamily="34" charset="-122"/>
                <a:cs typeface="Trebuchet MS" pitchFamily="34" charset="-120"/>
              </a:rPr>
              <a:t>09</a:t>
            </a:r>
            <a:endParaRPr lang="en-US" sz="3600" dirty="0"/>
          </a:p>
        </p:txBody>
      </p:sp>
      <p:sp>
        <p:nvSpPr>
          <p:cNvPr id="3" name="Text 1"/>
          <p:cNvSpPr/>
          <p:nvPr/>
        </p:nvSpPr>
        <p:spPr>
          <a:xfrm>
            <a:off x="1645920" y="384048"/>
            <a:ext cx="6400800" cy="457200"/>
          </a:xfrm>
          <a:prstGeom prst="rect">
            <a:avLst/>
          </a:prstGeom>
          <a:noFill/>
          <a:ln/>
        </p:spPr>
        <p:txBody>
          <a:bodyPr wrap="square" lIns="0" tIns="0" rIns="0" bIns="0" rtlCol="0" anchor="ctr"/>
          <a:lstStyle/>
          <a:p>
            <a:pPr marL="0" indent="0">
              <a:buNone/>
            </a:pPr>
            <a:r>
              <a:rPr lang="en-US" sz="2800" b="1" dirty="0">
                <a:solidFill>
                  <a:srgbClr val="1E293B"/>
                </a:solidFill>
                <a:latin typeface="Trebuchet MS" pitchFamily="34" charset="0"/>
                <a:ea typeface="Trebuchet MS" pitchFamily="34" charset="-122"/>
                <a:cs typeface="Trebuchet MS" pitchFamily="34" charset="-120"/>
              </a:rPr>
              <a:t>Evaluation Metrics</a:t>
            </a:r>
            <a:endParaRPr lang="en-US" sz="2800" dirty="0"/>
          </a:p>
        </p:txBody>
      </p:sp>
      <p:sp>
        <p:nvSpPr>
          <p:cNvPr id="4" name="Shape 2"/>
          <p:cNvSpPr/>
          <p:nvPr/>
        </p:nvSpPr>
        <p:spPr>
          <a:xfrm>
            <a:off x="731520" y="1143000"/>
            <a:ext cx="3657600" cy="137160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a:p>
        </p:txBody>
      </p:sp>
      <p:sp>
        <p:nvSpPr>
          <p:cNvPr id="5" name="Shape 3"/>
          <p:cNvSpPr/>
          <p:nvPr/>
        </p:nvSpPr>
        <p:spPr>
          <a:xfrm>
            <a:off x="960120" y="1417320"/>
            <a:ext cx="502920" cy="502920"/>
          </a:xfrm>
          <a:prstGeom prst="ellipse">
            <a:avLst/>
          </a:prstGeom>
          <a:solidFill>
            <a:srgbClr val="17A2B8"/>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1051560" y="1508760"/>
            <a:ext cx="320040" cy="320040"/>
          </a:xfrm>
          <a:prstGeom prst="rect">
            <a:avLst/>
          </a:prstGeom>
        </p:spPr>
      </p:pic>
      <p:sp>
        <p:nvSpPr>
          <p:cNvPr id="7" name="Text 4"/>
          <p:cNvSpPr/>
          <p:nvPr/>
        </p:nvSpPr>
        <p:spPr>
          <a:xfrm>
            <a:off x="1645920" y="1371600"/>
            <a:ext cx="2468880" cy="320040"/>
          </a:xfrm>
          <a:prstGeom prst="rect">
            <a:avLst/>
          </a:prstGeom>
          <a:noFill/>
          <a:ln/>
        </p:spPr>
        <p:txBody>
          <a:bodyPr wrap="square" lIns="0" tIns="0" rIns="0" bIns="0" rtlCol="0" anchor="ctr"/>
          <a:lstStyle/>
          <a:p>
            <a:pPr marL="0" indent="0">
              <a:buNone/>
            </a:pPr>
            <a:r>
              <a:rPr lang="en-US" sz="1400" b="1" dirty="0">
                <a:solidFill>
                  <a:srgbClr val="1E293B"/>
                </a:solidFill>
                <a:latin typeface="Trebuchet MS" pitchFamily="34" charset="0"/>
                <a:ea typeface="Trebuchet MS" pitchFamily="34" charset="-122"/>
                <a:cs typeface="Trebuchet MS" pitchFamily="34" charset="-120"/>
              </a:rPr>
              <a:t>Token Accuracy</a:t>
            </a:r>
            <a:endParaRPr lang="en-US" sz="1400" dirty="0"/>
          </a:p>
        </p:txBody>
      </p:sp>
      <p:sp>
        <p:nvSpPr>
          <p:cNvPr id="8" name="Text 5"/>
          <p:cNvSpPr/>
          <p:nvPr/>
        </p:nvSpPr>
        <p:spPr>
          <a:xfrm>
            <a:off x="1645920" y="1737360"/>
            <a:ext cx="2468880" cy="594360"/>
          </a:xfrm>
          <a:prstGeom prst="rect">
            <a:avLst/>
          </a:prstGeom>
          <a:noFill/>
          <a:ln/>
        </p:spPr>
        <p:txBody>
          <a:bodyPr wrap="square" lIns="0" tIns="0" rIns="0" bIns="0" rtlCol="0" anchor="ctr"/>
          <a:lstStyle/>
          <a:p>
            <a:pPr marL="0" indent="0">
              <a:lnSpc>
                <a:spcPct val="130000"/>
              </a:lnSpc>
              <a:buNone/>
            </a:pPr>
            <a:r>
              <a:rPr lang="en-US" sz="1100" dirty="0">
                <a:solidFill>
                  <a:srgbClr val="475569"/>
                </a:solidFill>
                <a:latin typeface="Calibri" pitchFamily="34" charset="0"/>
                <a:ea typeface="Calibri" pitchFamily="34" charset="-122"/>
                <a:cs typeface="Calibri" pitchFamily="34" charset="-120"/>
              </a:rPr>
              <a:t>Measures individual token correctness across the predicted SMILES sequence</a:t>
            </a:r>
            <a:endParaRPr lang="en-US" sz="1100" dirty="0"/>
          </a:p>
        </p:txBody>
      </p:sp>
      <p:sp>
        <p:nvSpPr>
          <p:cNvPr id="9" name="Shape 6"/>
          <p:cNvSpPr/>
          <p:nvPr/>
        </p:nvSpPr>
        <p:spPr>
          <a:xfrm>
            <a:off x="4663440" y="1143000"/>
            <a:ext cx="3657600" cy="137160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a:p>
        </p:txBody>
      </p:sp>
      <p:sp>
        <p:nvSpPr>
          <p:cNvPr id="10" name="Shape 7"/>
          <p:cNvSpPr/>
          <p:nvPr/>
        </p:nvSpPr>
        <p:spPr>
          <a:xfrm>
            <a:off x="4892040" y="1417320"/>
            <a:ext cx="502920" cy="502920"/>
          </a:xfrm>
          <a:prstGeom prst="ellipse">
            <a:avLst/>
          </a:prstGeom>
          <a:solidFill>
            <a:srgbClr val="17A2B8"/>
          </a:solidFill>
          <a:ln/>
        </p:spPr>
        <p:txBody>
          <a:bodyPr/>
          <a:lstStyle/>
          <a:p>
            <a:endParaRPr lang="en-US"/>
          </a:p>
        </p:txBody>
      </p:sp>
      <p:pic>
        <p:nvPicPr>
          <p:cNvPr id="11" name="Image 1" descr="preencoded.png"/>
          <p:cNvPicPr>
            <a:picLocks noChangeAspect="1"/>
          </p:cNvPicPr>
          <p:nvPr/>
        </p:nvPicPr>
        <p:blipFill>
          <a:blip r:embed="rId3"/>
          <a:stretch>
            <a:fillRect/>
          </a:stretch>
        </p:blipFill>
        <p:spPr>
          <a:xfrm>
            <a:off x="4983480" y="1508760"/>
            <a:ext cx="320040" cy="320040"/>
          </a:xfrm>
          <a:prstGeom prst="rect">
            <a:avLst/>
          </a:prstGeom>
        </p:spPr>
      </p:pic>
      <p:sp>
        <p:nvSpPr>
          <p:cNvPr id="12" name="Text 8"/>
          <p:cNvSpPr/>
          <p:nvPr/>
        </p:nvSpPr>
        <p:spPr>
          <a:xfrm>
            <a:off x="5577840" y="1371600"/>
            <a:ext cx="2468880" cy="320040"/>
          </a:xfrm>
          <a:prstGeom prst="rect">
            <a:avLst/>
          </a:prstGeom>
          <a:noFill/>
          <a:ln/>
        </p:spPr>
        <p:txBody>
          <a:bodyPr wrap="square" lIns="0" tIns="0" rIns="0" bIns="0" rtlCol="0" anchor="ctr"/>
          <a:lstStyle/>
          <a:p>
            <a:pPr marL="0" indent="0">
              <a:buNone/>
            </a:pPr>
            <a:r>
              <a:rPr lang="en-US" sz="1400" b="1" dirty="0">
                <a:solidFill>
                  <a:srgbClr val="1E293B"/>
                </a:solidFill>
                <a:latin typeface="Trebuchet MS" pitchFamily="34" charset="0"/>
                <a:ea typeface="Trebuchet MS" pitchFamily="34" charset="-122"/>
                <a:cs typeface="Trebuchet MS" pitchFamily="34" charset="-120"/>
              </a:rPr>
              <a:t>Exact Match</a:t>
            </a:r>
            <a:endParaRPr lang="en-US" sz="1400" dirty="0"/>
          </a:p>
        </p:txBody>
      </p:sp>
      <p:sp>
        <p:nvSpPr>
          <p:cNvPr id="13" name="Text 9"/>
          <p:cNvSpPr/>
          <p:nvPr/>
        </p:nvSpPr>
        <p:spPr>
          <a:xfrm>
            <a:off x="5577840" y="1737360"/>
            <a:ext cx="2468880" cy="594360"/>
          </a:xfrm>
          <a:prstGeom prst="rect">
            <a:avLst/>
          </a:prstGeom>
          <a:noFill/>
          <a:ln/>
        </p:spPr>
        <p:txBody>
          <a:bodyPr wrap="square" lIns="0" tIns="0" rIns="0" bIns="0" rtlCol="0" anchor="ctr"/>
          <a:lstStyle/>
          <a:p>
            <a:pPr marL="0" indent="0">
              <a:lnSpc>
                <a:spcPct val="130000"/>
              </a:lnSpc>
              <a:buNone/>
            </a:pPr>
            <a:r>
              <a:rPr lang="en-US" sz="1100" dirty="0">
                <a:solidFill>
                  <a:srgbClr val="475569"/>
                </a:solidFill>
                <a:latin typeface="Calibri" pitchFamily="34" charset="0"/>
                <a:ea typeface="Calibri" pitchFamily="34" charset="-122"/>
                <a:cs typeface="Calibri" pitchFamily="34" charset="-120"/>
              </a:rPr>
              <a:t>Predicted SMILES must exactly match the target string character by character</a:t>
            </a:r>
            <a:endParaRPr lang="en-US" sz="1100" dirty="0"/>
          </a:p>
        </p:txBody>
      </p:sp>
      <p:sp>
        <p:nvSpPr>
          <p:cNvPr id="14" name="Shape 10"/>
          <p:cNvSpPr/>
          <p:nvPr/>
        </p:nvSpPr>
        <p:spPr>
          <a:xfrm>
            <a:off x="731520" y="2788920"/>
            <a:ext cx="3657600" cy="137160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a:p>
        </p:txBody>
      </p:sp>
      <p:sp>
        <p:nvSpPr>
          <p:cNvPr id="15" name="Shape 11"/>
          <p:cNvSpPr/>
          <p:nvPr/>
        </p:nvSpPr>
        <p:spPr>
          <a:xfrm>
            <a:off x="960120" y="3063240"/>
            <a:ext cx="502920" cy="502920"/>
          </a:xfrm>
          <a:prstGeom prst="ellipse">
            <a:avLst/>
          </a:prstGeom>
          <a:solidFill>
            <a:srgbClr val="17A2B8"/>
          </a:solidFill>
          <a:ln/>
        </p:spPr>
        <p:txBody>
          <a:bodyPr/>
          <a:lstStyle/>
          <a:p>
            <a:endParaRPr lang="en-US"/>
          </a:p>
        </p:txBody>
      </p:sp>
      <p:pic>
        <p:nvPicPr>
          <p:cNvPr id="16" name="Image 2" descr="preencoded.png"/>
          <p:cNvPicPr>
            <a:picLocks noChangeAspect="1"/>
          </p:cNvPicPr>
          <p:nvPr/>
        </p:nvPicPr>
        <p:blipFill>
          <a:blip r:embed="rId3"/>
          <a:stretch>
            <a:fillRect/>
          </a:stretch>
        </p:blipFill>
        <p:spPr>
          <a:xfrm>
            <a:off x="1051560" y="3154680"/>
            <a:ext cx="320040" cy="320040"/>
          </a:xfrm>
          <a:prstGeom prst="rect">
            <a:avLst/>
          </a:prstGeom>
        </p:spPr>
      </p:pic>
      <p:sp>
        <p:nvSpPr>
          <p:cNvPr id="17" name="Text 12"/>
          <p:cNvSpPr/>
          <p:nvPr/>
        </p:nvSpPr>
        <p:spPr>
          <a:xfrm>
            <a:off x="1645920" y="3017520"/>
            <a:ext cx="2468880" cy="320040"/>
          </a:xfrm>
          <a:prstGeom prst="rect">
            <a:avLst/>
          </a:prstGeom>
          <a:noFill/>
          <a:ln/>
        </p:spPr>
        <p:txBody>
          <a:bodyPr wrap="square" lIns="0" tIns="0" rIns="0" bIns="0" rtlCol="0" anchor="ctr"/>
          <a:lstStyle/>
          <a:p>
            <a:pPr marL="0" indent="0">
              <a:buNone/>
            </a:pPr>
            <a:r>
              <a:rPr lang="en-US" sz="1400" b="1" dirty="0">
                <a:solidFill>
                  <a:srgbClr val="1E293B"/>
                </a:solidFill>
                <a:latin typeface="Trebuchet MS" pitchFamily="34" charset="0"/>
                <a:ea typeface="Trebuchet MS" pitchFamily="34" charset="-122"/>
                <a:cs typeface="Trebuchet MS" pitchFamily="34" charset="-120"/>
              </a:rPr>
              <a:t>Canonical Match</a:t>
            </a:r>
            <a:endParaRPr lang="en-US" sz="1400" dirty="0"/>
          </a:p>
        </p:txBody>
      </p:sp>
      <p:sp>
        <p:nvSpPr>
          <p:cNvPr id="18" name="Text 13"/>
          <p:cNvSpPr/>
          <p:nvPr/>
        </p:nvSpPr>
        <p:spPr>
          <a:xfrm>
            <a:off x="1645920" y="3383280"/>
            <a:ext cx="2468880" cy="594360"/>
          </a:xfrm>
          <a:prstGeom prst="rect">
            <a:avLst/>
          </a:prstGeom>
          <a:noFill/>
          <a:ln/>
        </p:spPr>
        <p:txBody>
          <a:bodyPr wrap="square" lIns="0" tIns="0" rIns="0" bIns="0" rtlCol="0" anchor="ctr"/>
          <a:lstStyle/>
          <a:p>
            <a:pPr marL="0" indent="0">
              <a:lnSpc>
                <a:spcPct val="130000"/>
              </a:lnSpc>
              <a:buNone/>
            </a:pPr>
            <a:r>
              <a:rPr lang="en-US" sz="1100" dirty="0">
                <a:solidFill>
                  <a:srgbClr val="475569"/>
                </a:solidFill>
                <a:latin typeface="Calibri" pitchFamily="34" charset="0"/>
                <a:ea typeface="Calibri" pitchFamily="34" charset="-122"/>
                <a:cs typeface="Calibri" pitchFamily="34" charset="-120"/>
              </a:rPr>
              <a:t>Uses RDKit canonicalization to compare chemically equivalent SMILES strings</a:t>
            </a:r>
            <a:endParaRPr lang="en-US" sz="1100" dirty="0"/>
          </a:p>
        </p:txBody>
      </p:sp>
      <p:sp>
        <p:nvSpPr>
          <p:cNvPr id="19" name="Shape 14"/>
          <p:cNvSpPr/>
          <p:nvPr/>
        </p:nvSpPr>
        <p:spPr>
          <a:xfrm>
            <a:off x="4663440" y="2788920"/>
            <a:ext cx="3657600" cy="137160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a:p>
        </p:txBody>
      </p:sp>
      <p:sp>
        <p:nvSpPr>
          <p:cNvPr id="20" name="Shape 15"/>
          <p:cNvSpPr/>
          <p:nvPr/>
        </p:nvSpPr>
        <p:spPr>
          <a:xfrm>
            <a:off x="4892040" y="3063240"/>
            <a:ext cx="502920" cy="502920"/>
          </a:xfrm>
          <a:prstGeom prst="ellipse">
            <a:avLst/>
          </a:prstGeom>
          <a:solidFill>
            <a:srgbClr val="17A2B8"/>
          </a:solidFill>
          <a:ln/>
        </p:spPr>
        <p:txBody>
          <a:bodyPr/>
          <a:lstStyle/>
          <a:p>
            <a:endParaRPr lang="en-US"/>
          </a:p>
        </p:txBody>
      </p:sp>
      <p:pic>
        <p:nvPicPr>
          <p:cNvPr id="21" name="Image 3" descr="preencoded.png"/>
          <p:cNvPicPr>
            <a:picLocks noChangeAspect="1"/>
          </p:cNvPicPr>
          <p:nvPr/>
        </p:nvPicPr>
        <p:blipFill>
          <a:blip r:embed="rId3"/>
          <a:stretch>
            <a:fillRect/>
          </a:stretch>
        </p:blipFill>
        <p:spPr>
          <a:xfrm>
            <a:off x="4983480" y="3154680"/>
            <a:ext cx="320040" cy="320040"/>
          </a:xfrm>
          <a:prstGeom prst="rect">
            <a:avLst/>
          </a:prstGeom>
        </p:spPr>
      </p:pic>
      <p:sp>
        <p:nvSpPr>
          <p:cNvPr id="22" name="Text 16"/>
          <p:cNvSpPr/>
          <p:nvPr/>
        </p:nvSpPr>
        <p:spPr>
          <a:xfrm>
            <a:off x="5577840" y="3017520"/>
            <a:ext cx="2468880" cy="320040"/>
          </a:xfrm>
          <a:prstGeom prst="rect">
            <a:avLst/>
          </a:prstGeom>
          <a:noFill/>
          <a:ln/>
        </p:spPr>
        <p:txBody>
          <a:bodyPr wrap="square" lIns="0" tIns="0" rIns="0" bIns="0" rtlCol="0" anchor="ctr"/>
          <a:lstStyle/>
          <a:p>
            <a:pPr marL="0" indent="0">
              <a:buNone/>
            </a:pPr>
            <a:r>
              <a:rPr lang="en-US" sz="1400" b="1" dirty="0">
                <a:solidFill>
                  <a:srgbClr val="1E293B"/>
                </a:solidFill>
                <a:latin typeface="Trebuchet MS" pitchFamily="34" charset="0"/>
                <a:ea typeface="Trebuchet MS" pitchFamily="34" charset="-122"/>
                <a:cs typeface="Trebuchet MS" pitchFamily="34" charset="-120"/>
              </a:rPr>
              <a:t>Valid SMILES Rate</a:t>
            </a:r>
            <a:endParaRPr lang="en-US" sz="1400" dirty="0"/>
          </a:p>
        </p:txBody>
      </p:sp>
      <p:sp>
        <p:nvSpPr>
          <p:cNvPr id="23" name="Text 17"/>
          <p:cNvSpPr/>
          <p:nvPr/>
        </p:nvSpPr>
        <p:spPr>
          <a:xfrm>
            <a:off x="5577840" y="3383280"/>
            <a:ext cx="2468880" cy="594360"/>
          </a:xfrm>
          <a:prstGeom prst="rect">
            <a:avLst/>
          </a:prstGeom>
          <a:noFill/>
          <a:ln/>
        </p:spPr>
        <p:txBody>
          <a:bodyPr wrap="square" lIns="0" tIns="0" rIns="0" bIns="0" rtlCol="0" anchor="ctr"/>
          <a:lstStyle/>
          <a:p>
            <a:pPr marL="0" indent="0">
              <a:lnSpc>
                <a:spcPct val="130000"/>
              </a:lnSpc>
              <a:buNone/>
            </a:pPr>
            <a:r>
              <a:rPr lang="en-US" sz="1100" dirty="0">
                <a:solidFill>
                  <a:srgbClr val="475569"/>
                </a:solidFill>
                <a:latin typeface="Calibri" pitchFamily="34" charset="0"/>
                <a:ea typeface="Calibri" pitchFamily="34" charset="-122"/>
                <a:cs typeface="Calibri" pitchFamily="34" charset="-120"/>
              </a:rPr>
              <a:t>Checks if RDKit can parse the prediction as a valid molecular structure</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2F6FA"/>
        </a:solidFill>
        <a:effectLst/>
      </p:bgPr>
    </p:bg>
    <p:spTree>
      <p:nvGrpSpPr>
        <p:cNvPr id="1" name=""/>
        <p:cNvGrpSpPr/>
        <p:nvPr/>
      </p:nvGrpSpPr>
      <p:grpSpPr>
        <a:xfrm>
          <a:off x="0" y="0"/>
          <a:ext cx="0" cy="0"/>
          <a:chOff x="0" y="0"/>
          <a:chExt cx="0" cy="0"/>
        </a:xfrm>
      </p:grpSpPr>
      <p:sp>
        <p:nvSpPr>
          <p:cNvPr id="2" name="Text 0"/>
          <p:cNvSpPr/>
          <p:nvPr/>
        </p:nvSpPr>
        <p:spPr>
          <a:xfrm>
            <a:off x="731520" y="365760"/>
            <a:ext cx="914400" cy="457200"/>
          </a:xfrm>
          <a:prstGeom prst="rect">
            <a:avLst/>
          </a:prstGeom>
          <a:noFill/>
          <a:ln/>
        </p:spPr>
        <p:txBody>
          <a:bodyPr wrap="square" lIns="0" tIns="0" rIns="0" bIns="0" rtlCol="0" anchor="ctr"/>
          <a:lstStyle/>
          <a:p>
            <a:pPr marL="0" indent="0">
              <a:buNone/>
            </a:pPr>
            <a:r>
              <a:rPr lang="en-US" sz="3600" b="1" dirty="0">
                <a:solidFill>
                  <a:srgbClr val="17A2B8"/>
                </a:solidFill>
                <a:latin typeface="Trebuchet MS" pitchFamily="34" charset="0"/>
                <a:ea typeface="Trebuchet MS" pitchFamily="34" charset="-122"/>
                <a:cs typeface="Trebuchet MS" pitchFamily="34" charset="-120"/>
              </a:rPr>
              <a:t>10</a:t>
            </a:r>
            <a:endParaRPr lang="en-US" sz="3600" dirty="0"/>
          </a:p>
        </p:txBody>
      </p:sp>
      <p:sp>
        <p:nvSpPr>
          <p:cNvPr id="3" name="Text 1"/>
          <p:cNvSpPr/>
          <p:nvPr/>
        </p:nvSpPr>
        <p:spPr>
          <a:xfrm>
            <a:off x="1645920" y="384048"/>
            <a:ext cx="6400800" cy="457200"/>
          </a:xfrm>
          <a:prstGeom prst="rect">
            <a:avLst/>
          </a:prstGeom>
          <a:noFill/>
          <a:ln/>
        </p:spPr>
        <p:txBody>
          <a:bodyPr wrap="square" lIns="0" tIns="0" rIns="0" bIns="0" rtlCol="0" anchor="ctr"/>
          <a:lstStyle/>
          <a:p>
            <a:pPr marL="0" indent="0">
              <a:buNone/>
            </a:pPr>
            <a:r>
              <a:rPr lang="en-US" sz="2800" b="1" dirty="0">
                <a:solidFill>
                  <a:srgbClr val="1E293B"/>
                </a:solidFill>
                <a:latin typeface="Trebuchet MS" pitchFamily="34" charset="0"/>
                <a:ea typeface="Trebuchet MS" pitchFamily="34" charset="-122"/>
                <a:cs typeface="Trebuchet MS" pitchFamily="34" charset="-120"/>
              </a:rPr>
              <a:t>Main Results</a:t>
            </a:r>
            <a:endParaRPr lang="en-US" sz="28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7040880" cy="2240280"/>
        </p:xfrm>
        <a:graphic>
          <a:graphicData uri="http://schemas.openxmlformats.org/drawingml/2006/table">
            <a:tbl>
              <a:tblPr/>
              <a:tblGrid>
                <a:gridCol w="100584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gridCol w="1005840">
                  <a:extLst>
                    <a:ext uri="{9D8B030D-6E8A-4147-A177-3AD203B41FA5}">
                      <a16:colId xmlns:a16="http://schemas.microsoft.com/office/drawing/2014/main" val="20004"/>
                    </a:ext>
                  </a:extLst>
                </a:gridCol>
                <a:gridCol w="822960">
                  <a:extLst>
                    <a:ext uri="{9D8B030D-6E8A-4147-A177-3AD203B41FA5}">
                      <a16:colId xmlns:a16="http://schemas.microsoft.com/office/drawing/2014/main" val="20005"/>
                    </a:ext>
                  </a:extLst>
                </a:gridCol>
                <a:gridCol w="914400">
                  <a:extLst>
                    <a:ext uri="{9D8B030D-6E8A-4147-A177-3AD203B41FA5}">
                      <a16:colId xmlns:a16="http://schemas.microsoft.com/office/drawing/2014/main" val="20006"/>
                    </a:ext>
                  </a:extLst>
                </a:gridCol>
                <a:gridCol w="914400">
                  <a:extLst>
                    <a:ext uri="{9D8B030D-6E8A-4147-A177-3AD203B41FA5}">
                      <a16:colId xmlns:a16="http://schemas.microsoft.com/office/drawing/2014/main" val="20007"/>
                    </a:ext>
                  </a:extLst>
                </a:gridCol>
              </a:tblGrid>
              <a:tr h="411480">
                <a:tc>
                  <a:txBody>
                    <a:bodyP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Dataset</a:t>
                      </a:r>
                      <a:endParaRPr lang="en-US" sz="1100" dirty="0">
                        <a:latin typeface="Trebuchet MS" charset="0"/>
                        <a:ea typeface="Trebuchet MS" charset="0"/>
                        <a:cs typeface="Trebuchet MS"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34E6A"/>
                    </a:solidFill>
                  </a:tcPr>
                </a:tc>
                <a:tc>
                  <a:txBody>
                    <a:bodyP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Model</a:t>
                      </a:r>
                      <a:endParaRPr lang="en-US" sz="1100" dirty="0">
                        <a:latin typeface="Trebuchet MS" charset="0"/>
                        <a:ea typeface="Trebuchet MS" charset="0"/>
                        <a:cs typeface="Trebuchet MS"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34E6A"/>
                    </a:solidFill>
                  </a:tcPr>
                </a:tc>
                <a:tc>
                  <a:txBody>
                    <a:bodyP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LR</a:t>
                      </a:r>
                      <a:endParaRPr lang="en-US" sz="1100" dirty="0">
                        <a:latin typeface="Trebuchet MS" charset="0"/>
                        <a:ea typeface="Trebuchet MS" charset="0"/>
                        <a:cs typeface="Trebuchet MS"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34E6A"/>
                    </a:solidFill>
                  </a:tcPr>
                </a:tc>
                <a:tc>
                  <a:txBody>
                    <a:bodyP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Hidden</a:t>
                      </a:r>
                      <a:endParaRPr lang="en-US" sz="1100" dirty="0">
                        <a:latin typeface="Trebuchet MS" charset="0"/>
                        <a:ea typeface="Trebuchet MS" charset="0"/>
                        <a:cs typeface="Trebuchet MS"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34E6A"/>
                    </a:solidFill>
                  </a:tcPr>
                </a:tc>
                <a:tc>
                  <a:txBody>
                    <a:bodyP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Token Acc.</a:t>
                      </a:r>
                      <a:endParaRPr lang="en-US" sz="1100" dirty="0">
                        <a:latin typeface="Trebuchet MS" charset="0"/>
                        <a:ea typeface="Trebuchet MS" charset="0"/>
                        <a:cs typeface="Trebuchet MS"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34E6A"/>
                    </a:solidFill>
                  </a:tcPr>
                </a:tc>
                <a:tc>
                  <a:txBody>
                    <a:bodyP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Exact</a:t>
                      </a:r>
                      <a:endParaRPr lang="en-US" sz="1100" dirty="0">
                        <a:latin typeface="Trebuchet MS" charset="0"/>
                        <a:ea typeface="Trebuchet MS" charset="0"/>
                        <a:cs typeface="Trebuchet MS"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34E6A"/>
                    </a:solidFill>
                  </a:tcPr>
                </a:tc>
                <a:tc>
                  <a:txBody>
                    <a:bodyP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Canonical</a:t>
                      </a:r>
                      <a:endParaRPr lang="en-US" sz="1100" dirty="0">
                        <a:latin typeface="Trebuchet MS" charset="0"/>
                        <a:ea typeface="Trebuchet MS" charset="0"/>
                        <a:cs typeface="Trebuchet MS"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34E6A"/>
                    </a:solidFill>
                  </a:tcPr>
                </a:tc>
                <a:tc>
                  <a:txBody>
                    <a:bodyP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Valid</a:t>
                      </a:r>
                      <a:endParaRPr lang="en-US" sz="1100" dirty="0">
                        <a:latin typeface="Trebuchet MS" charset="0"/>
                        <a:ea typeface="Trebuchet MS" charset="0"/>
                        <a:cs typeface="Trebuchet MS"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34E6A"/>
                    </a:solidFill>
                  </a:tcPr>
                </a:tc>
                <a:extLst>
                  <a:ext uri="{0D108BD9-81ED-4DB2-BD59-A6C34878D82A}">
                    <a16:rowId xmlns:a16="http://schemas.microsoft.com/office/drawing/2014/main" val="10000"/>
                  </a:ext>
                </a:extLst>
              </a:tr>
              <a:tr h="365760">
                <a:tc>
                  <a:txBody>
                    <a:bodyPr/>
                    <a:lstStyle/>
                    <a:p>
                      <a:pPr marL="0" indent="0" algn="ctr">
                        <a:buNone/>
                      </a:pPr>
                      <a:r>
                        <a:rPr lang="en-US" sz="1100" dirty="0">
                          <a:solidFill>
                            <a:srgbClr val="475569"/>
                          </a:solidFill>
                          <a:latin typeface="Calibri" pitchFamily="34" charset="0"/>
                          <a:ea typeface="Calibri" pitchFamily="34" charset="-122"/>
                          <a:cs typeface="Calibri" pitchFamily="34" charset="-120"/>
                        </a:rPr>
                        <a:t>PubChem</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475569"/>
                          </a:solidFill>
                          <a:latin typeface="Calibri" pitchFamily="34" charset="0"/>
                          <a:ea typeface="Calibri" pitchFamily="34" charset="-122"/>
                          <a:cs typeface="Calibri" pitchFamily="34" charset="-120"/>
                        </a:rPr>
                        <a:t>CNN-RNN</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475569"/>
                          </a:solidFill>
                          <a:latin typeface="Calibri" pitchFamily="34" charset="0"/>
                          <a:ea typeface="Calibri" pitchFamily="34" charset="-122"/>
                          <a:cs typeface="Calibri" pitchFamily="34" charset="-120"/>
                        </a:rPr>
                        <a:t>0.001</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475569"/>
                          </a:solidFill>
                          <a:latin typeface="Calibri" pitchFamily="34" charset="0"/>
                          <a:ea typeface="Calibri" pitchFamily="34" charset="-122"/>
                          <a:cs typeface="Calibri" pitchFamily="34" charset="-120"/>
                        </a:rPr>
                        <a:t>512</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475569"/>
                          </a:solidFill>
                          <a:latin typeface="Calibri" pitchFamily="34" charset="0"/>
                          <a:ea typeface="Calibri" pitchFamily="34" charset="-122"/>
                          <a:cs typeface="Calibri" pitchFamily="34" charset="-120"/>
                        </a:rPr>
                        <a:t>64.96%</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475569"/>
                          </a:solidFill>
                          <a:latin typeface="Calibri" pitchFamily="34" charset="0"/>
                          <a:ea typeface="Calibri" pitchFamily="34" charset="-122"/>
                          <a:cs typeface="Calibri" pitchFamily="34" charset="-120"/>
                        </a:rPr>
                        <a:t>0.00%</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475569"/>
                          </a:solidFill>
                          <a:latin typeface="Calibri" pitchFamily="34" charset="0"/>
                          <a:ea typeface="Calibri" pitchFamily="34" charset="-122"/>
                          <a:cs typeface="Calibri" pitchFamily="34" charset="-120"/>
                        </a:rPr>
                        <a:t>0.00%</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475569"/>
                          </a:solidFill>
                          <a:latin typeface="Calibri" pitchFamily="34" charset="0"/>
                          <a:ea typeface="Calibri" pitchFamily="34" charset="-122"/>
                          <a:cs typeface="Calibri" pitchFamily="34" charset="-120"/>
                        </a:rPr>
                        <a:t>0.00%</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lgn="ctr">
                        <a:buNone/>
                      </a:pPr>
                      <a:r>
                        <a:rPr lang="en-US" sz="1100" dirty="0">
                          <a:solidFill>
                            <a:srgbClr val="475569"/>
                          </a:solidFill>
                          <a:latin typeface="Calibri" pitchFamily="34" charset="0"/>
                          <a:ea typeface="Calibri" pitchFamily="34" charset="-122"/>
                          <a:cs typeface="Calibri" pitchFamily="34" charset="-120"/>
                        </a:rPr>
                        <a:t>PubChem</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DF2F7"/>
                    </a:solidFill>
                  </a:tcPr>
                </a:tc>
                <a:tc>
                  <a:txBody>
                    <a:bodyPr/>
                    <a:lstStyle/>
                    <a:p>
                      <a:pPr marL="0" indent="0" algn="ctr">
                        <a:buNone/>
                      </a:pPr>
                      <a:r>
                        <a:rPr lang="en-US" sz="1100" b="1" dirty="0">
                          <a:solidFill>
                            <a:srgbClr val="17A2B8"/>
                          </a:solidFill>
                          <a:latin typeface="Calibri" pitchFamily="34" charset="0"/>
                          <a:ea typeface="Calibri" pitchFamily="34" charset="-122"/>
                          <a:cs typeface="Calibri" pitchFamily="34" charset="-120"/>
                        </a:rPr>
                        <a:t>CNN-GRU</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DF2F7"/>
                    </a:solidFill>
                  </a:tcPr>
                </a:tc>
                <a:tc>
                  <a:txBody>
                    <a:bodyPr/>
                    <a:lstStyle/>
                    <a:p>
                      <a:pPr marL="0" indent="0" algn="ctr">
                        <a:buNone/>
                      </a:pPr>
                      <a:r>
                        <a:rPr lang="en-US" sz="1100" dirty="0">
                          <a:solidFill>
                            <a:srgbClr val="475569"/>
                          </a:solidFill>
                          <a:latin typeface="Calibri" pitchFamily="34" charset="0"/>
                          <a:ea typeface="Calibri" pitchFamily="34" charset="-122"/>
                          <a:cs typeface="Calibri" pitchFamily="34" charset="-120"/>
                        </a:rPr>
                        <a:t>0.001</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DF2F7"/>
                    </a:solidFill>
                  </a:tcPr>
                </a:tc>
                <a:tc>
                  <a:txBody>
                    <a:bodyPr/>
                    <a:lstStyle/>
                    <a:p>
                      <a:pPr marL="0" indent="0" algn="ctr">
                        <a:buNone/>
                      </a:pPr>
                      <a:r>
                        <a:rPr lang="en-US" sz="1100" dirty="0">
                          <a:solidFill>
                            <a:srgbClr val="475569"/>
                          </a:solidFill>
                          <a:latin typeface="Calibri" pitchFamily="34" charset="0"/>
                          <a:ea typeface="Calibri" pitchFamily="34" charset="-122"/>
                          <a:cs typeface="Calibri" pitchFamily="34" charset="-120"/>
                        </a:rPr>
                        <a:t>512</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DF2F7"/>
                    </a:solidFill>
                  </a:tcPr>
                </a:tc>
                <a:tc>
                  <a:txBody>
                    <a:bodyPr/>
                    <a:lstStyle/>
                    <a:p>
                      <a:pPr marL="0" indent="0" algn="ctr">
                        <a:buNone/>
                      </a:pPr>
                      <a:r>
                        <a:rPr lang="en-US" sz="1100" b="1" dirty="0">
                          <a:solidFill>
                            <a:srgbClr val="17A2B8"/>
                          </a:solidFill>
                          <a:latin typeface="Calibri" pitchFamily="34" charset="0"/>
                          <a:ea typeface="Calibri" pitchFamily="34" charset="-122"/>
                          <a:cs typeface="Calibri" pitchFamily="34" charset="-120"/>
                        </a:rPr>
                        <a:t>68.42%</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DF2F7"/>
                    </a:solidFill>
                  </a:tcPr>
                </a:tc>
                <a:tc>
                  <a:txBody>
                    <a:bodyPr/>
                    <a:lstStyle/>
                    <a:p>
                      <a:pPr marL="0" indent="0" algn="ctr">
                        <a:buNone/>
                      </a:pPr>
                      <a:r>
                        <a:rPr lang="en-US" sz="1100" dirty="0">
                          <a:solidFill>
                            <a:srgbClr val="475569"/>
                          </a:solidFill>
                          <a:latin typeface="Calibri" pitchFamily="34" charset="0"/>
                          <a:ea typeface="Calibri" pitchFamily="34" charset="-122"/>
                          <a:cs typeface="Calibri" pitchFamily="34" charset="-120"/>
                        </a:rPr>
                        <a:t>0.00%</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DF2F7"/>
                    </a:solidFill>
                  </a:tcPr>
                </a:tc>
                <a:tc>
                  <a:txBody>
                    <a:bodyPr/>
                    <a:lstStyle/>
                    <a:p>
                      <a:pPr marL="0" indent="0" algn="ctr">
                        <a:buNone/>
                      </a:pPr>
                      <a:r>
                        <a:rPr lang="en-US" sz="1100" dirty="0">
                          <a:solidFill>
                            <a:srgbClr val="475569"/>
                          </a:solidFill>
                          <a:latin typeface="Calibri" pitchFamily="34" charset="0"/>
                          <a:ea typeface="Calibri" pitchFamily="34" charset="-122"/>
                          <a:cs typeface="Calibri" pitchFamily="34" charset="-120"/>
                        </a:rPr>
                        <a:t>0.00%</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DF2F7"/>
                    </a:solidFill>
                  </a:tcPr>
                </a:tc>
                <a:tc>
                  <a:txBody>
                    <a:bodyPr/>
                    <a:lstStyle/>
                    <a:p>
                      <a:pPr marL="0" indent="0" algn="ctr">
                        <a:buNone/>
                      </a:pPr>
                      <a:r>
                        <a:rPr lang="en-US" sz="1100" dirty="0">
                          <a:solidFill>
                            <a:srgbClr val="475569"/>
                          </a:solidFill>
                          <a:latin typeface="Calibri" pitchFamily="34" charset="0"/>
                          <a:ea typeface="Calibri" pitchFamily="34" charset="-122"/>
                          <a:cs typeface="Calibri" pitchFamily="34" charset="-120"/>
                        </a:rPr>
                        <a:t>100.00%</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DF2F7"/>
                    </a:solidFill>
                  </a:tcPr>
                </a:tc>
                <a:extLst>
                  <a:ext uri="{0D108BD9-81ED-4DB2-BD59-A6C34878D82A}">
                    <a16:rowId xmlns:a16="http://schemas.microsoft.com/office/drawing/2014/main" val="10002"/>
                  </a:ext>
                </a:extLst>
              </a:tr>
              <a:tr h="365760">
                <a:tc>
                  <a:txBody>
                    <a:bodyPr/>
                    <a:lstStyle/>
                    <a:p>
                      <a:pPr marL="0" indent="0" algn="ctr">
                        <a:buNone/>
                      </a:pPr>
                      <a:r>
                        <a:rPr lang="en-US" sz="1100" dirty="0">
                          <a:solidFill>
                            <a:srgbClr val="475569"/>
                          </a:solidFill>
                          <a:latin typeface="Calibri" pitchFamily="34" charset="0"/>
                          <a:ea typeface="Calibri" pitchFamily="34" charset="-122"/>
                          <a:cs typeface="Calibri" pitchFamily="34" charset="-120"/>
                        </a:rPr>
                        <a:t>PubChem</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475569"/>
                          </a:solidFill>
                          <a:latin typeface="Calibri" pitchFamily="34" charset="0"/>
                          <a:ea typeface="Calibri" pitchFamily="34" charset="-122"/>
                          <a:cs typeface="Calibri" pitchFamily="34" charset="-120"/>
                        </a:rPr>
                        <a:t>CNN-LSTM</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475569"/>
                          </a:solidFill>
                          <a:latin typeface="Calibri" pitchFamily="34" charset="0"/>
                          <a:ea typeface="Calibri" pitchFamily="34" charset="-122"/>
                          <a:cs typeface="Calibri" pitchFamily="34" charset="-120"/>
                        </a:rPr>
                        <a:t>0.001</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475569"/>
                          </a:solidFill>
                          <a:latin typeface="Calibri" pitchFamily="34" charset="0"/>
                          <a:ea typeface="Calibri" pitchFamily="34" charset="-122"/>
                          <a:cs typeface="Calibri" pitchFamily="34" charset="-120"/>
                        </a:rPr>
                        <a:t>512</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475569"/>
                          </a:solidFill>
                          <a:latin typeface="Calibri" pitchFamily="34" charset="0"/>
                          <a:ea typeface="Calibri" pitchFamily="34" charset="-122"/>
                          <a:cs typeface="Calibri" pitchFamily="34" charset="-120"/>
                        </a:rPr>
                        <a:t>66.79%</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475569"/>
                          </a:solidFill>
                          <a:latin typeface="Calibri" pitchFamily="34" charset="0"/>
                          <a:ea typeface="Calibri" pitchFamily="34" charset="-122"/>
                          <a:cs typeface="Calibri" pitchFamily="34" charset="-120"/>
                        </a:rPr>
                        <a:t>0.00%</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475569"/>
                          </a:solidFill>
                          <a:latin typeface="Calibri" pitchFamily="34" charset="0"/>
                          <a:ea typeface="Calibri" pitchFamily="34" charset="-122"/>
                          <a:cs typeface="Calibri" pitchFamily="34" charset="-120"/>
                        </a:rPr>
                        <a:t>0.00%</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475569"/>
                          </a:solidFill>
                          <a:latin typeface="Calibri" pitchFamily="34" charset="0"/>
                          <a:ea typeface="Calibri" pitchFamily="34" charset="-122"/>
                          <a:cs typeface="Calibri" pitchFamily="34" charset="-120"/>
                        </a:rPr>
                        <a:t>100.00%</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lgn="ctr">
                        <a:buNone/>
                      </a:pPr>
                      <a:r>
                        <a:rPr lang="en-US" sz="1100" dirty="0">
                          <a:solidFill>
                            <a:srgbClr val="475569"/>
                          </a:solidFill>
                          <a:latin typeface="Calibri" pitchFamily="34" charset="0"/>
                          <a:ea typeface="Calibri" pitchFamily="34" charset="-122"/>
                          <a:cs typeface="Calibri" pitchFamily="34" charset="-120"/>
                        </a:rPr>
                        <a:t>EPA</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DF2F7"/>
                    </a:solidFill>
                  </a:tcPr>
                </a:tc>
                <a:tc>
                  <a:txBody>
                    <a:bodyPr/>
                    <a:lstStyle/>
                    <a:p>
                      <a:pPr marL="0" indent="0" algn="ctr">
                        <a:buNone/>
                      </a:pPr>
                      <a:r>
                        <a:rPr lang="en-US" sz="1100" dirty="0">
                          <a:solidFill>
                            <a:srgbClr val="475569"/>
                          </a:solidFill>
                          <a:latin typeface="Calibri" pitchFamily="34" charset="0"/>
                          <a:ea typeface="Calibri" pitchFamily="34" charset="-122"/>
                          <a:cs typeface="Calibri" pitchFamily="34" charset="-120"/>
                        </a:rPr>
                        <a:t>CNN-GRU</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DF2F7"/>
                    </a:solidFill>
                  </a:tcPr>
                </a:tc>
                <a:tc>
                  <a:txBody>
                    <a:bodyPr/>
                    <a:lstStyle/>
                    <a:p>
                      <a:pPr marL="0" indent="0" algn="ctr">
                        <a:buNone/>
                      </a:pPr>
                      <a:r>
                        <a:rPr lang="en-US" sz="1100" dirty="0">
                          <a:solidFill>
                            <a:srgbClr val="475569"/>
                          </a:solidFill>
                          <a:latin typeface="Calibri" pitchFamily="34" charset="0"/>
                          <a:ea typeface="Calibri" pitchFamily="34" charset="-122"/>
                          <a:cs typeface="Calibri" pitchFamily="34" charset="-120"/>
                        </a:rPr>
                        <a:t>0.001</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DF2F7"/>
                    </a:solidFill>
                  </a:tcPr>
                </a:tc>
                <a:tc>
                  <a:txBody>
                    <a:bodyPr/>
                    <a:lstStyle/>
                    <a:p>
                      <a:pPr marL="0" indent="0" algn="ctr">
                        <a:buNone/>
                      </a:pPr>
                      <a:r>
                        <a:rPr lang="en-US" sz="1100" dirty="0">
                          <a:solidFill>
                            <a:srgbClr val="475569"/>
                          </a:solidFill>
                          <a:latin typeface="Calibri" pitchFamily="34" charset="0"/>
                          <a:ea typeface="Calibri" pitchFamily="34" charset="-122"/>
                          <a:cs typeface="Calibri" pitchFamily="34" charset="-120"/>
                        </a:rPr>
                        <a:t>512</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DF2F7"/>
                    </a:solidFill>
                  </a:tcPr>
                </a:tc>
                <a:tc>
                  <a:txBody>
                    <a:bodyPr/>
                    <a:lstStyle/>
                    <a:p>
                      <a:pPr marL="0" indent="0" algn="ctr">
                        <a:buNone/>
                      </a:pPr>
                      <a:r>
                        <a:rPr lang="en-US" sz="1100" dirty="0">
                          <a:solidFill>
                            <a:srgbClr val="475569"/>
                          </a:solidFill>
                          <a:latin typeface="Calibri" pitchFamily="34" charset="0"/>
                          <a:ea typeface="Calibri" pitchFamily="34" charset="-122"/>
                          <a:cs typeface="Calibri" pitchFamily="34" charset="-120"/>
                        </a:rPr>
                        <a:t>41.14%</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DF2F7"/>
                    </a:solidFill>
                  </a:tcPr>
                </a:tc>
                <a:tc>
                  <a:txBody>
                    <a:bodyPr/>
                    <a:lstStyle/>
                    <a:p>
                      <a:pPr marL="0" indent="0" algn="ctr">
                        <a:buNone/>
                      </a:pPr>
                      <a:r>
                        <a:rPr lang="en-US" sz="1100" dirty="0">
                          <a:solidFill>
                            <a:srgbClr val="475569"/>
                          </a:solidFill>
                          <a:latin typeface="Calibri" pitchFamily="34" charset="0"/>
                          <a:ea typeface="Calibri" pitchFamily="34" charset="-122"/>
                          <a:cs typeface="Calibri" pitchFamily="34" charset="-120"/>
                        </a:rPr>
                        <a:t>0.00%</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DF2F7"/>
                    </a:solidFill>
                  </a:tcPr>
                </a:tc>
                <a:tc>
                  <a:txBody>
                    <a:bodyPr/>
                    <a:lstStyle/>
                    <a:p>
                      <a:pPr marL="0" indent="0" algn="ctr">
                        <a:buNone/>
                      </a:pPr>
                      <a:r>
                        <a:rPr lang="en-US" sz="1100" dirty="0">
                          <a:solidFill>
                            <a:srgbClr val="475569"/>
                          </a:solidFill>
                          <a:latin typeface="Calibri" pitchFamily="34" charset="0"/>
                          <a:ea typeface="Calibri" pitchFamily="34" charset="-122"/>
                          <a:cs typeface="Calibri" pitchFamily="34" charset="-120"/>
                        </a:rPr>
                        <a:t>0.00%</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DF2F7"/>
                    </a:solidFill>
                  </a:tcPr>
                </a:tc>
                <a:tc>
                  <a:txBody>
                    <a:bodyPr/>
                    <a:lstStyle/>
                    <a:p>
                      <a:pPr marL="0" indent="0" algn="ctr">
                        <a:buNone/>
                      </a:pPr>
                      <a:r>
                        <a:rPr lang="en-US" sz="1100" dirty="0">
                          <a:solidFill>
                            <a:srgbClr val="475569"/>
                          </a:solidFill>
                          <a:latin typeface="Calibri" pitchFamily="34" charset="0"/>
                          <a:ea typeface="Calibri" pitchFamily="34" charset="-122"/>
                          <a:cs typeface="Calibri" pitchFamily="34" charset="-120"/>
                        </a:rPr>
                        <a:t>100.00%</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DF2F7"/>
                    </a:solidFill>
                  </a:tcPr>
                </a:tc>
                <a:extLst>
                  <a:ext uri="{0D108BD9-81ED-4DB2-BD59-A6C34878D82A}">
                    <a16:rowId xmlns:a16="http://schemas.microsoft.com/office/drawing/2014/main" val="10004"/>
                  </a:ext>
                </a:extLst>
              </a:tr>
              <a:tr h="365760">
                <a:tc>
                  <a:txBody>
                    <a:bodyPr/>
                    <a:lstStyle/>
                    <a:p>
                      <a:pPr marL="0" indent="0" algn="ctr">
                        <a:buNone/>
                      </a:pPr>
                      <a:r>
                        <a:rPr lang="en-US" sz="1100" dirty="0">
                          <a:solidFill>
                            <a:srgbClr val="475569"/>
                          </a:solidFill>
                          <a:latin typeface="Calibri" pitchFamily="34" charset="0"/>
                          <a:ea typeface="Calibri" pitchFamily="34" charset="-122"/>
                          <a:cs typeface="Calibri" pitchFamily="34" charset="-120"/>
                        </a:rPr>
                        <a:t>DECIMER</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475569"/>
                          </a:solidFill>
                          <a:latin typeface="Calibri" pitchFamily="34" charset="0"/>
                          <a:ea typeface="Calibri" pitchFamily="34" charset="-122"/>
                          <a:cs typeface="Calibri" pitchFamily="34" charset="-120"/>
                        </a:rPr>
                        <a:t>CNN-GRU</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475569"/>
                          </a:solidFill>
                          <a:latin typeface="Calibri" pitchFamily="34" charset="0"/>
                          <a:ea typeface="Calibri" pitchFamily="34" charset="-122"/>
                          <a:cs typeface="Calibri" pitchFamily="34" charset="-120"/>
                        </a:rPr>
                        <a:t>0.001</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475569"/>
                          </a:solidFill>
                          <a:latin typeface="Calibri" pitchFamily="34" charset="0"/>
                          <a:ea typeface="Calibri" pitchFamily="34" charset="-122"/>
                          <a:cs typeface="Calibri" pitchFamily="34" charset="-120"/>
                        </a:rPr>
                        <a:t>512</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475569"/>
                          </a:solidFill>
                          <a:latin typeface="Calibri" pitchFamily="34" charset="0"/>
                          <a:ea typeface="Calibri" pitchFamily="34" charset="-122"/>
                          <a:cs typeface="Calibri" pitchFamily="34" charset="-120"/>
                        </a:rPr>
                        <a:t>38.62%</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475569"/>
                          </a:solidFill>
                          <a:latin typeface="Calibri" pitchFamily="34" charset="0"/>
                          <a:ea typeface="Calibri" pitchFamily="34" charset="-122"/>
                          <a:cs typeface="Calibri" pitchFamily="34" charset="-120"/>
                        </a:rPr>
                        <a:t>0.00%</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475569"/>
                          </a:solidFill>
                          <a:latin typeface="Calibri" pitchFamily="34" charset="0"/>
                          <a:ea typeface="Calibri" pitchFamily="34" charset="-122"/>
                          <a:cs typeface="Calibri" pitchFamily="34" charset="-120"/>
                        </a:rPr>
                        <a:t>0.00%</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475569"/>
                          </a:solidFill>
                          <a:latin typeface="Calibri" pitchFamily="34" charset="0"/>
                          <a:ea typeface="Calibri" pitchFamily="34" charset="-122"/>
                          <a:cs typeface="Calibri" pitchFamily="34" charset="-120"/>
                        </a:rPr>
                        <a:t>100.00%</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Shape 2"/>
          <p:cNvSpPr/>
          <p:nvPr/>
        </p:nvSpPr>
        <p:spPr>
          <a:xfrm>
            <a:off x="731520" y="4114800"/>
            <a:ext cx="7680960" cy="640080"/>
          </a:xfrm>
          <a:prstGeom prst="rect">
            <a:avLst/>
          </a:prstGeom>
          <a:solidFill>
            <a:srgbClr val="0B1929"/>
          </a:solidFill>
          <a:ln/>
        </p:spPr>
        <p:txBody>
          <a:bodyPr/>
          <a:lstStyle/>
          <a:p>
            <a:endParaRPr lang="en-US"/>
          </a:p>
        </p:txBody>
      </p:sp>
      <p:sp>
        <p:nvSpPr>
          <p:cNvPr id="6" name="Text 3"/>
          <p:cNvSpPr/>
          <p:nvPr/>
        </p:nvSpPr>
        <p:spPr>
          <a:xfrm>
            <a:off x="914400" y="4114800"/>
            <a:ext cx="7315200" cy="640080"/>
          </a:xfrm>
          <a:prstGeom prst="rect">
            <a:avLst/>
          </a:prstGeom>
          <a:noFill/>
          <a:ln/>
        </p:spPr>
        <p:txBody>
          <a:bodyPr wrap="square" lIns="0" tIns="0" rIns="0" bIns="0" rtlCol="0" anchor="ctr"/>
          <a:lstStyle/>
          <a:p>
            <a:pPr marL="0" indent="0">
              <a:buNone/>
            </a:pPr>
            <a:r>
              <a:rPr lang="en-US" sz="1200" dirty="0">
                <a:solidFill>
                  <a:srgbClr val="F8FAFC"/>
                </a:solidFill>
                <a:latin typeface="Calibri" pitchFamily="34" charset="0"/>
                <a:ea typeface="Calibri" pitchFamily="34" charset="-122"/>
                <a:cs typeface="Calibri" pitchFamily="34" charset="-120"/>
              </a:rPr>
              <a:t>Best result: CNN-GRU at 68.42% token accuracy. Exact and canonical match remained at 0% across all models.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2F6FA"/>
        </a:solidFill>
        <a:effectLst/>
      </p:bgPr>
    </p:bg>
    <p:spTree>
      <p:nvGrpSpPr>
        <p:cNvPr id="1" name=""/>
        <p:cNvGrpSpPr/>
        <p:nvPr/>
      </p:nvGrpSpPr>
      <p:grpSpPr>
        <a:xfrm>
          <a:off x="0" y="0"/>
          <a:ext cx="0" cy="0"/>
          <a:chOff x="0" y="0"/>
          <a:chExt cx="0" cy="0"/>
        </a:xfrm>
      </p:grpSpPr>
      <p:sp>
        <p:nvSpPr>
          <p:cNvPr id="2" name="Text 0"/>
          <p:cNvSpPr/>
          <p:nvPr/>
        </p:nvSpPr>
        <p:spPr>
          <a:xfrm>
            <a:off x="731520" y="365760"/>
            <a:ext cx="914400" cy="457200"/>
          </a:xfrm>
          <a:prstGeom prst="rect">
            <a:avLst/>
          </a:prstGeom>
          <a:noFill/>
          <a:ln/>
        </p:spPr>
        <p:txBody>
          <a:bodyPr wrap="square" lIns="0" tIns="0" rIns="0" bIns="0" rtlCol="0" anchor="ctr"/>
          <a:lstStyle/>
          <a:p>
            <a:pPr marL="0" indent="0">
              <a:buNone/>
            </a:pPr>
            <a:r>
              <a:rPr lang="en-US" sz="3600" b="1" dirty="0">
                <a:solidFill>
                  <a:srgbClr val="17A2B8"/>
                </a:solidFill>
                <a:latin typeface="Trebuchet MS" pitchFamily="34" charset="0"/>
                <a:ea typeface="Trebuchet MS" pitchFamily="34" charset="-122"/>
                <a:cs typeface="Trebuchet MS" pitchFamily="34" charset="-120"/>
              </a:rPr>
              <a:t>11</a:t>
            </a:r>
            <a:endParaRPr lang="en-US" sz="3600" dirty="0"/>
          </a:p>
        </p:txBody>
      </p:sp>
      <p:sp>
        <p:nvSpPr>
          <p:cNvPr id="3" name="Text 1"/>
          <p:cNvSpPr/>
          <p:nvPr/>
        </p:nvSpPr>
        <p:spPr>
          <a:xfrm>
            <a:off x="1645920" y="384048"/>
            <a:ext cx="6400800" cy="457200"/>
          </a:xfrm>
          <a:prstGeom prst="rect">
            <a:avLst/>
          </a:prstGeom>
          <a:noFill/>
          <a:ln/>
        </p:spPr>
        <p:txBody>
          <a:bodyPr wrap="square" lIns="0" tIns="0" rIns="0" bIns="0" rtlCol="0" anchor="ctr"/>
          <a:lstStyle/>
          <a:p>
            <a:pPr marL="0" indent="0">
              <a:buNone/>
            </a:pPr>
            <a:r>
              <a:rPr lang="en-US" sz="2800" b="1" dirty="0">
                <a:solidFill>
                  <a:srgbClr val="1E293B"/>
                </a:solidFill>
                <a:latin typeface="Trebuchet MS" pitchFamily="34" charset="0"/>
                <a:ea typeface="Trebuchet MS" pitchFamily="34" charset="-122"/>
                <a:cs typeface="Trebuchet MS" pitchFamily="34" charset="-120"/>
              </a:rPr>
              <a:t>Hyperparameter Results</a:t>
            </a:r>
            <a:endParaRPr lang="en-US" sz="2800" dirty="0"/>
          </a:p>
        </p:txBody>
      </p:sp>
      <p:sp>
        <p:nvSpPr>
          <p:cNvPr id="4" name="Text 2"/>
          <p:cNvSpPr/>
          <p:nvPr/>
        </p:nvSpPr>
        <p:spPr>
          <a:xfrm>
            <a:off x="457200" y="914400"/>
            <a:ext cx="4114800" cy="320040"/>
          </a:xfrm>
          <a:prstGeom prst="rect">
            <a:avLst/>
          </a:prstGeom>
          <a:noFill/>
          <a:ln/>
        </p:spPr>
        <p:txBody>
          <a:bodyPr wrap="square" lIns="0" tIns="0" rIns="0" bIns="0" rtlCol="0" anchor="ctr"/>
          <a:lstStyle/>
          <a:p>
            <a:pPr marL="0" indent="0" algn="ctr">
              <a:buNone/>
            </a:pPr>
            <a:r>
              <a:rPr lang="en-US" sz="1300" b="1" dirty="0">
                <a:solidFill>
                  <a:srgbClr val="1E293B"/>
                </a:solidFill>
                <a:latin typeface="Trebuchet MS" pitchFamily="34" charset="0"/>
                <a:ea typeface="Trebuchet MS" pitchFamily="34" charset="-122"/>
                <a:cs typeface="Trebuchet MS" pitchFamily="34" charset="-120"/>
              </a:rPr>
              <a:t>Learning Rate Comparison</a:t>
            </a:r>
            <a:endParaRPr lang="en-US" sz="1300" dirty="0"/>
          </a:p>
        </p:txBody>
      </p:sp>
      <p:graphicFrame>
        <p:nvGraphicFramePr>
          <p:cNvPr id="5" name="Chart 0"/>
          <p:cNvGraphicFramePr/>
          <p:nvPr/>
        </p:nvGraphicFramePr>
        <p:xfrm>
          <a:off x="274320" y="1234440"/>
          <a:ext cx="4297680" cy="292608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a:off x="4754880" y="914400"/>
            <a:ext cx="4114800" cy="320040"/>
          </a:xfrm>
          <a:prstGeom prst="rect">
            <a:avLst/>
          </a:prstGeom>
          <a:noFill/>
          <a:ln/>
        </p:spPr>
        <p:txBody>
          <a:bodyPr wrap="square" lIns="0" tIns="0" rIns="0" bIns="0" rtlCol="0" anchor="ctr"/>
          <a:lstStyle/>
          <a:p>
            <a:pPr marL="0" indent="0" algn="ctr">
              <a:buNone/>
            </a:pPr>
            <a:r>
              <a:rPr lang="en-US" sz="1300" b="1" dirty="0">
                <a:solidFill>
                  <a:srgbClr val="1E293B"/>
                </a:solidFill>
                <a:latin typeface="Trebuchet MS" pitchFamily="34" charset="0"/>
                <a:ea typeface="Trebuchet MS" pitchFamily="34" charset="-122"/>
                <a:cs typeface="Trebuchet MS" pitchFamily="34" charset="-120"/>
              </a:rPr>
              <a:t>Hidden Dimension Comparison</a:t>
            </a:r>
            <a:endParaRPr lang="en-US" sz="1300" dirty="0"/>
          </a:p>
        </p:txBody>
      </p:sp>
      <p:graphicFrame>
        <p:nvGraphicFramePr>
          <p:cNvPr id="7" name="Chart 1"/>
          <p:cNvGraphicFramePr/>
          <p:nvPr/>
        </p:nvGraphicFramePr>
        <p:xfrm>
          <a:off x="4572000" y="1234440"/>
          <a:ext cx="4297680" cy="2926080"/>
        </p:xfrm>
        <a:graphic>
          <a:graphicData uri="http://schemas.openxmlformats.org/drawingml/2006/chart">
            <c:chart xmlns:c="http://schemas.openxmlformats.org/drawingml/2006/chart" xmlns:r="http://schemas.openxmlformats.org/officeDocument/2006/relationships" r:id="rId4"/>
          </a:graphicData>
        </a:graphic>
      </p:graphicFrame>
      <p:sp>
        <p:nvSpPr>
          <p:cNvPr id="8" name="Shape 4"/>
          <p:cNvSpPr/>
          <p:nvPr/>
        </p:nvSpPr>
        <p:spPr>
          <a:xfrm>
            <a:off x="731520" y="4389120"/>
            <a:ext cx="7680960" cy="502920"/>
          </a:xfrm>
          <a:prstGeom prst="rect">
            <a:avLst/>
          </a:prstGeom>
          <a:solidFill>
            <a:srgbClr val="0B1929"/>
          </a:solidFill>
          <a:ln/>
        </p:spPr>
        <p:txBody>
          <a:bodyPr/>
          <a:lstStyle/>
          <a:p>
            <a:endParaRPr lang="en-US"/>
          </a:p>
        </p:txBody>
      </p:sp>
      <p:sp>
        <p:nvSpPr>
          <p:cNvPr id="9" name="Text 5"/>
          <p:cNvSpPr/>
          <p:nvPr/>
        </p:nvSpPr>
        <p:spPr>
          <a:xfrm>
            <a:off x="914400" y="4389120"/>
            <a:ext cx="7315200" cy="502920"/>
          </a:xfrm>
          <a:prstGeom prst="rect">
            <a:avLst/>
          </a:prstGeom>
          <a:noFill/>
          <a:ln/>
        </p:spPr>
        <p:txBody>
          <a:bodyPr wrap="square" lIns="0" tIns="0" rIns="0" bIns="0" rtlCol="0" anchor="ctr"/>
          <a:lstStyle/>
          <a:p>
            <a:pPr marL="0" indent="0">
              <a:buNone/>
            </a:pPr>
            <a:r>
              <a:rPr lang="en-US" sz="1200" dirty="0">
                <a:solidFill>
                  <a:srgbClr val="F8FAFC"/>
                </a:solidFill>
                <a:latin typeface="Calibri" pitchFamily="34" charset="0"/>
                <a:ea typeface="Calibri" pitchFamily="34" charset="-122"/>
                <a:cs typeface="Calibri" pitchFamily="34" charset="-120"/>
              </a:rPr>
              <a:t>Higher learning rate (0.001) and larger hidden dimension (512) consistently produced the best results.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2F6FA"/>
        </a:solidFill>
        <a:effectLst/>
      </p:bgPr>
    </p:bg>
    <p:spTree>
      <p:nvGrpSpPr>
        <p:cNvPr id="1" name=""/>
        <p:cNvGrpSpPr/>
        <p:nvPr/>
      </p:nvGrpSpPr>
      <p:grpSpPr>
        <a:xfrm>
          <a:off x="0" y="0"/>
          <a:ext cx="0" cy="0"/>
          <a:chOff x="0" y="0"/>
          <a:chExt cx="0" cy="0"/>
        </a:xfrm>
      </p:grpSpPr>
      <p:sp>
        <p:nvSpPr>
          <p:cNvPr id="2" name="Text 0"/>
          <p:cNvSpPr/>
          <p:nvPr/>
        </p:nvSpPr>
        <p:spPr>
          <a:xfrm>
            <a:off x="731520" y="365760"/>
            <a:ext cx="914400" cy="457200"/>
          </a:xfrm>
          <a:prstGeom prst="rect">
            <a:avLst/>
          </a:prstGeom>
          <a:noFill/>
          <a:ln/>
        </p:spPr>
        <p:txBody>
          <a:bodyPr wrap="square" lIns="0" tIns="0" rIns="0" bIns="0" rtlCol="0" anchor="ctr"/>
          <a:lstStyle/>
          <a:p>
            <a:pPr marL="0" indent="0">
              <a:buNone/>
            </a:pPr>
            <a:r>
              <a:rPr lang="en-US" sz="3600" b="1" dirty="0">
                <a:solidFill>
                  <a:srgbClr val="17A2B8"/>
                </a:solidFill>
                <a:latin typeface="Trebuchet MS" pitchFamily="34" charset="0"/>
                <a:ea typeface="Trebuchet MS" pitchFamily="34" charset="-122"/>
                <a:cs typeface="Trebuchet MS" pitchFamily="34" charset="-120"/>
              </a:rPr>
              <a:t>12</a:t>
            </a:r>
            <a:endParaRPr lang="en-US" sz="3600" dirty="0"/>
          </a:p>
        </p:txBody>
      </p:sp>
      <p:sp>
        <p:nvSpPr>
          <p:cNvPr id="3" name="Text 1"/>
          <p:cNvSpPr/>
          <p:nvPr/>
        </p:nvSpPr>
        <p:spPr>
          <a:xfrm>
            <a:off x="1645920" y="384048"/>
            <a:ext cx="6400800" cy="457200"/>
          </a:xfrm>
          <a:prstGeom prst="rect">
            <a:avLst/>
          </a:prstGeom>
          <a:noFill/>
          <a:ln/>
        </p:spPr>
        <p:txBody>
          <a:bodyPr wrap="square" lIns="0" tIns="0" rIns="0" bIns="0" rtlCol="0" anchor="ctr"/>
          <a:lstStyle/>
          <a:p>
            <a:pPr marL="0" indent="0">
              <a:buNone/>
            </a:pPr>
            <a:r>
              <a:rPr lang="en-US" sz="2800" b="1" dirty="0">
                <a:solidFill>
                  <a:srgbClr val="1E293B"/>
                </a:solidFill>
                <a:latin typeface="Trebuchet MS" pitchFamily="34" charset="0"/>
                <a:ea typeface="Trebuchet MS" pitchFamily="34" charset="-122"/>
                <a:cs typeface="Trebuchet MS" pitchFamily="34" charset="-120"/>
              </a:rPr>
              <a:t>Error Analysis</a:t>
            </a:r>
            <a:endParaRPr lang="en-US" sz="2800" dirty="0"/>
          </a:p>
        </p:txBody>
      </p:sp>
      <p:sp>
        <p:nvSpPr>
          <p:cNvPr id="4" name="Shape 2"/>
          <p:cNvSpPr/>
          <p:nvPr/>
        </p:nvSpPr>
        <p:spPr>
          <a:xfrm>
            <a:off x="731520" y="1143000"/>
            <a:ext cx="4206240" cy="347472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a:p>
        </p:txBody>
      </p:sp>
      <p:sp>
        <p:nvSpPr>
          <p:cNvPr id="5" name="Text 3"/>
          <p:cNvSpPr/>
          <p:nvPr/>
        </p:nvSpPr>
        <p:spPr>
          <a:xfrm>
            <a:off x="1005840" y="1325880"/>
            <a:ext cx="3657600" cy="320040"/>
          </a:xfrm>
          <a:prstGeom prst="rect">
            <a:avLst/>
          </a:prstGeom>
          <a:noFill/>
          <a:ln/>
        </p:spPr>
        <p:txBody>
          <a:bodyPr wrap="square" lIns="0" tIns="0" rIns="0" bIns="0" rtlCol="0" anchor="ctr"/>
          <a:lstStyle/>
          <a:p>
            <a:pPr marL="0" indent="0">
              <a:buNone/>
            </a:pPr>
            <a:r>
              <a:rPr lang="en-US" sz="1500" b="1" dirty="0">
                <a:solidFill>
                  <a:srgbClr val="1E293B"/>
                </a:solidFill>
                <a:latin typeface="Trebuchet MS" pitchFamily="34" charset="0"/>
                <a:ea typeface="Trebuchet MS" pitchFamily="34" charset="-122"/>
                <a:cs typeface="Trebuchet MS" pitchFamily="34" charset="-120"/>
              </a:rPr>
              <a:t>Common Failure Pattern</a:t>
            </a:r>
            <a:endParaRPr lang="en-US" sz="1500" dirty="0"/>
          </a:p>
        </p:txBody>
      </p:sp>
      <p:sp>
        <p:nvSpPr>
          <p:cNvPr id="6" name="Shape 4"/>
          <p:cNvSpPr/>
          <p:nvPr/>
        </p:nvSpPr>
        <p:spPr>
          <a:xfrm>
            <a:off x="1005840" y="1828800"/>
            <a:ext cx="3657600" cy="640080"/>
          </a:xfrm>
          <a:prstGeom prst="rect">
            <a:avLst/>
          </a:prstGeom>
          <a:solidFill>
            <a:srgbClr val="1E293B"/>
          </a:solidFill>
          <a:ln/>
        </p:spPr>
        <p:txBody>
          <a:bodyPr/>
          <a:lstStyle/>
          <a:p>
            <a:endParaRPr lang="en-US"/>
          </a:p>
        </p:txBody>
      </p:sp>
      <p:sp>
        <p:nvSpPr>
          <p:cNvPr id="7" name="Text 5"/>
          <p:cNvSpPr/>
          <p:nvPr/>
        </p:nvSpPr>
        <p:spPr>
          <a:xfrm>
            <a:off x="1188720" y="1828800"/>
            <a:ext cx="3291840" cy="640080"/>
          </a:xfrm>
          <a:prstGeom prst="rect">
            <a:avLst/>
          </a:prstGeom>
          <a:noFill/>
          <a:ln/>
        </p:spPr>
        <p:txBody>
          <a:bodyPr wrap="square" lIns="0" tIns="0" rIns="0" bIns="0" rtlCol="0" anchor="ctr"/>
          <a:lstStyle/>
          <a:p>
            <a:pPr marL="0" indent="0">
              <a:buNone/>
            </a:pPr>
            <a:r>
              <a:rPr lang="en-US" sz="1400" dirty="0">
                <a:solidFill>
                  <a:srgbClr val="17A2B8"/>
                </a:solidFill>
                <a:latin typeface="Consolas" pitchFamily="34" charset="0"/>
                <a:ea typeface="Consolas" pitchFamily="34" charset="-122"/>
                <a:cs typeface="Consolas" pitchFamily="34" charset="-120"/>
              </a:rPr>
              <a:t>CCCCCCCCCCCCCCCCCCCCCC...</a:t>
            </a:r>
            <a:endParaRPr lang="en-US" sz="1400" dirty="0"/>
          </a:p>
        </p:txBody>
      </p:sp>
      <p:sp>
        <p:nvSpPr>
          <p:cNvPr id="8" name="Text 6"/>
          <p:cNvSpPr/>
          <p:nvPr/>
        </p:nvSpPr>
        <p:spPr>
          <a:xfrm>
            <a:off x="1005840" y="2651760"/>
            <a:ext cx="3657600" cy="1645920"/>
          </a:xfrm>
          <a:prstGeom prst="rect">
            <a:avLst/>
          </a:prstGeom>
          <a:noFill/>
          <a:ln/>
        </p:spPr>
        <p:txBody>
          <a:bodyPr wrap="square" rtlCol="0" anchor="ctr"/>
          <a:lstStyle/>
          <a:p>
            <a:pPr marL="342900" indent="-342900">
              <a:lnSpc>
                <a:spcPct val="120000"/>
              </a:lnSpc>
              <a:spcAft>
                <a:spcPts val="600"/>
              </a:spcAft>
              <a:buSzPct val="100000"/>
              <a:buChar char="•"/>
            </a:pPr>
            <a:r>
              <a:rPr lang="en-US" sz="1200" dirty="0">
                <a:solidFill>
                  <a:srgbClr val="475569"/>
                </a:solidFill>
                <a:latin typeface="Calibri" pitchFamily="34" charset="0"/>
                <a:ea typeface="Calibri" pitchFamily="34" charset="-122"/>
                <a:cs typeface="Calibri" pitchFamily="34" charset="-120"/>
              </a:rPr>
              <a:t>This is a valid SMILES string</a:t>
            </a:r>
            <a:endParaRPr lang="en-US" sz="1200" dirty="0"/>
          </a:p>
          <a:p>
            <a:pPr marL="342900" indent="-342900">
              <a:lnSpc>
                <a:spcPct val="120000"/>
              </a:lnSpc>
              <a:spcAft>
                <a:spcPts val="600"/>
              </a:spcAft>
              <a:buSzPct val="100000"/>
              <a:buChar char="•"/>
            </a:pPr>
            <a:r>
              <a:rPr lang="en-US" sz="1200" dirty="0">
                <a:solidFill>
                  <a:srgbClr val="475569"/>
                </a:solidFill>
                <a:latin typeface="Calibri" pitchFamily="34" charset="0"/>
                <a:ea typeface="Calibri" pitchFamily="34" charset="-122"/>
                <a:cs typeface="Calibri" pitchFamily="34" charset="-120"/>
              </a:rPr>
              <a:t>But it's usually the wrong molecule</a:t>
            </a:r>
            <a:endParaRPr lang="en-US" sz="1200" dirty="0"/>
          </a:p>
          <a:p>
            <a:pPr marL="342900" indent="-342900">
              <a:lnSpc>
                <a:spcPct val="120000"/>
              </a:lnSpc>
              <a:spcAft>
                <a:spcPts val="600"/>
              </a:spcAft>
              <a:buSzPct val="100000"/>
              <a:buChar char="•"/>
            </a:pPr>
            <a:r>
              <a:rPr lang="en-US" sz="1200" dirty="0">
                <a:solidFill>
                  <a:srgbClr val="475569"/>
                </a:solidFill>
                <a:latin typeface="Calibri" pitchFamily="34" charset="0"/>
                <a:ea typeface="Calibri" pitchFamily="34" charset="-122"/>
                <a:cs typeface="Calibri" pitchFamily="34" charset="-120"/>
              </a:rPr>
              <a:t>Model learned common token patterns</a:t>
            </a:r>
            <a:endParaRPr lang="en-US" sz="1200" dirty="0"/>
          </a:p>
          <a:p>
            <a:pPr marL="342900" indent="-342900">
              <a:lnSpc>
                <a:spcPct val="120000"/>
              </a:lnSpc>
              <a:spcAft>
                <a:spcPts val="600"/>
              </a:spcAft>
              <a:buSzPct val="100000"/>
              <a:buChar char="•"/>
            </a:pPr>
            <a:r>
              <a:rPr lang="en-US" sz="1200" dirty="0">
                <a:solidFill>
                  <a:srgbClr val="475569"/>
                </a:solidFill>
                <a:latin typeface="Calibri" pitchFamily="34" charset="0"/>
                <a:ea typeface="Calibri" pitchFamily="34" charset="-122"/>
                <a:cs typeface="Calibri" pitchFamily="34" charset="-120"/>
              </a:rPr>
              <a:t>But not global molecular structure</a:t>
            </a:r>
            <a:endParaRPr lang="en-US" sz="1200" dirty="0"/>
          </a:p>
        </p:txBody>
      </p:sp>
      <p:sp>
        <p:nvSpPr>
          <p:cNvPr id="9" name="Shape 7"/>
          <p:cNvSpPr/>
          <p:nvPr/>
        </p:nvSpPr>
        <p:spPr>
          <a:xfrm>
            <a:off x="5303520" y="1143000"/>
            <a:ext cx="3291840" cy="3474720"/>
          </a:xfrm>
          <a:prstGeom prst="rect">
            <a:avLst/>
          </a:prstGeom>
          <a:solidFill>
            <a:srgbClr val="0B1929"/>
          </a:solidFill>
          <a:ln/>
          <a:effectLst>
            <a:outerShdw blurRad="50800" dist="25400" dir="8100000" algn="bl" rotWithShape="0">
              <a:srgbClr val="000000">
                <a:alpha val="8000"/>
              </a:srgbClr>
            </a:outerShdw>
          </a:effectLst>
        </p:spPr>
        <p:txBody>
          <a:bodyPr/>
          <a:lstStyle/>
          <a:p>
            <a:endParaRPr lang="en-US"/>
          </a:p>
        </p:txBody>
      </p:sp>
      <p:pic>
        <p:nvPicPr>
          <p:cNvPr id="10" name="Image 0" descr="preencoded.png"/>
          <p:cNvPicPr>
            <a:picLocks noChangeAspect="1"/>
          </p:cNvPicPr>
          <p:nvPr/>
        </p:nvPicPr>
        <p:blipFill>
          <a:blip r:embed="rId3"/>
          <a:stretch>
            <a:fillRect/>
          </a:stretch>
        </p:blipFill>
        <p:spPr>
          <a:xfrm>
            <a:off x="6629400" y="1417320"/>
            <a:ext cx="548640" cy="548640"/>
          </a:xfrm>
          <a:prstGeom prst="rect">
            <a:avLst/>
          </a:prstGeom>
        </p:spPr>
      </p:pic>
      <p:sp>
        <p:nvSpPr>
          <p:cNvPr id="11" name="Text 8"/>
          <p:cNvSpPr/>
          <p:nvPr/>
        </p:nvSpPr>
        <p:spPr>
          <a:xfrm>
            <a:off x="5303520" y="2103120"/>
            <a:ext cx="3291840" cy="320040"/>
          </a:xfrm>
          <a:prstGeom prst="rect">
            <a:avLst/>
          </a:prstGeom>
          <a:noFill/>
          <a:ln/>
        </p:spPr>
        <p:txBody>
          <a:bodyPr wrap="square" lIns="0" tIns="0" rIns="0" bIns="0" rtlCol="0" anchor="ctr"/>
          <a:lstStyle/>
          <a:p>
            <a:pPr marL="0" indent="0" algn="ctr">
              <a:buNone/>
            </a:pPr>
            <a:r>
              <a:rPr lang="en-US" sz="1500" b="1" dirty="0">
                <a:solidFill>
                  <a:srgbClr val="17A2B8"/>
                </a:solidFill>
                <a:latin typeface="Trebuchet MS" pitchFamily="34" charset="0"/>
                <a:ea typeface="Trebuchet MS" pitchFamily="34" charset="-122"/>
                <a:cs typeface="Trebuchet MS" pitchFamily="34" charset="-120"/>
              </a:rPr>
              <a:t>Key Insight</a:t>
            </a:r>
            <a:endParaRPr lang="en-US" sz="1500" dirty="0"/>
          </a:p>
        </p:txBody>
      </p:sp>
      <p:sp>
        <p:nvSpPr>
          <p:cNvPr id="12" name="Text 9"/>
          <p:cNvSpPr/>
          <p:nvPr/>
        </p:nvSpPr>
        <p:spPr>
          <a:xfrm>
            <a:off x="5577840" y="2606040"/>
            <a:ext cx="2743200" cy="1280160"/>
          </a:xfrm>
          <a:prstGeom prst="rect">
            <a:avLst/>
          </a:prstGeom>
          <a:noFill/>
          <a:ln/>
        </p:spPr>
        <p:txBody>
          <a:bodyPr wrap="square" lIns="0" tIns="0" rIns="0" bIns="0" rtlCol="0" anchor="ctr"/>
          <a:lstStyle/>
          <a:p>
            <a:pPr marL="0" indent="0" algn="ctr">
              <a:lnSpc>
                <a:spcPct val="140000"/>
              </a:lnSpc>
              <a:buNone/>
            </a:pPr>
            <a:r>
              <a:rPr lang="en-US" sz="1200" dirty="0">
                <a:solidFill>
                  <a:srgbClr val="F8FAFC"/>
                </a:solidFill>
                <a:latin typeface="Calibri" pitchFamily="34" charset="0"/>
                <a:ea typeface="Calibri" pitchFamily="34" charset="-122"/>
                <a:cs typeface="Calibri" pitchFamily="34" charset="-120"/>
              </a:rPr>
              <a:t>Valid SMILES rate alone is not a sufficient metric. A prediction can be parseable but represent the wrong molecule entirely.</a:t>
            </a:r>
            <a:endParaRPr lang="en-US" sz="1200" dirty="0"/>
          </a:p>
        </p:txBody>
      </p:sp>
      <p:sp>
        <p:nvSpPr>
          <p:cNvPr id="13" name="Text 10"/>
          <p:cNvSpPr/>
          <p:nvPr/>
        </p:nvSpPr>
        <p:spPr>
          <a:xfrm>
            <a:off x="5577840" y="3657600"/>
            <a:ext cx="1280160" cy="274320"/>
          </a:xfrm>
          <a:prstGeom prst="rect">
            <a:avLst/>
          </a:prstGeom>
          <a:noFill/>
          <a:ln/>
        </p:spPr>
        <p:txBody>
          <a:bodyPr wrap="square" lIns="0" tIns="0" rIns="0" bIns="0" rtlCol="0" anchor="ctr"/>
          <a:lstStyle/>
          <a:p>
            <a:pPr marL="0" indent="0">
              <a:buNone/>
            </a:pPr>
            <a:r>
              <a:rPr lang="en-US" sz="1000" dirty="0">
                <a:solidFill>
                  <a:srgbClr val="94A3B8"/>
                </a:solidFill>
                <a:latin typeface="Calibri" pitchFamily="34" charset="0"/>
                <a:ea typeface="Calibri" pitchFamily="34" charset="-122"/>
                <a:cs typeface="Calibri" pitchFamily="34" charset="-120"/>
              </a:rPr>
              <a:t>Exact Match</a:t>
            </a:r>
            <a:endParaRPr lang="en-US" sz="1000" dirty="0"/>
          </a:p>
        </p:txBody>
      </p:sp>
      <p:sp>
        <p:nvSpPr>
          <p:cNvPr id="14" name="Text 11"/>
          <p:cNvSpPr/>
          <p:nvPr/>
        </p:nvSpPr>
        <p:spPr>
          <a:xfrm>
            <a:off x="6858000" y="3657600"/>
            <a:ext cx="1097280" cy="274320"/>
          </a:xfrm>
          <a:prstGeom prst="rect">
            <a:avLst/>
          </a:prstGeom>
          <a:noFill/>
          <a:ln/>
        </p:spPr>
        <p:txBody>
          <a:bodyPr wrap="square" lIns="0" tIns="0" rIns="0" bIns="0" rtlCol="0" anchor="ctr"/>
          <a:lstStyle/>
          <a:p>
            <a:pPr marL="0" indent="0" algn="r">
              <a:buNone/>
            </a:pPr>
            <a:r>
              <a:rPr lang="en-US" sz="1400" b="1" dirty="0">
                <a:solidFill>
                  <a:srgbClr val="EF4444"/>
                </a:solidFill>
                <a:latin typeface="Trebuchet MS" pitchFamily="34" charset="0"/>
                <a:ea typeface="Trebuchet MS" pitchFamily="34" charset="-122"/>
                <a:cs typeface="Trebuchet MS" pitchFamily="34" charset="-120"/>
              </a:rPr>
              <a:t>0.00%</a:t>
            </a:r>
            <a:endParaRPr lang="en-US" sz="1400" dirty="0"/>
          </a:p>
        </p:txBody>
      </p:sp>
      <p:sp>
        <p:nvSpPr>
          <p:cNvPr id="15" name="Text 12"/>
          <p:cNvSpPr/>
          <p:nvPr/>
        </p:nvSpPr>
        <p:spPr>
          <a:xfrm>
            <a:off x="5577840" y="3977640"/>
            <a:ext cx="1280160" cy="274320"/>
          </a:xfrm>
          <a:prstGeom prst="rect">
            <a:avLst/>
          </a:prstGeom>
          <a:noFill/>
          <a:ln/>
        </p:spPr>
        <p:txBody>
          <a:bodyPr wrap="square" lIns="0" tIns="0" rIns="0" bIns="0" rtlCol="0" anchor="ctr"/>
          <a:lstStyle/>
          <a:p>
            <a:pPr marL="0" indent="0">
              <a:buNone/>
            </a:pPr>
            <a:r>
              <a:rPr lang="en-US" sz="1000" dirty="0">
                <a:solidFill>
                  <a:srgbClr val="94A3B8"/>
                </a:solidFill>
                <a:latin typeface="Calibri" pitchFamily="34" charset="0"/>
                <a:ea typeface="Calibri" pitchFamily="34" charset="-122"/>
                <a:cs typeface="Calibri" pitchFamily="34" charset="-120"/>
              </a:rPr>
              <a:t>Canonical Match</a:t>
            </a:r>
            <a:endParaRPr lang="en-US" sz="1000" dirty="0"/>
          </a:p>
        </p:txBody>
      </p:sp>
      <p:sp>
        <p:nvSpPr>
          <p:cNvPr id="16" name="Text 13"/>
          <p:cNvSpPr/>
          <p:nvPr/>
        </p:nvSpPr>
        <p:spPr>
          <a:xfrm>
            <a:off x="6858000" y="3977640"/>
            <a:ext cx="1097280" cy="274320"/>
          </a:xfrm>
          <a:prstGeom prst="rect">
            <a:avLst/>
          </a:prstGeom>
          <a:noFill/>
          <a:ln/>
        </p:spPr>
        <p:txBody>
          <a:bodyPr wrap="square" lIns="0" tIns="0" rIns="0" bIns="0" rtlCol="0" anchor="ctr"/>
          <a:lstStyle/>
          <a:p>
            <a:pPr marL="0" indent="0" algn="r">
              <a:buNone/>
            </a:pPr>
            <a:r>
              <a:rPr lang="en-US" sz="1400" b="1" dirty="0">
                <a:solidFill>
                  <a:srgbClr val="EF4444"/>
                </a:solidFill>
                <a:latin typeface="Trebuchet MS" pitchFamily="34" charset="0"/>
                <a:ea typeface="Trebuchet MS" pitchFamily="34" charset="-122"/>
                <a:cs typeface="Trebuchet MS" pitchFamily="34" charset="-120"/>
              </a:rPr>
              <a:t>0.00%</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2F6FA"/>
        </a:solidFill>
        <a:effectLst/>
      </p:bgPr>
    </p:bg>
    <p:spTree>
      <p:nvGrpSpPr>
        <p:cNvPr id="1" name=""/>
        <p:cNvGrpSpPr/>
        <p:nvPr/>
      </p:nvGrpSpPr>
      <p:grpSpPr>
        <a:xfrm>
          <a:off x="0" y="0"/>
          <a:ext cx="0" cy="0"/>
          <a:chOff x="0" y="0"/>
          <a:chExt cx="0" cy="0"/>
        </a:xfrm>
      </p:grpSpPr>
      <p:sp>
        <p:nvSpPr>
          <p:cNvPr id="2" name="Text 0"/>
          <p:cNvSpPr/>
          <p:nvPr/>
        </p:nvSpPr>
        <p:spPr>
          <a:xfrm>
            <a:off x="731520" y="365760"/>
            <a:ext cx="914400" cy="457200"/>
          </a:xfrm>
          <a:prstGeom prst="rect">
            <a:avLst/>
          </a:prstGeom>
          <a:noFill/>
          <a:ln/>
        </p:spPr>
        <p:txBody>
          <a:bodyPr wrap="square" lIns="0" tIns="0" rIns="0" bIns="0" rtlCol="0" anchor="ctr"/>
          <a:lstStyle/>
          <a:p>
            <a:pPr marL="0" indent="0">
              <a:buNone/>
            </a:pPr>
            <a:r>
              <a:rPr lang="en-US" sz="3600" b="1" dirty="0">
                <a:solidFill>
                  <a:srgbClr val="17A2B8"/>
                </a:solidFill>
                <a:latin typeface="Trebuchet MS" pitchFamily="34" charset="0"/>
                <a:ea typeface="Trebuchet MS" pitchFamily="34" charset="-122"/>
                <a:cs typeface="Trebuchet MS" pitchFamily="34" charset="-120"/>
              </a:rPr>
              <a:t>13</a:t>
            </a:r>
            <a:endParaRPr lang="en-US" sz="3600" dirty="0"/>
          </a:p>
        </p:txBody>
      </p:sp>
      <p:sp>
        <p:nvSpPr>
          <p:cNvPr id="3" name="Text 1"/>
          <p:cNvSpPr/>
          <p:nvPr/>
        </p:nvSpPr>
        <p:spPr>
          <a:xfrm>
            <a:off x="1645920" y="384048"/>
            <a:ext cx="6400800" cy="457200"/>
          </a:xfrm>
          <a:prstGeom prst="rect">
            <a:avLst/>
          </a:prstGeom>
          <a:noFill/>
          <a:ln/>
        </p:spPr>
        <p:txBody>
          <a:bodyPr wrap="square" lIns="0" tIns="0" rIns="0" bIns="0" rtlCol="0" anchor="ctr"/>
          <a:lstStyle/>
          <a:p>
            <a:pPr marL="0" indent="0">
              <a:buNone/>
            </a:pPr>
            <a:r>
              <a:rPr lang="en-US" sz="2800" b="1" dirty="0">
                <a:solidFill>
                  <a:srgbClr val="1E293B"/>
                </a:solidFill>
                <a:latin typeface="Trebuchet MS" pitchFamily="34" charset="0"/>
                <a:ea typeface="Trebuchet MS" pitchFamily="34" charset="-122"/>
                <a:cs typeface="Trebuchet MS" pitchFamily="34" charset="-120"/>
              </a:rPr>
              <a:t>Hardships &amp; Scope Changes</a:t>
            </a:r>
            <a:endParaRPr lang="en-US" sz="2800" dirty="0"/>
          </a:p>
        </p:txBody>
      </p:sp>
      <p:sp>
        <p:nvSpPr>
          <p:cNvPr id="4" name="Shape 2"/>
          <p:cNvSpPr/>
          <p:nvPr/>
        </p:nvSpPr>
        <p:spPr>
          <a:xfrm>
            <a:off x="731520" y="1097280"/>
            <a:ext cx="7680960" cy="45720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a:p>
        </p:txBody>
      </p:sp>
      <p:pic>
        <p:nvPicPr>
          <p:cNvPr id="5" name="Image 0" descr="preencoded.png"/>
          <p:cNvPicPr>
            <a:picLocks noChangeAspect="1"/>
          </p:cNvPicPr>
          <p:nvPr/>
        </p:nvPicPr>
        <p:blipFill>
          <a:blip r:embed="rId3"/>
          <a:stretch>
            <a:fillRect/>
          </a:stretch>
        </p:blipFill>
        <p:spPr>
          <a:xfrm>
            <a:off x="960120" y="1170432"/>
            <a:ext cx="292608" cy="292608"/>
          </a:xfrm>
          <a:prstGeom prst="rect">
            <a:avLst/>
          </a:prstGeom>
        </p:spPr>
      </p:pic>
      <p:sp>
        <p:nvSpPr>
          <p:cNvPr id="6" name="Text 3"/>
          <p:cNvSpPr/>
          <p:nvPr/>
        </p:nvSpPr>
        <p:spPr>
          <a:xfrm>
            <a:off x="1417320" y="1097280"/>
            <a:ext cx="6766560" cy="45720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Original scope was too large for a solo project</a:t>
            </a:r>
            <a:endParaRPr lang="en-US" sz="1200" dirty="0"/>
          </a:p>
        </p:txBody>
      </p:sp>
      <p:sp>
        <p:nvSpPr>
          <p:cNvPr id="7" name="Shape 4"/>
          <p:cNvSpPr/>
          <p:nvPr/>
        </p:nvSpPr>
        <p:spPr>
          <a:xfrm>
            <a:off x="731520" y="1664208"/>
            <a:ext cx="7680960" cy="45720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a:p>
        </p:txBody>
      </p:sp>
      <p:pic>
        <p:nvPicPr>
          <p:cNvPr id="8" name="Image 1" descr="preencoded.png"/>
          <p:cNvPicPr>
            <a:picLocks noChangeAspect="1"/>
          </p:cNvPicPr>
          <p:nvPr/>
        </p:nvPicPr>
        <p:blipFill>
          <a:blip r:embed="rId3"/>
          <a:stretch>
            <a:fillRect/>
          </a:stretch>
        </p:blipFill>
        <p:spPr>
          <a:xfrm>
            <a:off x="960120" y="1737360"/>
            <a:ext cx="292608" cy="292608"/>
          </a:xfrm>
          <a:prstGeom prst="rect">
            <a:avLst/>
          </a:prstGeom>
        </p:spPr>
      </p:pic>
      <p:sp>
        <p:nvSpPr>
          <p:cNvPr id="9" name="Text 5"/>
          <p:cNvSpPr/>
          <p:nvPr/>
        </p:nvSpPr>
        <p:spPr>
          <a:xfrm>
            <a:off x="1417320" y="1664208"/>
            <a:ext cx="6766560" cy="45720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Closed-set CNN classifier did not match the OCSR task</a:t>
            </a:r>
            <a:endParaRPr lang="en-US" sz="1200" dirty="0"/>
          </a:p>
        </p:txBody>
      </p:sp>
      <p:sp>
        <p:nvSpPr>
          <p:cNvPr id="10" name="Shape 6"/>
          <p:cNvSpPr/>
          <p:nvPr/>
        </p:nvSpPr>
        <p:spPr>
          <a:xfrm>
            <a:off x="731520" y="2231136"/>
            <a:ext cx="7680960" cy="45720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a:p>
        </p:txBody>
      </p:sp>
      <p:pic>
        <p:nvPicPr>
          <p:cNvPr id="11" name="Image 2" descr="preencoded.png"/>
          <p:cNvPicPr>
            <a:picLocks noChangeAspect="1"/>
          </p:cNvPicPr>
          <p:nvPr/>
        </p:nvPicPr>
        <p:blipFill>
          <a:blip r:embed="rId3"/>
          <a:stretch>
            <a:fillRect/>
          </a:stretch>
        </p:blipFill>
        <p:spPr>
          <a:xfrm>
            <a:off x="960120" y="2304288"/>
            <a:ext cx="292608" cy="292608"/>
          </a:xfrm>
          <a:prstGeom prst="rect">
            <a:avLst/>
          </a:prstGeom>
        </p:spPr>
      </p:pic>
      <p:sp>
        <p:nvSpPr>
          <p:cNvPr id="12" name="Text 7"/>
          <p:cNvSpPr/>
          <p:nvPr/>
        </p:nvSpPr>
        <p:spPr>
          <a:xfrm>
            <a:off x="1417320" y="2231136"/>
            <a:ext cx="6766560" cy="45720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Dataset was small (400 images) for sequence generation</a:t>
            </a:r>
            <a:endParaRPr lang="en-US" sz="1200" dirty="0"/>
          </a:p>
        </p:txBody>
      </p:sp>
      <p:sp>
        <p:nvSpPr>
          <p:cNvPr id="13" name="Shape 8"/>
          <p:cNvSpPr/>
          <p:nvPr/>
        </p:nvSpPr>
        <p:spPr>
          <a:xfrm>
            <a:off x="731520" y="2798064"/>
            <a:ext cx="7680960" cy="45720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a:p>
        </p:txBody>
      </p:sp>
      <p:pic>
        <p:nvPicPr>
          <p:cNvPr id="14" name="Image 3" descr="preencoded.png"/>
          <p:cNvPicPr>
            <a:picLocks noChangeAspect="1"/>
          </p:cNvPicPr>
          <p:nvPr/>
        </p:nvPicPr>
        <p:blipFill>
          <a:blip r:embed="rId3"/>
          <a:stretch>
            <a:fillRect/>
          </a:stretch>
        </p:blipFill>
        <p:spPr>
          <a:xfrm>
            <a:off x="960120" y="2871216"/>
            <a:ext cx="292608" cy="292608"/>
          </a:xfrm>
          <a:prstGeom prst="rect">
            <a:avLst/>
          </a:prstGeom>
        </p:spPr>
      </p:pic>
      <p:sp>
        <p:nvSpPr>
          <p:cNvPr id="15" name="Text 9"/>
          <p:cNvSpPr/>
          <p:nvPr/>
        </p:nvSpPr>
        <p:spPr>
          <a:xfrm>
            <a:off x="1417320" y="2798064"/>
            <a:ext cx="6766560" cy="45720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External datasets caused significant domain shift</a:t>
            </a:r>
            <a:endParaRPr lang="en-US" sz="1200" dirty="0"/>
          </a:p>
        </p:txBody>
      </p:sp>
      <p:sp>
        <p:nvSpPr>
          <p:cNvPr id="16" name="Shape 10"/>
          <p:cNvSpPr/>
          <p:nvPr/>
        </p:nvSpPr>
        <p:spPr>
          <a:xfrm>
            <a:off x="731520" y="3364992"/>
            <a:ext cx="7680960" cy="45720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a:p>
        </p:txBody>
      </p:sp>
      <p:pic>
        <p:nvPicPr>
          <p:cNvPr id="17" name="Image 4" descr="preencoded.png"/>
          <p:cNvPicPr>
            <a:picLocks noChangeAspect="1"/>
          </p:cNvPicPr>
          <p:nvPr/>
        </p:nvPicPr>
        <p:blipFill>
          <a:blip r:embed="rId3"/>
          <a:stretch>
            <a:fillRect/>
          </a:stretch>
        </p:blipFill>
        <p:spPr>
          <a:xfrm>
            <a:off x="960120" y="3438144"/>
            <a:ext cx="292608" cy="292608"/>
          </a:xfrm>
          <a:prstGeom prst="rect">
            <a:avLst/>
          </a:prstGeom>
        </p:spPr>
      </p:pic>
      <p:sp>
        <p:nvSpPr>
          <p:cNvPr id="18" name="Text 11"/>
          <p:cNvSpPr/>
          <p:nvPr/>
        </p:nvSpPr>
        <p:spPr>
          <a:xfrm>
            <a:off x="1417320" y="3364992"/>
            <a:ext cx="6766560" cy="45720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Exact molecule generation is much harder than token prediction</a:t>
            </a:r>
            <a:endParaRPr lang="en-US" sz="1200" dirty="0"/>
          </a:p>
        </p:txBody>
      </p:sp>
      <p:sp>
        <p:nvSpPr>
          <p:cNvPr id="19" name="Shape 12"/>
          <p:cNvSpPr/>
          <p:nvPr/>
        </p:nvSpPr>
        <p:spPr>
          <a:xfrm>
            <a:off x="731520" y="4114800"/>
            <a:ext cx="7680960" cy="594360"/>
          </a:xfrm>
          <a:prstGeom prst="rect">
            <a:avLst/>
          </a:prstGeom>
          <a:solidFill>
            <a:srgbClr val="0B1929"/>
          </a:solidFill>
          <a:ln/>
        </p:spPr>
        <p:txBody>
          <a:bodyPr/>
          <a:lstStyle/>
          <a:p>
            <a:endParaRPr lang="en-US"/>
          </a:p>
        </p:txBody>
      </p:sp>
      <p:sp>
        <p:nvSpPr>
          <p:cNvPr id="20" name="Text 13"/>
          <p:cNvSpPr/>
          <p:nvPr/>
        </p:nvSpPr>
        <p:spPr>
          <a:xfrm>
            <a:off x="914400" y="4114800"/>
            <a:ext cx="7315200" cy="594360"/>
          </a:xfrm>
          <a:prstGeom prst="rect">
            <a:avLst/>
          </a:prstGeom>
          <a:noFill/>
          <a:ln/>
        </p:spPr>
        <p:txBody>
          <a:bodyPr wrap="square" lIns="0" tIns="0" rIns="0" bIns="0" rtlCol="0" anchor="ctr"/>
          <a:lstStyle/>
          <a:p>
            <a:pPr marL="0" indent="0">
              <a:buNone/>
            </a:pPr>
            <a:r>
              <a:rPr lang="en-US" sz="1200" dirty="0">
                <a:solidFill>
                  <a:srgbClr val="F8FAFC"/>
                </a:solidFill>
                <a:latin typeface="Calibri" pitchFamily="34" charset="0"/>
                <a:ea typeface="Calibri" pitchFamily="34" charset="-122"/>
                <a:cs typeface="Calibri" pitchFamily="34" charset="-120"/>
              </a:rPr>
              <a:t>Moving from CNN classifier to image-to-sequence was a key pivot that better matched the OCSR problem.</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929"/>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7A2B8"/>
          </a:solidFill>
          <a:ln/>
        </p:spPr>
        <p:txBody>
          <a:bodyPr/>
          <a:lstStyle/>
          <a:p>
            <a:endParaRPr lang="en-US"/>
          </a:p>
        </p:txBody>
      </p:sp>
      <p:sp>
        <p:nvSpPr>
          <p:cNvPr id="3" name="Text 1"/>
          <p:cNvSpPr/>
          <p:nvPr/>
        </p:nvSpPr>
        <p:spPr>
          <a:xfrm>
            <a:off x="731520" y="320040"/>
            <a:ext cx="914400" cy="457200"/>
          </a:xfrm>
          <a:prstGeom prst="rect">
            <a:avLst/>
          </a:prstGeom>
          <a:noFill/>
          <a:ln/>
        </p:spPr>
        <p:txBody>
          <a:bodyPr wrap="square" lIns="0" tIns="0" rIns="0" bIns="0" rtlCol="0" anchor="ctr"/>
          <a:lstStyle/>
          <a:p>
            <a:pPr marL="0" indent="0">
              <a:buNone/>
            </a:pPr>
            <a:r>
              <a:rPr lang="en-US" sz="3600" b="1" dirty="0">
                <a:solidFill>
                  <a:srgbClr val="17A2B8"/>
                </a:solidFill>
                <a:latin typeface="Trebuchet MS" pitchFamily="34" charset="0"/>
                <a:ea typeface="Trebuchet MS" pitchFamily="34" charset="-122"/>
                <a:cs typeface="Trebuchet MS" pitchFamily="34" charset="-120"/>
              </a:rPr>
              <a:t>14</a:t>
            </a:r>
            <a:endParaRPr lang="en-US" sz="3600" dirty="0"/>
          </a:p>
        </p:txBody>
      </p:sp>
      <p:sp>
        <p:nvSpPr>
          <p:cNvPr id="4" name="Text 2"/>
          <p:cNvSpPr/>
          <p:nvPr/>
        </p:nvSpPr>
        <p:spPr>
          <a:xfrm>
            <a:off x="1645920" y="338328"/>
            <a:ext cx="6400800" cy="457200"/>
          </a:xfrm>
          <a:prstGeom prst="rect">
            <a:avLst/>
          </a:prstGeom>
          <a:noFill/>
          <a:ln/>
        </p:spPr>
        <p:txBody>
          <a:bodyPr wrap="square" lIns="0" tIns="0" rIns="0" bIns="0" rtlCol="0" anchor="ctr"/>
          <a:lstStyle/>
          <a:p>
            <a:pPr marL="0" indent="0">
              <a:buNone/>
            </a:pPr>
            <a:r>
              <a:rPr lang="en-US" sz="2800" b="1" dirty="0">
                <a:solidFill>
                  <a:srgbClr val="F8FAFC"/>
                </a:solidFill>
                <a:latin typeface="Trebuchet MS" pitchFamily="34" charset="0"/>
                <a:ea typeface="Trebuchet MS" pitchFamily="34" charset="-122"/>
                <a:cs typeface="Trebuchet MS" pitchFamily="34" charset="-120"/>
              </a:rPr>
              <a:t>Conclusion</a:t>
            </a:r>
            <a:endParaRPr lang="en-US" sz="2800" dirty="0"/>
          </a:p>
        </p:txBody>
      </p:sp>
      <p:sp>
        <p:nvSpPr>
          <p:cNvPr id="5" name="Shape 3"/>
          <p:cNvSpPr/>
          <p:nvPr/>
        </p:nvSpPr>
        <p:spPr>
          <a:xfrm>
            <a:off x="731520" y="1097280"/>
            <a:ext cx="3657600" cy="1417320"/>
          </a:xfrm>
          <a:prstGeom prst="rect">
            <a:avLst/>
          </a:prstGeom>
          <a:solidFill>
            <a:srgbClr val="112840"/>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914400" y="1280160"/>
            <a:ext cx="365760" cy="365760"/>
          </a:xfrm>
          <a:prstGeom prst="rect">
            <a:avLst/>
          </a:prstGeom>
        </p:spPr>
      </p:pic>
      <p:sp>
        <p:nvSpPr>
          <p:cNvPr id="7" name="Text 4"/>
          <p:cNvSpPr/>
          <p:nvPr/>
        </p:nvSpPr>
        <p:spPr>
          <a:xfrm>
            <a:off x="1417320" y="1234440"/>
            <a:ext cx="2743200" cy="320040"/>
          </a:xfrm>
          <a:prstGeom prst="rect">
            <a:avLst/>
          </a:prstGeom>
          <a:noFill/>
          <a:ln/>
        </p:spPr>
        <p:txBody>
          <a:bodyPr wrap="square" lIns="0" tIns="0" rIns="0" bIns="0" rtlCol="0" anchor="ctr"/>
          <a:lstStyle/>
          <a:p>
            <a:pPr marL="0" indent="0">
              <a:buNone/>
            </a:pPr>
            <a:r>
              <a:rPr lang="en-US" sz="1400" b="1" dirty="0">
                <a:solidFill>
                  <a:srgbClr val="17A2B8"/>
                </a:solidFill>
                <a:latin typeface="Trebuchet MS" pitchFamily="34" charset="0"/>
                <a:ea typeface="Trebuchet MS" pitchFamily="34" charset="-122"/>
                <a:cs typeface="Trebuchet MS" pitchFamily="34" charset="-120"/>
              </a:rPr>
              <a:t>Image-to-Sequence</a:t>
            </a:r>
            <a:endParaRPr lang="en-US" sz="1400" dirty="0"/>
          </a:p>
        </p:txBody>
      </p:sp>
      <p:sp>
        <p:nvSpPr>
          <p:cNvPr id="8" name="Text 5"/>
          <p:cNvSpPr/>
          <p:nvPr/>
        </p:nvSpPr>
        <p:spPr>
          <a:xfrm>
            <a:off x="1417320" y="1600200"/>
            <a:ext cx="2743200" cy="731520"/>
          </a:xfrm>
          <a:prstGeom prst="rect">
            <a:avLst/>
          </a:prstGeom>
          <a:noFill/>
          <a:ln/>
        </p:spPr>
        <p:txBody>
          <a:bodyPr wrap="square" lIns="0" tIns="0" rIns="0" bIns="0" rtlCol="0" anchor="ctr"/>
          <a:lstStyle/>
          <a:p>
            <a:pPr marL="0" indent="0">
              <a:lnSpc>
                <a:spcPct val="130000"/>
              </a:lnSpc>
              <a:buNone/>
            </a:pPr>
            <a:r>
              <a:rPr lang="en-US" sz="1200" dirty="0">
                <a:solidFill>
                  <a:srgbClr val="CBD5E1"/>
                </a:solidFill>
                <a:latin typeface="Calibri" pitchFamily="34" charset="0"/>
                <a:ea typeface="Calibri" pitchFamily="34" charset="-122"/>
                <a:cs typeface="Calibri" pitchFamily="34" charset="-120"/>
              </a:rPr>
              <a:t>OCSR should be treated as image-to-sequence translation, not simple classification</a:t>
            </a:r>
            <a:endParaRPr lang="en-US" sz="1200" dirty="0"/>
          </a:p>
        </p:txBody>
      </p:sp>
      <p:sp>
        <p:nvSpPr>
          <p:cNvPr id="9" name="Shape 6"/>
          <p:cNvSpPr/>
          <p:nvPr/>
        </p:nvSpPr>
        <p:spPr>
          <a:xfrm>
            <a:off x="4663440" y="1097280"/>
            <a:ext cx="3657600" cy="1417320"/>
          </a:xfrm>
          <a:prstGeom prst="rect">
            <a:avLst/>
          </a:prstGeom>
          <a:solidFill>
            <a:srgbClr val="112840"/>
          </a:solidFill>
          <a:ln/>
        </p:spPr>
        <p:txBody>
          <a:bodyPr/>
          <a:lstStyle/>
          <a:p>
            <a:endParaRPr lang="en-US"/>
          </a:p>
        </p:txBody>
      </p:sp>
      <p:pic>
        <p:nvPicPr>
          <p:cNvPr id="10" name="Image 1" descr="preencoded.png"/>
          <p:cNvPicPr>
            <a:picLocks noChangeAspect="1"/>
          </p:cNvPicPr>
          <p:nvPr/>
        </p:nvPicPr>
        <p:blipFill>
          <a:blip r:embed="rId3"/>
          <a:stretch>
            <a:fillRect/>
          </a:stretch>
        </p:blipFill>
        <p:spPr>
          <a:xfrm>
            <a:off x="4846320" y="1280160"/>
            <a:ext cx="365760" cy="365760"/>
          </a:xfrm>
          <a:prstGeom prst="rect">
            <a:avLst/>
          </a:prstGeom>
        </p:spPr>
      </p:pic>
      <p:sp>
        <p:nvSpPr>
          <p:cNvPr id="11" name="Text 7"/>
          <p:cNvSpPr/>
          <p:nvPr/>
        </p:nvSpPr>
        <p:spPr>
          <a:xfrm>
            <a:off x="5349240" y="1234440"/>
            <a:ext cx="2743200" cy="320040"/>
          </a:xfrm>
          <a:prstGeom prst="rect">
            <a:avLst/>
          </a:prstGeom>
          <a:noFill/>
          <a:ln/>
        </p:spPr>
        <p:txBody>
          <a:bodyPr wrap="square" lIns="0" tIns="0" rIns="0" bIns="0" rtlCol="0" anchor="ctr"/>
          <a:lstStyle/>
          <a:p>
            <a:pPr marL="0" indent="0">
              <a:buNone/>
            </a:pPr>
            <a:r>
              <a:rPr lang="en-US" sz="1400" b="1" dirty="0">
                <a:solidFill>
                  <a:srgbClr val="17A2B8"/>
                </a:solidFill>
                <a:latin typeface="Trebuchet MS" pitchFamily="34" charset="0"/>
                <a:ea typeface="Trebuchet MS" pitchFamily="34" charset="-122"/>
                <a:cs typeface="Trebuchet MS" pitchFamily="34" charset="-120"/>
              </a:rPr>
              <a:t>CNN-GRU Best</a:t>
            </a:r>
            <a:endParaRPr lang="en-US" sz="1400" dirty="0"/>
          </a:p>
        </p:txBody>
      </p:sp>
      <p:sp>
        <p:nvSpPr>
          <p:cNvPr id="12" name="Text 8"/>
          <p:cNvSpPr/>
          <p:nvPr/>
        </p:nvSpPr>
        <p:spPr>
          <a:xfrm>
            <a:off x="5349240" y="1600200"/>
            <a:ext cx="2743200" cy="731520"/>
          </a:xfrm>
          <a:prstGeom prst="rect">
            <a:avLst/>
          </a:prstGeom>
          <a:noFill/>
          <a:ln/>
        </p:spPr>
        <p:txBody>
          <a:bodyPr wrap="square" lIns="0" tIns="0" rIns="0" bIns="0" rtlCol="0" anchor="ctr"/>
          <a:lstStyle/>
          <a:p>
            <a:pPr marL="0" indent="0">
              <a:lnSpc>
                <a:spcPct val="130000"/>
              </a:lnSpc>
              <a:buNone/>
            </a:pPr>
            <a:r>
              <a:rPr lang="en-US" sz="1200" dirty="0">
                <a:solidFill>
                  <a:srgbClr val="CBD5E1"/>
                </a:solidFill>
                <a:latin typeface="Calibri" pitchFamily="34" charset="0"/>
                <a:ea typeface="Calibri" pitchFamily="34" charset="-122"/>
                <a:cs typeface="Calibri" pitchFamily="34" charset="-120"/>
              </a:rPr>
              <a:t>CNN-GRU achieved the highest single result with 68.42% token accuracy</a:t>
            </a:r>
            <a:endParaRPr lang="en-US" sz="1200" dirty="0"/>
          </a:p>
        </p:txBody>
      </p:sp>
      <p:sp>
        <p:nvSpPr>
          <p:cNvPr id="13" name="Shape 9"/>
          <p:cNvSpPr/>
          <p:nvPr/>
        </p:nvSpPr>
        <p:spPr>
          <a:xfrm>
            <a:off x="731520" y="2788920"/>
            <a:ext cx="3657600" cy="1417320"/>
          </a:xfrm>
          <a:prstGeom prst="rect">
            <a:avLst/>
          </a:prstGeom>
          <a:solidFill>
            <a:srgbClr val="112840"/>
          </a:solidFill>
          <a:ln/>
        </p:spPr>
        <p:txBody>
          <a:bodyPr/>
          <a:lstStyle/>
          <a:p>
            <a:endParaRPr lang="en-US"/>
          </a:p>
        </p:txBody>
      </p:sp>
      <p:pic>
        <p:nvPicPr>
          <p:cNvPr id="14" name="Image 2" descr="preencoded.png"/>
          <p:cNvPicPr>
            <a:picLocks noChangeAspect="1"/>
          </p:cNvPicPr>
          <p:nvPr/>
        </p:nvPicPr>
        <p:blipFill>
          <a:blip r:embed="rId3"/>
          <a:stretch>
            <a:fillRect/>
          </a:stretch>
        </p:blipFill>
        <p:spPr>
          <a:xfrm>
            <a:off x="914400" y="2971800"/>
            <a:ext cx="365760" cy="365760"/>
          </a:xfrm>
          <a:prstGeom prst="rect">
            <a:avLst/>
          </a:prstGeom>
        </p:spPr>
      </p:pic>
      <p:sp>
        <p:nvSpPr>
          <p:cNvPr id="15" name="Text 10"/>
          <p:cNvSpPr/>
          <p:nvPr/>
        </p:nvSpPr>
        <p:spPr>
          <a:xfrm>
            <a:off x="1417320" y="2926080"/>
            <a:ext cx="2743200" cy="320040"/>
          </a:xfrm>
          <a:prstGeom prst="rect">
            <a:avLst/>
          </a:prstGeom>
          <a:noFill/>
          <a:ln/>
        </p:spPr>
        <p:txBody>
          <a:bodyPr wrap="square" lIns="0" tIns="0" rIns="0" bIns="0" rtlCol="0" anchor="ctr"/>
          <a:lstStyle/>
          <a:p>
            <a:pPr marL="0" indent="0">
              <a:buNone/>
            </a:pPr>
            <a:r>
              <a:rPr lang="en-US" sz="1400" b="1" dirty="0">
                <a:solidFill>
                  <a:srgbClr val="17A2B8"/>
                </a:solidFill>
                <a:latin typeface="Trebuchet MS" pitchFamily="34" charset="0"/>
                <a:ea typeface="Trebuchet MS" pitchFamily="34" charset="-122"/>
                <a:cs typeface="Trebuchet MS" pitchFamily="34" charset="-120"/>
              </a:rPr>
              <a:t>Partial Learning</a:t>
            </a:r>
            <a:endParaRPr lang="en-US" sz="1400" dirty="0"/>
          </a:p>
        </p:txBody>
      </p:sp>
      <p:sp>
        <p:nvSpPr>
          <p:cNvPr id="16" name="Text 11"/>
          <p:cNvSpPr/>
          <p:nvPr/>
        </p:nvSpPr>
        <p:spPr>
          <a:xfrm>
            <a:off x="1417320" y="3291840"/>
            <a:ext cx="2743200" cy="731520"/>
          </a:xfrm>
          <a:prstGeom prst="rect">
            <a:avLst/>
          </a:prstGeom>
          <a:noFill/>
          <a:ln/>
        </p:spPr>
        <p:txBody>
          <a:bodyPr wrap="square" lIns="0" tIns="0" rIns="0" bIns="0" rtlCol="0" anchor="ctr"/>
          <a:lstStyle/>
          <a:p>
            <a:pPr marL="0" indent="0">
              <a:lnSpc>
                <a:spcPct val="130000"/>
              </a:lnSpc>
              <a:buNone/>
            </a:pPr>
            <a:r>
              <a:rPr lang="en-US" sz="1200" dirty="0">
                <a:solidFill>
                  <a:srgbClr val="CBD5E1"/>
                </a:solidFill>
                <a:latin typeface="Calibri" pitchFamily="34" charset="0"/>
                <a:ea typeface="Calibri" pitchFamily="34" charset="-122"/>
                <a:cs typeface="Calibri" pitchFamily="34" charset="-120"/>
              </a:rPr>
              <a:t>Token accuracy improved across training, but exact and canonical match remained at 0%</a:t>
            </a:r>
            <a:endParaRPr lang="en-US" sz="1200" dirty="0"/>
          </a:p>
        </p:txBody>
      </p:sp>
      <p:sp>
        <p:nvSpPr>
          <p:cNvPr id="17" name="Shape 12"/>
          <p:cNvSpPr/>
          <p:nvPr/>
        </p:nvSpPr>
        <p:spPr>
          <a:xfrm>
            <a:off x="4663440" y="2788920"/>
            <a:ext cx="3657600" cy="1417320"/>
          </a:xfrm>
          <a:prstGeom prst="rect">
            <a:avLst/>
          </a:prstGeom>
          <a:solidFill>
            <a:srgbClr val="112840"/>
          </a:solidFill>
          <a:ln/>
        </p:spPr>
        <p:txBody>
          <a:bodyPr/>
          <a:lstStyle/>
          <a:p>
            <a:endParaRPr lang="en-US"/>
          </a:p>
        </p:txBody>
      </p:sp>
      <p:pic>
        <p:nvPicPr>
          <p:cNvPr id="18" name="Image 3" descr="preencoded.png"/>
          <p:cNvPicPr>
            <a:picLocks noChangeAspect="1"/>
          </p:cNvPicPr>
          <p:nvPr/>
        </p:nvPicPr>
        <p:blipFill>
          <a:blip r:embed="rId3"/>
          <a:stretch>
            <a:fillRect/>
          </a:stretch>
        </p:blipFill>
        <p:spPr>
          <a:xfrm>
            <a:off x="4846320" y="2971800"/>
            <a:ext cx="365760" cy="365760"/>
          </a:xfrm>
          <a:prstGeom prst="rect">
            <a:avLst/>
          </a:prstGeom>
        </p:spPr>
      </p:pic>
      <p:sp>
        <p:nvSpPr>
          <p:cNvPr id="19" name="Text 13"/>
          <p:cNvSpPr/>
          <p:nvPr/>
        </p:nvSpPr>
        <p:spPr>
          <a:xfrm>
            <a:off x="5349240" y="2926080"/>
            <a:ext cx="2743200" cy="320040"/>
          </a:xfrm>
          <a:prstGeom prst="rect">
            <a:avLst/>
          </a:prstGeom>
          <a:noFill/>
          <a:ln/>
        </p:spPr>
        <p:txBody>
          <a:bodyPr wrap="square" lIns="0" tIns="0" rIns="0" bIns="0" rtlCol="0" anchor="ctr"/>
          <a:lstStyle/>
          <a:p>
            <a:pPr marL="0" indent="0">
              <a:buNone/>
            </a:pPr>
            <a:r>
              <a:rPr lang="en-US" sz="1400" b="1" dirty="0">
                <a:solidFill>
                  <a:srgbClr val="17A2B8"/>
                </a:solidFill>
                <a:latin typeface="Trebuchet MS" pitchFamily="34" charset="0"/>
                <a:ea typeface="Trebuchet MS" pitchFamily="34" charset="-122"/>
                <a:cs typeface="Trebuchet MS" pitchFamily="34" charset="-120"/>
              </a:rPr>
              <a:t>Future Needs</a:t>
            </a:r>
            <a:endParaRPr lang="en-US" sz="1400" dirty="0"/>
          </a:p>
        </p:txBody>
      </p:sp>
      <p:sp>
        <p:nvSpPr>
          <p:cNvPr id="20" name="Text 14"/>
          <p:cNvSpPr/>
          <p:nvPr/>
        </p:nvSpPr>
        <p:spPr>
          <a:xfrm>
            <a:off x="5349240" y="3291840"/>
            <a:ext cx="2743200" cy="731520"/>
          </a:xfrm>
          <a:prstGeom prst="rect">
            <a:avLst/>
          </a:prstGeom>
          <a:noFill/>
          <a:ln/>
        </p:spPr>
        <p:txBody>
          <a:bodyPr wrap="square" lIns="0" tIns="0" rIns="0" bIns="0" rtlCol="0" anchor="ctr"/>
          <a:lstStyle/>
          <a:p>
            <a:pPr marL="0" indent="0">
              <a:lnSpc>
                <a:spcPct val="130000"/>
              </a:lnSpc>
              <a:buNone/>
            </a:pPr>
            <a:r>
              <a:rPr lang="en-US" sz="1200" dirty="0">
                <a:solidFill>
                  <a:srgbClr val="CBD5E1"/>
                </a:solidFill>
                <a:latin typeface="Calibri" pitchFamily="34" charset="0"/>
                <a:ea typeface="Calibri" pitchFamily="34" charset="-122"/>
                <a:cs typeface="Calibri" pitchFamily="34" charset="-120"/>
              </a:rPr>
              <a:t>More data, stronger decoding strategies, and better architectures are needed</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2137"/>
        </a:solidFill>
        <a:effectLst/>
      </p:bgPr>
    </p:bg>
    <p:spTree>
      <p:nvGrpSpPr>
        <p:cNvPr id="1" name=""/>
        <p:cNvGrpSpPr/>
        <p:nvPr/>
      </p:nvGrpSpPr>
      <p:grpSpPr>
        <a:xfrm>
          <a:off x="0" y="0"/>
          <a:ext cx="0" cy="0"/>
          <a:chOff x="0" y="0"/>
          <a:chExt cx="0" cy="0"/>
        </a:xfrm>
      </p:grpSpPr>
      <p:pic>
        <p:nvPicPr>
          <p:cNvPr id="2" name="Image 0" descr="/agent/turn1/workspace/images/abstract-scientific-research-future-directions-con_2026-04-28T10-56-24_image_DAS_0.jpg"/>
          <p:cNvPicPr>
            <a:picLocks noChangeAspect="1"/>
          </p:cNvPicPr>
          <p:nvPr/>
        </p:nvPicPr>
        <p:blipFill>
          <a:blip r:embed="rId3">
            <a:alphaModFix amt="35000"/>
          </a:blip>
          <a:srcRect t="7813" b="7813"/>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F2137">
              <a:alpha val="70000"/>
            </a:srgbClr>
          </a:solidFill>
          <a:ln/>
        </p:spPr>
        <p:txBody>
          <a:bodyPr/>
          <a:lstStyle/>
          <a:p>
            <a:endParaRPr lang="en-US"/>
          </a:p>
        </p:txBody>
      </p:sp>
      <p:sp>
        <p:nvSpPr>
          <p:cNvPr id="4" name="Shape 1"/>
          <p:cNvSpPr/>
          <p:nvPr/>
        </p:nvSpPr>
        <p:spPr>
          <a:xfrm>
            <a:off x="0" y="0"/>
            <a:ext cx="9144000" cy="54864"/>
          </a:xfrm>
          <a:prstGeom prst="rect">
            <a:avLst/>
          </a:prstGeom>
          <a:solidFill>
            <a:srgbClr val="17A2B8"/>
          </a:solidFill>
          <a:ln/>
        </p:spPr>
        <p:txBody>
          <a:bodyPr/>
          <a:lstStyle/>
          <a:p>
            <a:endParaRPr lang="en-US"/>
          </a:p>
        </p:txBody>
      </p:sp>
      <p:sp>
        <p:nvSpPr>
          <p:cNvPr id="5" name="Text 2"/>
          <p:cNvSpPr/>
          <p:nvPr/>
        </p:nvSpPr>
        <p:spPr>
          <a:xfrm>
            <a:off x="731520" y="320040"/>
            <a:ext cx="914400" cy="457200"/>
          </a:xfrm>
          <a:prstGeom prst="rect">
            <a:avLst/>
          </a:prstGeom>
          <a:noFill/>
          <a:ln/>
        </p:spPr>
        <p:txBody>
          <a:bodyPr wrap="square" lIns="0" tIns="0" rIns="0" bIns="0" rtlCol="0" anchor="ctr"/>
          <a:lstStyle/>
          <a:p>
            <a:pPr marL="0" indent="0">
              <a:buNone/>
            </a:pPr>
            <a:r>
              <a:rPr lang="en-US" sz="3600" b="1" dirty="0">
                <a:solidFill>
                  <a:srgbClr val="17A2B8"/>
                </a:solidFill>
                <a:latin typeface="Trebuchet MS" pitchFamily="34" charset="0"/>
                <a:ea typeface="Trebuchet MS" pitchFamily="34" charset="-122"/>
                <a:cs typeface="Trebuchet MS" pitchFamily="34" charset="-120"/>
              </a:rPr>
              <a:t>15</a:t>
            </a:r>
            <a:endParaRPr lang="en-US" sz="3600" dirty="0"/>
          </a:p>
        </p:txBody>
      </p:sp>
      <p:sp>
        <p:nvSpPr>
          <p:cNvPr id="6" name="Text 3"/>
          <p:cNvSpPr/>
          <p:nvPr/>
        </p:nvSpPr>
        <p:spPr>
          <a:xfrm>
            <a:off x="1645920" y="338328"/>
            <a:ext cx="6400800" cy="457200"/>
          </a:xfrm>
          <a:prstGeom prst="rect">
            <a:avLst/>
          </a:prstGeom>
          <a:noFill/>
          <a:ln/>
        </p:spPr>
        <p:txBody>
          <a:bodyPr wrap="square" lIns="0" tIns="0" rIns="0" bIns="0" rtlCol="0" anchor="ctr"/>
          <a:lstStyle/>
          <a:p>
            <a:pPr marL="0" indent="0">
              <a:buNone/>
            </a:pPr>
            <a:r>
              <a:rPr lang="en-US" sz="2800" b="1" dirty="0">
                <a:solidFill>
                  <a:srgbClr val="F8FAFC"/>
                </a:solidFill>
                <a:latin typeface="Trebuchet MS" pitchFamily="34" charset="0"/>
                <a:ea typeface="Trebuchet MS" pitchFamily="34" charset="-122"/>
                <a:cs typeface="Trebuchet MS" pitchFamily="34" charset="-120"/>
              </a:rPr>
              <a:t>Future Work</a:t>
            </a:r>
            <a:endParaRPr lang="en-US" sz="2800" dirty="0"/>
          </a:p>
        </p:txBody>
      </p:sp>
      <p:sp>
        <p:nvSpPr>
          <p:cNvPr id="7" name="Shape 4"/>
          <p:cNvSpPr/>
          <p:nvPr/>
        </p:nvSpPr>
        <p:spPr>
          <a:xfrm>
            <a:off x="731520" y="1097280"/>
            <a:ext cx="7680960" cy="457200"/>
          </a:xfrm>
          <a:prstGeom prst="rect">
            <a:avLst/>
          </a:prstGeom>
          <a:solidFill>
            <a:srgbClr val="0B1929">
              <a:alpha val="70000"/>
            </a:srgbClr>
          </a:solidFill>
          <a:ln/>
        </p:spPr>
        <p:txBody>
          <a:bodyPr/>
          <a:lstStyle/>
          <a:p>
            <a:endParaRPr lang="en-US"/>
          </a:p>
        </p:txBody>
      </p:sp>
      <p:pic>
        <p:nvPicPr>
          <p:cNvPr id="8" name="Image 1" descr="preencoded.png"/>
          <p:cNvPicPr>
            <a:picLocks noChangeAspect="1"/>
          </p:cNvPicPr>
          <p:nvPr/>
        </p:nvPicPr>
        <p:blipFill>
          <a:blip r:embed="rId4"/>
          <a:stretch>
            <a:fillRect/>
          </a:stretch>
        </p:blipFill>
        <p:spPr>
          <a:xfrm>
            <a:off x="914400" y="1161288"/>
            <a:ext cx="320040" cy="320040"/>
          </a:xfrm>
          <a:prstGeom prst="rect">
            <a:avLst/>
          </a:prstGeom>
        </p:spPr>
      </p:pic>
      <p:sp>
        <p:nvSpPr>
          <p:cNvPr id="9" name="Text 5"/>
          <p:cNvSpPr/>
          <p:nvPr/>
        </p:nvSpPr>
        <p:spPr>
          <a:xfrm>
            <a:off x="1417320" y="1097280"/>
            <a:ext cx="6766560" cy="457200"/>
          </a:xfrm>
          <a:prstGeom prst="rect">
            <a:avLst/>
          </a:prstGeom>
          <a:noFill/>
          <a:ln/>
        </p:spPr>
        <p:txBody>
          <a:bodyPr wrap="square" lIns="0" tIns="0" rIns="0" bIns="0" rtlCol="0" anchor="ctr"/>
          <a:lstStyle/>
          <a:p>
            <a:pPr marL="0" indent="0">
              <a:buNone/>
            </a:pPr>
            <a:r>
              <a:rPr lang="en-US" sz="1300" dirty="0">
                <a:solidFill>
                  <a:srgbClr val="F8FAFC"/>
                </a:solidFill>
                <a:latin typeface="Calibri" pitchFamily="34" charset="0"/>
                <a:ea typeface="Calibri" pitchFamily="34" charset="-122"/>
                <a:cs typeface="Calibri" pitchFamily="34" charset="-120"/>
              </a:rPr>
              <a:t>Train on a larger PubChem dataset</a:t>
            </a:r>
            <a:endParaRPr lang="en-US" sz="1300" dirty="0"/>
          </a:p>
        </p:txBody>
      </p:sp>
      <p:sp>
        <p:nvSpPr>
          <p:cNvPr id="10" name="Shape 6"/>
          <p:cNvSpPr/>
          <p:nvPr/>
        </p:nvSpPr>
        <p:spPr>
          <a:xfrm>
            <a:off x="731520" y="1691640"/>
            <a:ext cx="7680960" cy="457200"/>
          </a:xfrm>
          <a:prstGeom prst="rect">
            <a:avLst/>
          </a:prstGeom>
          <a:solidFill>
            <a:srgbClr val="0B1929">
              <a:alpha val="70000"/>
            </a:srgbClr>
          </a:solidFill>
          <a:ln/>
        </p:spPr>
        <p:txBody>
          <a:bodyPr/>
          <a:lstStyle/>
          <a:p>
            <a:endParaRPr lang="en-US"/>
          </a:p>
        </p:txBody>
      </p:sp>
      <p:pic>
        <p:nvPicPr>
          <p:cNvPr id="11" name="Image 2" descr="preencoded.png"/>
          <p:cNvPicPr>
            <a:picLocks noChangeAspect="1"/>
          </p:cNvPicPr>
          <p:nvPr/>
        </p:nvPicPr>
        <p:blipFill>
          <a:blip r:embed="rId4"/>
          <a:stretch>
            <a:fillRect/>
          </a:stretch>
        </p:blipFill>
        <p:spPr>
          <a:xfrm>
            <a:off x="914400" y="1755648"/>
            <a:ext cx="320040" cy="320040"/>
          </a:xfrm>
          <a:prstGeom prst="rect">
            <a:avLst/>
          </a:prstGeom>
        </p:spPr>
      </p:pic>
      <p:sp>
        <p:nvSpPr>
          <p:cNvPr id="12" name="Text 7"/>
          <p:cNvSpPr/>
          <p:nvPr/>
        </p:nvSpPr>
        <p:spPr>
          <a:xfrm>
            <a:off x="1417320" y="1691640"/>
            <a:ext cx="6766560" cy="457200"/>
          </a:xfrm>
          <a:prstGeom prst="rect">
            <a:avLst/>
          </a:prstGeom>
          <a:noFill/>
          <a:ln/>
        </p:spPr>
        <p:txBody>
          <a:bodyPr wrap="square" lIns="0" tIns="0" rIns="0" bIns="0" rtlCol="0" anchor="ctr"/>
          <a:lstStyle/>
          <a:p>
            <a:pPr marL="0" indent="0">
              <a:buNone/>
            </a:pPr>
            <a:r>
              <a:rPr lang="en-US" sz="1300" dirty="0">
                <a:solidFill>
                  <a:srgbClr val="F8FAFC"/>
                </a:solidFill>
                <a:latin typeface="Calibri" pitchFamily="34" charset="0"/>
                <a:ea typeface="Calibri" pitchFamily="34" charset="-122"/>
                <a:cs typeface="Calibri" pitchFamily="34" charset="-120"/>
              </a:rPr>
              <a:t>Add attention between image features and decoder steps</a:t>
            </a:r>
            <a:endParaRPr lang="en-US" sz="1300" dirty="0"/>
          </a:p>
        </p:txBody>
      </p:sp>
      <p:sp>
        <p:nvSpPr>
          <p:cNvPr id="13" name="Shape 8"/>
          <p:cNvSpPr/>
          <p:nvPr/>
        </p:nvSpPr>
        <p:spPr>
          <a:xfrm>
            <a:off x="731520" y="2286000"/>
            <a:ext cx="7680960" cy="457200"/>
          </a:xfrm>
          <a:prstGeom prst="rect">
            <a:avLst/>
          </a:prstGeom>
          <a:solidFill>
            <a:srgbClr val="0B1929">
              <a:alpha val="70000"/>
            </a:srgbClr>
          </a:solidFill>
          <a:ln/>
        </p:spPr>
        <p:txBody>
          <a:bodyPr/>
          <a:lstStyle/>
          <a:p>
            <a:endParaRPr lang="en-US"/>
          </a:p>
        </p:txBody>
      </p:sp>
      <p:pic>
        <p:nvPicPr>
          <p:cNvPr id="14" name="Image 3" descr="preencoded.png"/>
          <p:cNvPicPr>
            <a:picLocks noChangeAspect="1"/>
          </p:cNvPicPr>
          <p:nvPr/>
        </p:nvPicPr>
        <p:blipFill>
          <a:blip r:embed="rId4"/>
          <a:stretch>
            <a:fillRect/>
          </a:stretch>
        </p:blipFill>
        <p:spPr>
          <a:xfrm>
            <a:off x="914400" y="2350008"/>
            <a:ext cx="320040" cy="320040"/>
          </a:xfrm>
          <a:prstGeom prst="rect">
            <a:avLst/>
          </a:prstGeom>
        </p:spPr>
      </p:pic>
      <p:sp>
        <p:nvSpPr>
          <p:cNvPr id="15" name="Text 9"/>
          <p:cNvSpPr/>
          <p:nvPr/>
        </p:nvSpPr>
        <p:spPr>
          <a:xfrm>
            <a:off x="1417320" y="2286000"/>
            <a:ext cx="6766560" cy="457200"/>
          </a:xfrm>
          <a:prstGeom prst="rect">
            <a:avLst/>
          </a:prstGeom>
          <a:noFill/>
          <a:ln/>
        </p:spPr>
        <p:txBody>
          <a:bodyPr wrap="square" lIns="0" tIns="0" rIns="0" bIns="0" rtlCol="0" anchor="ctr"/>
          <a:lstStyle/>
          <a:p>
            <a:pPr marL="0" indent="0">
              <a:buNone/>
            </a:pPr>
            <a:r>
              <a:rPr lang="en-US" sz="1300" dirty="0">
                <a:solidFill>
                  <a:srgbClr val="F8FAFC"/>
                </a:solidFill>
                <a:latin typeface="Calibri" pitchFamily="34" charset="0"/>
                <a:ea typeface="Calibri" pitchFamily="34" charset="-122"/>
                <a:cs typeface="Calibri" pitchFamily="34" charset="-120"/>
              </a:rPr>
              <a:t>Use beam search instead of greedy decoding</a:t>
            </a:r>
            <a:endParaRPr lang="en-US" sz="1300" dirty="0"/>
          </a:p>
        </p:txBody>
      </p:sp>
      <p:sp>
        <p:nvSpPr>
          <p:cNvPr id="16" name="Shape 10"/>
          <p:cNvSpPr/>
          <p:nvPr/>
        </p:nvSpPr>
        <p:spPr>
          <a:xfrm>
            <a:off x="731520" y="2880360"/>
            <a:ext cx="7680960" cy="457200"/>
          </a:xfrm>
          <a:prstGeom prst="rect">
            <a:avLst/>
          </a:prstGeom>
          <a:solidFill>
            <a:srgbClr val="0B1929">
              <a:alpha val="70000"/>
            </a:srgbClr>
          </a:solidFill>
          <a:ln/>
        </p:spPr>
        <p:txBody>
          <a:bodyPr/>
          <a:lstStyle/>
          <a:p>
            <a:endParaRPr lang="en-US"/>
          </a:p>
        </p:txBody>
      </p:sp>
      <p:pic>
        <p:nvPicPr>
          <p:cNvPr id="17" name="Image 4" descr="preencoded.png"/>
          <p:cNvPicPr>
            <a:picLocks noChangeAspect="1"/>
          </p:cNvPicPr>
          <p:nvPr/>
        </p:nvPicPr>
        <p:blipFill>
          <a:blip r:embed="rId4"/>
          <a:stretch>
            <a:fillRect/>
          </a:stretch>
        </p:blipFill>
        <p:spPr>
          <a:xfrm>
            <a:off x="914400" y="2944368"/>
            <a:ext cx="320040" cy="320040"/>
          </a:xfrm>
          <a:prstGeom prst="rect">
            <a:avLst/>
          </a:prstGeom>
        </p:spPr>
      </p:pic>
      <p:sp>
        <p:nvSpPr>
          <p:cNvPr id="18" name="Text 11"/>
          <p:cNvSpPr/>
          <p:nvPr/>
        </p:nvSpPr>
        <p:spPr>
          <a:xfrm>
            <a:off x="1417320" y="2880360"/>
            <a:ext cx="6766560" cy="457200"/>
          </a:xfrm>
          <a:prstGeom prst="rect">
            <a:avLst/>
          </a:prstGeom>
          <a:noFill/>
          <a:ln/>
        </p:spPr>
        <p:txBody>
          <a:bodyPr wrap="square" lIns="0" tIns="0" rIns="0" bIns="0" rtlCol="0" anchor="ctr"/>
          <a:lstStyle/>
          <a:p>
            <a:pPr marL="0" indent="0">
              <a:buNone/>
            </a:pPr>
            <a:r>
              <a:rPr lang="en-US" sz="1300" dirty="0">
                <a:solidFill>
                  <a:srgbClr val="F8FAFC"/>
                </a:solidFill>
                <a:latin typeface="Calibri" pitchFamily="34" charset="0"/>
                <a:ea typeface="Calibri" pitchFamily="34" charset="-122"/>
                <a:cs typeface="Calibri" pitchFamily="34" charset="-120"/>
              </a:rPr>
              <a:t>Try SELFIES instead of SMILES</a:t>
            </a:r>
            <a:endParaRPr lang="en-US" sz="1300" dirty="0"/>
          </a:p>
        </p:txBody>
      </p:sp>
      <p:sp>
        <p:nvSpPr>
          <p:cNvPr id="19" name="Shape 12"/>
          <p:cNvSpPr/>
          <p:nvPr/>
        </p:nvSpPr>
        <p:spPr>
          <a:xfrm>
            <a:off x="731520" y="3474720"/>
            <a:ext cx="7680960" cy="457200"/>
          </a:xfrm>
          <a:prstGeom prst="rect">
            <a:avLst/>
          </a:prstGeom>
          <a:solidFill>
            <a:srgbClr val="0B1929">
              <a:alpha val="70000"/>
            </a:srgbClr>
          </a:solidFill>
          <a:ln/>
        </p:spPr>
        <p:txBody>
          <a:bodyPr/>
          <a:lstStyle/>
          <a:p>
            <a:endParaRPr lang="en-US"/>
          </a:p>
        </p:txBody>
      </p:sp>
      <p:pic>
        <p:nvPicPr>
          <p:cNvPr id="20" name="Image 5" descr="preencoded.png"/>
          <p:cNvPicPr>
            <a:picLocks noChangeAspect="1"/>
          </p:cNvPicPr>
          <p:nvPr/>
        </p:nvPicPr>
        <p:blipFill>
          <a:blip r:embed="rId4"/>
          <a:stretch>
            <a:fillRect/>
          </a:stretch>
        </p:blipFill>
        <p:spPr>
          <a:xfrm>
            <a:off x="914400" y="3538728"/>
            <a:ext cx="320040" cy="320040"/>
          </a:xfrm>
          <a:prstGeom prst="rect">
            <a:avLst/>
          </a:prstGeom>
        </p:spPr>
      </p:pic>
      <p:sp>
        <p:nvSpPr>
          <p:cNvPr id="21" name="Text 13"/>
          <p:cNvSpPr/>
          <p:nvPr/>
        </p:nvSpPr>
        <p:spPr>
          <a:xfrm>
            <a:off x="1417320" y="3474720"/>
            <a:ext cx="6766560" cy="457200"/>
          </a:xfrm>
          <a:prstGeom prst="rect">
            <a:avLst/>
          </a:prstGeom>
          <a:noFill/>
          <a:ln/>
        </p:spPr>
        <p:txBody>
          <a:bodyPr wrap="square" lIns="0" tIns="0" rIns="0" bIns="0" rtlCol="0" anchor="ctr"/>
          <a:lstStyle/>
          <a:p>
            <a:pPr marL="0" indent="0">
              <a:buNone/>
            </a:pPr>
            <a:r>
              <a:rPr lang="en-US" sz="1300" dirty="0">
                <a:solidFill>
                  <a:srgbClr val="F8FAFC"/>
                </a:solidFill>
                <a:latin typeface="Calibri" pitchFamily="34" charset="0"/>
                <a:ea typeface="Calibri" pitchFamily="34" charset="-122"/>
                <a:cs typeface="Calibri" pitchFamily="34" charset="-120"/>
              </a:rPr>
              <a:t>Compare against Transformer-based OCSR</a:t>
            </a:r>
            <a:endParaRPr lang="en-US" sz="1300" dirty="0"/>
          </a:p>
        </p:txBody>
      </p:sp>
      <p:sp>
        <p:nvSpPr>
          <p:cNvPr id="22" name="Shape 14"/>
          <p:cNvSpPr/>
          <p:nvPr/>
        </p:nvSpPr>
        <p:spPr>
          <a:xfrm>
            <a:off x="731520" y="4069080"/>
            <a:ext cx="7680960" cy="457200"/>
          </a:xfrm>
          <a:prstGeom prst="rect">
            <a:avLst/>
          </a:prstGeom>
          <a:solidFill>
            <a:srgbClr val="0B1929">
              <a:alpha val="70000"/>
            </a:srgbClr>
          </a:solidFill>
          <a:ln/>
        </p:spPr>
        <p:txBody>
          <a:bodyPr/>
          <a:lstStyle/>
          <a:p>
            <a:endParaRPr lang="en-US"/>
          </a:p>
        </p:txBody>
      </p:sp>
      <p:pic>
        <p:nvPicPr>
          <p:cNvPr id="23" name="Image 6" descr="preencoded.png"/>
          <p:cNvPicPr>
            <a:picLocks noChangeAspect="1"/>
          </p:cNvPicPr>
          <p:nvPr/>
        </p:nvPicPr>
        <p:blipFill>
          <a:blip r:embed="rId4"/>
          <a:stretch>
            <a:fillRect/>
          </a:stretch>
        </p:blipFill>
        <p:spPr>
          <a:xfrm>
            <a:off x="914400" y="4133088"/>
            <a:ext cx="320040" cy="320040"/>
          </a:xfrm>
          <a:prstGeom prst="rect">
            <a:avLst/>
          </a:prstGeom>
        </p:spPr>
      </p:pic>
      <p:sp>
        <p:nvSpPr>
          <p:cNvPr id="24" name="Text 15"/>
          <p:cNvSpPr/>
          <p:nvPr/>
        </p:nvSpPr>
        <p:spPr>
          <a:xfrm>
            <a:off x="1417320" y="4069080"/>
            <a:ext cx="6766560" cy="457200"/>
          </a:xfrm>
          <a:prstGeom prst="rect">
            <a:avLst/>
          </a:prstGeom>
          <a:noFill/>
          <a:ln/>
        </p:spPr>
        <p:txBody>
          <a:bodyPr wrap="square" lIns="0" tIns="0" rIns="0" bIns="0" rtlCol="0" anchor="ctr"/>
          <a:lstStyle/>
          <a:p>
            <a:pPr marL="0" indent="0">
              <a:buNone/>
            </a:pPr>
            <a:r>
              <a:rPr lang="en-US" sz="1300" dirty="0">
                <a:solidFill>
                  <a:srgbClr val="F8FAFC"/>
                </a:solidFill>
                <a:latin typeface="Calibri" pitchFamily="34" charset="0"/>
                <a:ea typeface="Calibri" pitchFamily="34" charset="-122"/>
                <a:cs typeface="Calibri" pitchFamily="34" charset="-120"/>
              </a:rPr>
              <a:t>Compare against graph-based atom/bond detection</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1929"/>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7A2B8"/>
          </a:solidFill>
          <a:ln/>
        </p:spPr>
        <p:txBody>
          <a:bodyPr/>
          <a:lstStyle/>
          <a:p>
            <a:endParaRPr lang="en-US"/>
          </a:p>
        </p:txBody>
      </p:sp>
      <p:sp>
        <p:nvSpPr>
          <p:cNvPr id="3" name="Shape 1"/>
          <p:cNvSpPr/>
          <p:nvPr/>
        </p:nvSpPr>
        <p:spPr>
          <a:xfrm>
            <a:off x="0" y="5088636"/>
            <a:ext cx="9144000" cy="54864"/>
          </a:xfrm>
          <a:prstGeom prst="rect">
            <a:avLst/>
          </a:prstGeom>
          <a:solidFill>
            <a:srgbClr val="17A2B8"/>
          </a:solidFill>
          <a:ln/>
        </p:spPr>
        <p:txBody>
          <a:bodyPr/>
          <a:lstStyle/>
          <a:p>
            <a:endParaRPr lang="en-US"/>
          </a:p>
        </p:txBody>
      </p:sp>
      <p:sp>
        <p:nvSpPr>
          <p:cNvPr id="4" name="Text 2"/>
          <p:cNvSpPr/>
          <p:nvPr/>
        </p:nvSpPr>
        <p:spPr>
          <a:xfrm>
            <a:off x="731520" y="320040"/>
            <a:ext cx="914400" cy="457200"/>
          </a:xfrm>
          <a:prstGeom prst="rect">
            <a:avLst/>
          </a:prstGeom>
          <a:noFill/>
          <a:ln/>
        </p:spPr>
        <p:txBody>
          <a:bodyPr wrap="square" lIns="0" tIns="0" rIns="0" bIns="0" rtlCol="0" anchor="ctr"/>
          <a:lstStyle/>
          <a:p>
            <a:pPr marL="0" indent="0">
              <a:buNone/>
            </a:pPr>
            <a:r>
              <a:rPr lang="en-US" sz="3600" b="1" dirty="0">
                <a:solidFill>
                  <a:srgbClr val="17A2B8"/>
                </a:solidFill>
                <a:latin typeface="Trebuchet MS" pitchFamily="34" charset="0"/>
                <a:ea typeface="Trebuchet MS" pitchFamily="34" charset="-122"/>
                <a:cs typeface="Trebuchet MS" pitchFamily="34" charset="-120"/>
              </a:rPr>
              <a:t>16</a:t>
            </a:r>
            <a:endParaRPr lang="en-US" sz="3600" dirty="0"/>
          </a:p>
        </p:txBody>
      </p:sp>
      <p:sp>
        <p:nvSpPr>
          <p:cNvPr id="5" name="Text 3"/>
          <p:cNvSpPr/>
          <p:nvPr/>
        </p:nvSpPr>
        <p:spPr>
          <a:xfrm>
            <a:off x="1645920" y="338328"/>
            <a:ext cx="6400800" cy="457200"/>
          </a:xfrm>
          <a:prstGeom prst="rect">
            <a:avLst/>
          </a:prstGeom>
          <a:noFill/>
          <a:ln/>
        </p:spPr>
        <p:txBody>
          <a:bodyPr wrap="square" lIns="0" tIns="0" rIns="0" bIns="0" rtlCol="0" anchor="ctr"/>
          <a:lstStyle/>
          <a:p>
            <a:pPr marL="0" indent="0">
              <a:buNone/>
            </a:pPr>
            <a:r>
              <a:rPr lang="en-US" sz="2800" b="1" dirty="0">
                <a:solidFill>
                  <a:srgbClr val="F8FAFC"/>
                </a:solidFill>
                <a:latin typeface="Trebuchet MS" pitchFamily="34" charset="0"/>
                <a:ea typeface="Trebuchet MS" pitchFamily="34" charset="-122"/>
                <a:cs typeface="Trebuchet MS" pitchFamily="34" charset="-120"/>
              </a:rPr>
              <a:t>References</a:t>
            </a:r>
            <a:endParaRPr lang="en-US" sz="2800" dirty="0"/>
          </a:p>
        </p:txBody>
      </p:sp>
      <p:sp>
        <p:nvSpPr>
          <p:cNvPr id="6" name="Text 4"/>
          <p:cNvSpPr/>
          <p:nvPr/>
        </p:nvSpPr>
        <p:spPr>
          <a:xfrm>
            <a:off x="914400" y="1097280"/>
            <a:ext cx="7315200" cy="3200400"/>
          </a:xfrm>
          <a:prstGeom prst="rect">
            <a:avLst/>
          </a:prstGeom>
          <a:noFill/>
          <a:ln/>
        </p:spPr>
        <p:txBody>
          <a:bodyPr wrap="square" rtlCol="0" anchor="ctr"/>
          <a:lstStyle/>
          <a:p>
            <a:pPr marL="0" indent="0">
              <a:lnSpc>
                <a:spcPct val="140000"/>
              </a:lnSpc>
              <a:spcAft>
                <a:spcPts val="1000"/>
              </a:spcAft>
              <a:buNone/>
            </a:pPr>
            <a:r>
              <a:rPr lang="en-US" sz="1200" dirty="0">
                <a:solidFill>
                  <a:srgbClr val="CBD5E1"/>
                </a:solidFill>
                <a:latin typeface="Calibri" pitchFamily="34" charset="0"/>
                <a:ea typeface="Calibri" pitchFamily="34" charset="-122"/>
                <a:cs typeface="Calibri" pitchFamily="34" charset="-120"/>
              </a:rPr>
              <a:t>1.  Xu et al., "SwinOCSR: End-to-end optical chemical structure recognition using a Swin Transformer," 2022.</a:t>
            </a:r>
            <a:endParaRPr lang="en-US" sz="1200" dirty="0"/>
          </a:p>
          <a:p>
            <a:pPr marL="0" indent="0">
              <a:lnSpc>
                <a:spcPct val="140000"/>
              </a:lnSpc>
              <a:spcAft>
                <a:spcPts val="1000"/>
              </a:spcAft>
              <a:buNone/>
            </a:pPr>
            <a:r>
              <a:rPr lang="en-US" sz="1200" dirty="0">
                <a:solidFill>
                  <a:srgbClr val="CBD5E1"/>
                </a:solidFill>
                <a:latin typeface="Calibri" pitchFamily="34" charset="0"/>
                <a:ea typeface="Calibri" pitchFamily="34" charset="-122"/>
                <a:cs typeface="Calibri" pitchFamily="34" charset="-120"/>
              </a:rPr>
              <a:t>2.  Oldenhof et al., "Atom-level optical chemical structure recognition with limited supervision," CVPR 2024.</a:t>
            </a:r>
            <a:endParaRPr lang="en-US" sz="1200" dirty="0"/>
          </a:p>
          <a:p>
            <a:pPr marL="0" indent="0">
              <a:lnSpc>
                <a:spcPct val="140000"/>
              </a:lnSpc>
              <a:spcAft>
                <a:spcPts val="1000"/>
              </a:spcAft>
              <a:buNone/>
            </a:pPr>
            <a:r>
              <a:rPr lang="en-US" sz="1200" dirty="0">
                <a:solidFill>
                  <a:srgbClr val="CBD5E1"/>
                </a:solidFill>
                <a:latin typeface="Calibri" pitchFamily="34" charset="0"/>
                <a:ea typeface="Calibri" pitchFamily="34" charset="-122"/>
                <a:cs typeface="Calibri" pitchFamily="34" charset="-120"/>
              </a:rPr>
              <a:t>3.  DECIMER Hand-drawn Molecule Dataset.</a:t>
            </a:r>
            <a:endParaRPr lang="en-US" sz="1200" dirty="0"/>
          </a:p>
          <a:p>
            <a:pPr marL="0" indent="0">
              <a:lnSpc>
                <a:spcPct val="140000"/>
              </a:lnSpc>
              <a:spcAft>
                <a:spcPts val="1000"/>
              </a:spcAft>
              <a:buNone/>
            </a:pPr>
            <a:r>
              <a:rPr lang="en-US" sz="1200" dirty="0">
                <a:solidFill>
                  <a:srgbClr val="CBD5E1"/>
                </a:solidFill>
                <a:latin typeface="Calibri" pitchFamily="34" charset="0"/>
                <a:ea typeface="Calibri" pitchFamily="34" charset="-122"/>
                <a:cs typeface="Calibri" pitchFamily="34" charset="-120"/>
              </a:rPr>
              <a:t>4.  RDKit: Open-source cheminformatics.</a:t>
            </a:r>
            <a:endParaRPr lang="en-US" sz="1200" dirty="0"/>
          </a:p>
          <a:p>
            <a:pPr marL="0" indent="0">
              <a:lnSpc>
                <a:spcPct val="140000"/>
              </a:lnSpc>
              <a:spcAft>
                <a:spcPts val="1000"/>
              </a:spcAft>
              <a:buNone/>
            </a:pPr>
            <a:r>
              <a:rPr lang="en-US" sz="1200" dirty="0">
                <a:solidFill>
                  <a:srgbClr val="CBD5E1"/>
                </a:solidFill>
                <a:latin typeface="Calibri" pitchFamily="34" charset="0"/>
                <a:ea typeface="Calibri" pitchFamily="34" charset="-122"/>
                <a:cs typeface="Calibri" pitchFamily="34" charset="-120"/>
              </a:rPr>
              <a:t>5.  PyTorch / torchvision.</a:t>
            </a:r>
            <a:endParaRPr lang="en-US" sz="1200" dirty="0"/>
          </a:p>
        </p:txBody>
      </p:sp>
      <p:sp>
        <p:nvSpPr>
          <p:cNvPr id="7" name="Text 5"/>
          <p:cNvSpPr/>
          <p:nvPr/>
        </p:nvSpPr>
        <p:spPr>
          <a:xfrm>
            <a:off x="731520" y="4114800"/>
            <a:ext cx="7680960" cy="548640"/>
          </a:xfrm>
          <a:prstGeom prst="rect">
            <a:avLst/>
          </a:prstGeom>
          <a:noFill/>
          <a:ln/>
        </p:spPr>
        <p:txBody>
          <a:bodyPr wrap="square" lIns="0" tIns="0" rIns="0" bIns="0" rtlCol="0" anchor="ctr"/>
          <a:lstStyle/>
          <a:p>
            <a:pPr marL="0" indent="0" algn="ctr">
              <a:buNone/>
            </a:pPr>
            <a:r>
              <a:rPr lang="en-US" sz="2200" b="1" dirty="0">
                <a:solidFill>
                  <a:srgbClr val="17A2B8"/>
                </a:solidFill>
                <a:latin typeface="Trebuchet MS" pitchFamily="34" charset="0"/>
                <a:ea typeface="Trebuchet MS" pitchFamily="34" charset="-122"/>
                <a:cs typeface="Trebuchet MS" pitchFamily="34" charset="-120"/>
              </a:rPr>
              <a:t>Thank You</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489</TotalTime>
  <Words>4002</Words>
  <Application>Microsoft Macintosh PowerPoint</Application>
  <PresentationFormat>On-screen Show (16:9)</PresentationFormat>
  <Paragraphs>267</Paragraphs>
  <Slides>17</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Consolas</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Christopher Le</dc:creator>
  <cp:lastModifiedBy>Christopher Le</cp:lastModifiedBy>
  <cp:revision>2</cp:revision>
  <dcterms:created xsi:type="dcterms:W3CDTF">2026-04-28T08:44:24Z</dcterms:created>
  <dcterms:modified xsi:type="dcterms:W3CDTF">2026-04-28T16:56:58Z</dcterms:modified>
</cp:coreProperties>
</file>